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my name is Alejandro and I am going to present a framework for studying oil price vulnerabilities and exposure to geopolitical risk. Acknowledgement: many thanks to my professors in the master, especially my supervisors Diego Fresoli and Pilar Poncela for their continuous support in the development of this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study this? The exogeneity debate — Hamilton showed oil shocks Granger-caused downturns; Kilian and Barsky argued endogenous responses to global demand. Either way oil is essential for strategic sectors and a primary inflation driver, and the Middle East has put it back in the spotlight.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GPR: precautionary demand (Kilian 2009) — fear-driven early buying; the Minesso et al. duality — activity channel pushes prices down while the holding premium pushes them up, a duality linear models miss; expectations alone move prices (Kilian, Plante &amp; Richter 2026); and the relationship is non-linear and asymmetric (Brignone et al.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traditional frameworks fail: asymmetric responses (linear models understate downside risk) and the data itself — near-zero average daily returns, volatility clustering, influential outliers, heavy tails. Hence GaR adapted to daily oil prices. And beyond measurement: we show one vulnerability indicator carries predictive power over oil market shakes.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steps of the framework: a specification for the quantile regression; direct forecasting at horizon h; fit a parametric distribution to the discrete forecasts; compute vulnerability metrics; and test whether a selected risk metric predicts oil shocks.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presentation as a whole: literature and where the thesis fits; the contribution; data and specification; then the pipeline — direct forecasting, distribution fitting, risk metrics, EWS diagnostics; conclusions and time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research behind this thesis: Adrian, Boyarchenko &amp; Giannone 2019 — conditional distribution of GDP as a function of financial conditions; adverse conditions crush the lower quantiles while upper ones barely move. Original setup: QR at 5 quantiles, skewed-t fit, risk metrics. Meant for quarterly data and familiar indicators — we adapt it to high-frequency financial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pillars: Koenker &amp; Bassett 1978 (QR and diagnostics — unchanged from the original); Engle &amp; Manganelli 2004 (CAViaR — our contestant models); Johnson 1949 (the SU family — a transformation of the Gaussian, our departure from the skewed-t); Kullback &amp; Leibler 1951 (relative entropy — the main metric); Diebold &amp; Mariano 1995 and Diebold, Gunther &amp; Tay 1998 (backtesting toolkit). And FYI: the framework is used at the IMF for house prices at risk and surveillance, and adapted to inflation at central banks.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main contribution — adapting a novel framework to study oil price vulnerability — with five components: familiar quantile models inside the architecture; the JSU replacing the skewed-t; the backtesting battery; the EWS built on a risk metric; and the open-source module. And the broader aim: explaining the framework so others can reuse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specification is built on risk metrics: the EMH — prices reflect all available information and expected returns are a function of risk; so we condition on sources of risk. Supporting literature: Kilian's precautionary demand and Brignone et al.'s asymmetry. Each regressor will capture a distinct source of risk: geopolitical, exchange, logistical, speculative.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dependent variable: Brent crude, daily from 1990 to April 2026 via FRED. We work with log-returns. The chart shows the price history and the structural episodes the sample spans — Gulf wars, 2008, the 2014 glut, COVID, Ukraine, Iran.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Brent over WTI: the literature's standard choice because it reflects international conditions — WTI is too tied to the US; waterborne and internationally accessible; two-thirds of world crude priced off Brent; and maritime exposure means geopolitics shows up in Brent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regressor captures a distinct source of risk. GPR (MA-7 of the daily index by Caldara &amp; Iacoviello): geopolitical risk as perceived by the media — the main regressor. The US Dollar Index: exchange risk — oil trades in dollars, and Chen, Rogoff &amp; Rossi show exchange rates can forecast commodity prices. The Baltic Dry Index: logistical risk in the distribution chain — Bakshi, Panayotov &amp; Skoulakis show it predicts commodity returns and global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fourth risk source: speculation and volatility. RV captures volatility clustering and sudden changes in speculation. Literature: Cenesizoglu &amp; Timmermann on return-distribution predictability; Andersen, Bollerslev, Diebold &amp; Labys 2003 on RV-based forecasting beating latent-variance models. It is observable and model-free.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specification, preserved across all quantiles for simplicity. Why no more variables: to prevent multicollinearity and keep some parsimony. The correlation matrix is in the backup slides, as is the detailed rationale for the 7-day moving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estimator itself: the conditional quantile function as the inverse conditional CDF; the asymmetric check loss that traces out percentiles; and the Koenker-Bassett estimator, solved as a linear programme. The optimisation details are in the backup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In-sample estimates: the coefficient dashboard (paths across quantiles, controls, pseudo R-squared, residuals) and the fitted scatter plots. Next slide: the coefficients side by side at the three key quantiles.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coefficients at the three key quantiles, side by side. Read the rotation: RV negative in the left tail, positive in the right (it widens the distribution); the dollar strongest at the median; GPR flips sign from negative (lower tail) to positive (upper tail). Significance stars: *** 1%, ** 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in-sample results: explainability concentrated in the tails (expected — the median return carries no signal); asymmetric GPR effect through the sign flip; and the honest caveat — no causal conclusions from QR alone, it would need IV-QR à la Chernozhukov &amp; Hansen. More on this in the backup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forecasting: quantiles cannot be iterated like conditional means, so each horizon gets its own regression. Setting: 1,000-observation rolling window (~4 years) for training, independent evaluation on the last 3 years of data through recursive out-of-sample estimation. Why the iteration fails is expanded in the backup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horizon: 5 periods, one full trading week. Not too short, not too long. Uniform across the pipeline. The rigorous alternative — selecting h where the regressor-target dynamics are best captured — is discussed in the backup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the object is extreme tail events, we build a breach indicator: 1 when the realised value lands outside the forecast quantile range, split by side for asymmetry. The figure shows the standard model's breaches: they cluster around market shakes — the model systematically fails during exactly those periods.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fix: give the model memory of its own failures. Two CAViaR-inspired contestants, differing only in how the breach enters: Model 2 as binary flags (any breach weighs the same); Model 3 as the severity — distance from the realised value to the closest quantile, weighting large breaches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fallout audit: the breach paths of the two augmented models. They cut the number of breaches roughly by three — much better tail capture. But... (next slide: does that translate into predictive power?)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comparison: Diebold-Mariano on tick-loss error series — no model dominates at h=5; the breach signal probably comes too late. The OOS loss profiles at the main quantiles tell the same story. Disclaimer: at shorter horizons other results may be observed — expanded in the backup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Johnson SU: a transformation of the standard normal through the inverse hyperbolic sine. Four parameters: xi location (anchored at the median forecast), lambda scale, gamma skewness, delta tail weight. The two shape parameters are what let it track asymmetric, heavy-tailed oil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JSU: independent control of skewness and tail weight — it tracks the tail rotations of oil and nests the Gaussian; and it is versatile, battle-tested for asset returns. Honesty point: we do not estimate the skewed-t, so no superiority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not MLE: seven quantiles, not seven thousand observations. MDE minimises the squared distance between the JSU quantile function and the forecast skeleton. Configuration: median/IQR initialisation, symmetric shape prior, equal weights, tight tolerance. Training: the same 1,000-day rolling window, coefficients retrained every 30 OOS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PIT: where did each realised return land within our forecast distribution? Under a perfectly calibrated model the PIT sequence is Uniform(0,1). We run a KS test on the OOS PITs — and pass. (Say the pass verbally; it is deliberately not printed on the slide.)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of the fitting step: a full forecasted density at every trading day. The tails visibly fatten under stress episodes. Everything that follows — VaR, ES, skewness, entropy — is read from this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vulnerability metrics from the fitted distribution; here the first three. VaR from the closed-form JSU quantile, both tails, no time-scaling. ES: coherent, Basel III at 97.5%. Skewness: closed-form, tracks the direction of the risk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metric: relative entropy — the expected log-likelihood ratio between the forecast density f and the reference g. Computed three ways: over the full distribution, over the right tail (0.90-0.99 region, upside stress) and over the left tail (0.01-0.10 region, downside stress). Disclaimer in small print: the intervals are a convention; a more robust approach would calibrate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candidate references: the unconditional density (JSU fitted by MLE to history) and the Normal (the classical fan-chart assumption and the JSU's parent). Which to choose? Look at the data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evidence: left, the unconditional JSU fitted by MLE — strongly heavy-tailed. Right, its rolling skewness — persistently negative and drifting with the regime. The unconditional reference is itself absorbing skewness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Normal: first, the JSU nests it and it is the usual fan-chart assumption — a natural baseline. Second, the unconditional density already embeds skewness and heavy tails, which are risks in themselves, so measuring against it may understate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GaR frameworks stop at the metrics — we test whether the entropy predicts. Hypothesis: at least 5 days of lead, since the forecast is 5-ahead. Two tests: the CCF (entropy first-differenced for stationarity; expect higher correlation with future returns) and Granger causality as a second opinion (beyond the returns' own history). DISCLAIMER for questions — what these tests do and do not establish: they certify predictive content in the forecasting sense (lead-lag correlation; incremental information beyond the returns' own lags). They do NOT establish structural or economic causation, the CCF is bivariate (cannot exclude a common third factor), and the Granger F conditions only on the returns' own history — not on other predictors like volatility.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results: leads of 6-16 days depending on the entropy metric, all Granger-significant at 1% (sample: 2,167 daily observations, June 2012 - April 2026; AIC lags 16-22). DISCLAIMER — what is and is not being tested: these are tests of predictive content in the forecasting sense. The CCF is a bivariate lead-lag correlation — it cannot exclude a common third factor. Granger conditions on the returns' own history only — it certifies incremental information, not structural causation. Effect sizes are modest (squared peak correlations of roughly 1-6%): a signal to combine with others, not a standalone trigger. And part of the measured lead is mechanical, since the entropy is built from a 5-day-ahead forecast — the finding is that the lead exceeds that horizon.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conclusions: the methodology is general — one application among many possible; forecast-based KL divergence carries predictive power with a lead longer than the forecast horizon, even at daily frequency in a volatile market; and the scope is bounded by the risk sources in the specification — geopolitical and market risks here, other sources can be added. The punchline: high-frequency data lets GaR become an early warning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one: the quantile forecast around the eve of the Iran war. The corridor visibly widens ahead of the largest moves as the conditioning variables absorb the threat.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two: the KL divergence against Brent at the eve of the Ukraine war — the entropy spiking ahead of the price break. Figure placeholder: export the zoomed plot to results/plots and drop it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architecture: six modules mirroring the methodology one-to-one — data, quantile engine, direct forecasting, distribution, risk metrics, backtesting. Modular by design: each stage can be swapped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doing this project I found few ready-to-use software tools, so I had to design most of them myself. All the code and modules are available on GitHub for replication and for other researchers. The QR code links directly to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steps, as in the script: a causal orientation via generalised QR (Powell 2020) or quantile local projections (Wojciechowski 2025) — a different thesis of its own; more specifications, with CAViaR at shorter horizons possibly yielding a better EWS even without better point forecasts; and calibrating the arbitrary choices — tail intervals, MA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MA-7 rationale in full: smoothing plus news-cycle time structure; the trade-off between smoothing and induced autocorrelation; and the selection — loss-function assessment across candidate windows produced an optimal interval, from which the natural trading-week length was picked.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screening for multicollinearity: contemporaneous Pearson correlations over the estimation sample. Regressor-to-regressor correlations are tiny; the only sizable entry is USDI against the dependent variable itself, which is the effect we control for, not collinearity.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optimisation as in the thesis appendix: the absolute-value corner rules out closed-form FOCs; split residuals into positive parts to linearise; solve by Barrodale-Roberts simplex or Frisch-Newton interior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coefficient dashboard for reference during questions: paths across all estimated quantiles with significance, controls, pseudo R-squared and residuals.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consistency hypotheses: linearity of the CQF, strict exogeneity at the quantile, no perfect collinearity, positive density near the quantile (sparsity governs precision).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in-sample diagnostics with their nulls and mechanics, ready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 causal reading: QR gives conditional association; GPR is news-based and endogenous to markets and world events; identification would require IV-QR (Chernozhukov &amp; Hansen) or high-frequency instruments. The thesis is deliberately predictive.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iteration fails: LIE holds for means, not quantiles; composing one-step quantile forecasts does not deliver the multi-step quantile. Direct forecasting targets each horizon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rigorous alternative to h=5: in direct forecasting the error grows through information decay, not variance compounding; the criterion is the loss-minimising horizon where regressor-target dynamics are best captured; the grid scatters 2-20, so the convention stands.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Deductive chain: the 0.95 boundary is a convention; any threshold trades early detection against false alarms; the rigorous selection sweeps thresholds through a ROC curve, summarises with AUC, and picks the point matching the asymmetric cost of errors. This is exactly the proposed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disclaimer expanded: breach information decays fast, so the CAViaR-inspired models are strongest at very short horizons; at the operative h=5 they tie with the standard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Kupiec: likelihood-ratio test on the breach frequency against the nominal rate; all three models pass. Only unconditional coverage by design — the overlap makes hits MA(h−1)-dependent, which distorts independence tests but leaves the count assessment intact.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per-quantile optimal horizons scatter (2 to 20). Evidence summary: all pass everything; average tick losses 0.2380 / 0.2290 / 0.3317 — the tie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DQ mechanics: centred hits, instrument projection, Wald form chi-squared. The motivation for the CAViaR augmentations is exactly the term this test interrogates.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Coherence: full entropy correlates with each tail contemporaneously; the tails are mutually uncorrelated — independent information. The unconditional-JSU divergence series is also computed and shown here for completeness.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in-sample diagnostics with their statistics: R1 as the QR pseudo-R-squared (T·V(τ)·R1 is asymptotically chi-squared); the Wald test on the stacked coefficient vector with block-bootstrap covariance (rejected — slopes differ across quantiles); the QAR unit-root auxiliary regression (H0 of a unit root rejected at every targeted tau).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 evaluation statistics: the pinball loss (minimised only by the true conditional quantile); the DM statistic on the paired loss differential with HAC bandwidth h−1 matching the overlap-induced MA(h−1) autocorrelation; and Kupiec's likelihood ratio on the breach count, asymptotically chi-squared with one degree of freedom.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Density evaluation: the PIT is Uniform(0,1) under correct specification; the KS statistic measures the supremum deviation of the empirical PIT CDF from the 45-degree line. How departures localise the failure: mass near 0 = thin left tail; near 1 = thin right tail; central hump = over-dispersed forecasts.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closed forms: VaR directly from the JSU quantile function (no root-finding); ES by numerical integration below the threshold on a 5,000-point grid; and the tail decomposition of the KL divergence — the integrals split at the tail mark, giving the left and right entropy components used in the 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EWS test statistics: the CCF with Bartlett's band (valid under the iid null — treat as descriptive); the Granger nested regression with its F-statistic distributed F(p, T−2p−1) under the null, lag order by AIC with a ceiling of 30 days. Emphasise: forecasting causality, not structural.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DQ test: centred hits must be unpredictable from yesterday's information; the Wald projection statistic is asymptotically chi-squared. In this thesis it motivates the breach augmentations — which pass it by construction — rather than serving as evidence of superiority.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304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057400"/>
            <a:ext cx="3931920" cy="1234440"/>
          </a:xfrm>
          <a:prstGeom prst="line">
            <a:avLst/>
          </a:prstGeom>
          <a:noFill/>
          <a:ln w="12700">
            <a:solidFill>
              <a:srgbClr val="3A5A7C">
                <a:alpha val="55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8229600" y="2560320"/>
            <a:ext cx="3931920" cy="781812"/>
          </a:xfrm>
          <a:prstGeom prst="line">
            <a:avLst/>
          </a:prstGeom>
          <a:noFill/>
          <a:ln w="12700">
            <a:solidFill>
              <a:srgbClr val="3A5A7C">
                <a:alpha val="55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229600" y="3017520"/>
            <a:ext cx="3931920" cy="370332"/>
          </a:xfrm>
          <a:prstGeom prst="line">
            <a:avLst/>
          </a:prstGeom>
          <a:noFill/>
          <a:ln w="12700">
            <a:solidFill>
              <a:srgbClr val="3A5A7C">
                <a:alpha val="55000"/>
              </a:srgbClr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29600" y="3429000"/>
            <a:ext cx="3931920" cy="0"/>
          </a:xfrm>
          <a:prstGeom prst="line">
            <a:avLst/>
          </a:prstGeom>
          <a:noFill/>
          <a:ln w="25400">
            <a:solidFill>
              <a:srgbClr val="F5F0E8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3840480"/>
            <a:ext cx="3931920" cy="-370332"/>
          </a:xfrm>
          <a:prstGeom prst="line">
            <a:avLst/>
          </a:prstGeom>
          <a:noFill/>
          <a:ln w="12700">
            <a:solidFill>
              <a:srgbClr val="3A5A7C">
                <a:alpha val="55000"/>
              </a:srgbClr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229600" y="4297680"/>
            <a:ext cx="3931920" cy="-781812"/>
          </a:xfrm>
          <a:prstGeom prst="line">
            <a:avLst/>
          </a:prstGeom>
          <a:noFill/>
          <a:ln w="12700">
            <a:solidFill>
              <a:srgbClr val="3A5A7C">
                <a:alpha val="55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229600" y="4800600"/>
            <a:ext cx="3931920" cy="-1234440"/>
          </a:xfrm>
          <a:prstGeom prst="line">
            <a:avLst/>
          </a:prstGeom>
          <a:noFill/>
          <a:ln w="12700">
            <a:solidFill>
              <a:srgbClr val="3A5A7C">
                <a:alpha val="55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66928" y="822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DEFENSE · MSC IN QUANTITATIVE ECONOMIC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4173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Oil-at-Risk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566928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Framework for Studying Oil Price Vulnerabilities</a:t>
            </a:r>
            <a:endParaRPr lang="en-US" sz="2400" dirty="0"/>
          </a:p>
        </p:txBody>
      </p:sp>
      <p:pic>
        <p:nvPicPr>
          <p:cNvPr id="13" name="Image 0" descr="assets/eq_spe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611880"/>
            <a:ext cx="5852160" cy="33019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66928" y="4617720"/>
            <a:ext cx="4572000" cy="0"/>
          </a:xfrm>
          <a:prstGeom prst="line">
            <a:avLst/>
          </a:prstGeom>
          <a:noFill/>
          <a:ln w="12700">
            <a:solidFill>
              <a:srgbClr val="3A5A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846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Alejandro Rodríguez Garrido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Pilar Poncela Blanco  ·  Diego Eduardo Fresoli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Autónoma de Madrid  ·  June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oil prices?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11027664" cy="1371600"/>
          </a:xfrm>
          <a:prstGeom prst="roundRect">
            <a:avLst>
              <a:gd name="adj" fmla="val 466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7510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63677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old macroeconomic debate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020824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 shocks that cause recessions — Hamilton (1983) shows oil shocks Granger-cause downturns — versus endogenous responses to global demand (Barsky &amp; Kilian, 2004).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017520"/>
            <a:ext cx="11027664" cy="1371600"/>
          </a:xfrm>
          <a:prstGeom prst="roundRect">
            <a:avLst>
              <a:gd name="adj" fmla="val 466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48386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65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14553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Either way, oil is first-order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529584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essential input for strategic sectors and a primary driver of inflation: a concern for producers, investors and economists alike.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526280"/>
            <a:ext cx="11027664" cy="1371600"/>
          </a:xfrm>
          <a:prstGeom prst="roundRect">
            <a:avLst>
              <a:gd name="adj" fmla="val 4667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9262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74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65429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spotlight is back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5038344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tensions in the Middle East have once again made crude the barometer of global stress.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geopolitical risk?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5404104" cy="2194560"/>
          </a:xfrm>
          <a:prstGeom prst="roundRect">
            <a:avLst>
              <a:gd name="adj" fmla="val 291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7335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Precautionary demand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02082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Kilian (2009)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2331720"/>
            <a:ext cx="4965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future supply disruptions is the demand shock most directly tied to geopolitical events: agents buy and store today to avoid possible price spikes.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0488" y="1508760"/>
            <a:ext cx="5404104" cy="2194560"/>
          </a:xfrm>
          <a:prstGeom prst="roundRect">
            <a:avLst>
              <a:gd name="adj" fmla="val 291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67335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opposing channels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9944" y="202082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Minesso, Lappe &amp; Rößler (2024)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9944" y="2331720"/>
            <a:ext cx="4965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risk simultaneously depresses economic activity — pushing prices down — and raises the premium for holding physical oil — pushing prices up. Linear models miss this duality.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931920"/>
            <a:ext cx="5404104" cy="2194560"/>
          </a:xfrm>
          <a:prstGeom prst="roundRect">
            <a:avLst>
              <a:gd name="adj" fmla="val 291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09651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Expectations alone move prices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86384" y="444398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Kilian, Plante &amp; Richter (2026)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" y="4754880"/>
            <a:ext cx="4965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rise in the perceived probability of a geopolitical shortfall generates price surges without any event materialising.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90488" y="3931920"/>
            <a:ext cx="5404104" cy="2194560"/>
          </a:xfrm>
          <a:prstGeom prst="roundRect">
            <a:avLst>
              <a:gd name="adj" fmla="val 2917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409651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Non-linear and time-varying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9944" y="444398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Brignone, Gambetti &amp; Ricci (2025)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9944" y="4754880"/>
            <a:ext cx="4965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act as uncertainty shocks that raise prices; acts behave like negative demand shocks. Large shocks amplify disproportionately.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model the tails — and the question nobody asks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not enough.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literature shows the response to oil shocks is asymmetric — linear models understate downside risk.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OLS fails on this data.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returns sit near zero; volatility clustering, influential outliers and heavy tails distort linear estimates. The tails carry the signal.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adapt Growth-at-Risk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(Adrian et al., 2019) to study the vulnerability of daily oil prices.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1371600"/>
            <a:ext cx="3260627" cy="3520440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8" name="Image 0" descr="assets/in sample predicted distribution at 5 step ahea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36" y="1499616"/>
            <a:ext cx="3004595" cy="29535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17536" y="4471416"/>
            <a:ext cx="30045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we model instead: the full conditional density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5029200"/>
            <a:ext cx="11027664" cy="1188720"/>
          </a:xfrm>
          <a:prstGeom prst="roundRect">
            <a:avLst>
              <a:gd name="adj" fmla="val 6154"/>
            </a:avLst>
          </a:prstGeom>
          <a:solidFill>
            <a:srgbClr val="14304D"/>
          </a:solidFill>
          <a:ln/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513892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spc="20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MOREOVER   </a:t>
            </a:r>
            <a:pPr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GaR-style studies stop at reporting the risk metrics. We will show that one of the vulnerability indicators actually carries predictive power over oil market shakes.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framework, step by step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11027664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64208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53619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Quantile regression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0" y="1536192"/>
            <a:ext cx="6355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specification for the quantile regression of Brent returns.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1027664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61518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248716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forecasting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0" y="2487168"/>
            <a:ext cx="6355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the quantiles of oil returns at a chosen horizon h — each horizon gets its own model.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3364992"/>
            <a:ext cx="11027664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566160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47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343814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fitting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0" y="3438144"/>
            <a:ext cx="6355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parametric distribution to the discrete forecasts: the full forecasted distribution of oil prices.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4315968"/>
            <a:ext cx="11027664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517136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498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81328" y="438912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metrics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0" y="4389120"/>
            <a:ext cx="6355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risk metrics from the fitted distribution.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928" y="5266944"/>
            <a:ext cx="11027664" cy="841248"/>
          </a:xfrm>
          <a:prstGeom prst="roundRect">
            <a:avLst>
              <a:gd name="adj" fmla="val 7609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5468112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449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81328" y="5340096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test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029200" y="5340096"/>
            <a:ext cx="6355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a selected risk metric carries predictive power over oil shocks.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6928" y="617220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evaluated out-of-sample, and the full pipeline ships as an open-source Python module.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of the defense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420624" cy="420624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0432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70432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thesis fits — and the question it answers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81928" y="1737360"/>
            <a:ext cx="420624" cy="420624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1" name="Text 9"/>
          <p:cNvSpPr/>
          <p:nvPr/>
        </p:nvSpPr>
        <p:spPr>
          <a:xfrm>
            <a:off x="628192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85432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85432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 contribution, five components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926080"/>
            <a:ext cx="420624" cy="420624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70432" y="28346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specification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70432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Regressors as sources of risk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81928" y="2926080"/>
            <a:ext cx="420624" cy="420624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9" name="Text 17"/>
          <p:cNvSpPr/>
          <p:nvPr/>
        </p:nvSpPr>
        <p:spPr>
          <a:xfrm>
            <a:off x="6281928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85432" y="28346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forecasting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85432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Setting, breach indicators, competing models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114800"/>
            <a:ext cx="420624" cy="420624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70432" y="40233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fitting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70432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Johnson SU, MDE, and diagnostics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81928" y="4114800"/>
            <a:ext cx="420624" cy="420624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5432" y="40233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metrics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85432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ES, skewness — and relative entropy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5303520"/>
            <a:ext cx="420624" cy="420624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5285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70432" y="52120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system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170432" y="5577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Hypothesis, tests, Iran War eve case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81928" y="5303520"/>
            <a:ext cx="420624" cy="420624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35" name="Text 33"/>
          <p:cNvSpPr/>
          <p:nvPr/>
        </p:nvSpPr>
        <p:spPr>
          <a:xfrm>
            <a:off x="6281928" y="5285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85432" y="52120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885432" y="5577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open-source module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LITERATURE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Growth-at-Risk paradigm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Adrian, Boyarchenko &amp; Giannone (2019), American Economic Review — “Vulnerable Growth”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1027664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04288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81328" y="200253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81328" y="2386584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conditional distribution of GDP growth depends on financial conditions: adverse conditions greatly deteriorate the lower quantiles while the upper quantiles barely move.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3310128"/>
            <a:ext cx="11027664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739896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21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3438144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original architecture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81328" y="3822192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regression at 5 distinct quantiles → a skewed-t distribution fitted to those quantiles → risk metrics extracted from the density to study vulnerability.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4745736"/>
            <a:ext cx="11027664" cy="1298448"/>
          </a:xfrm>
          <a:prstGeom prst="roundRect">
            <a:avLst>
              <a:gd name="adj" fmla="val 4930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17550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157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81328" y="4873752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adaptation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81328" y="5257800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setup was meant for quarterly data and well-known macro indicators. We adapt it to exploit high-frequency financial data — and a familiar but different problem.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LITERATURE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pillars of the adapted methodology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1102766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6304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Koenker &amp; Bassett (1978)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6355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Formalised quantile regression and its main diagnostic tools — the same QR core used by the original authors.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377440"/>
            <a:ext cx="1102766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37744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Engle &amp; Manganelli (2004)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377440"/>
            <a:ext cx="6355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CAViaR: formalised the contestant models proposed in this thesis — alternative specifications for the QR.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3291840"/>
            <a:ext cx="1102766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29184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Johnson (1949)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291840"/>
            <a:ext cx="6355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 family: a flexible transformation of the Gaussian capturing skewness and heavy tails — our departure from the skewed-t.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4206240"/>
            <a:ext cx="1102766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20624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Kullback &amp; Leibler (1951)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4206240"/>
            <a:ext cx="6355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entropy: the divergence measure behind the main vulnerability metric of this thesis.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66928" y="5120640"/>
            <a:ext cx="11027664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512064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Diebold &amp; Mariano (1995) · Diebold, Gunther &amp; Tay (1998)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5120640"/>
            <a:ext cx="6355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backtesting toolkit used to compare forecasts and assess the calibration of the fitted densities.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66928" y="610819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production elsewhere: IMF House-Prices-at-Risk and country surveillance; inflation-at-risk adaptations in central-bank research.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CONTRIBUTION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contribution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11027664" cy="960120"/>
          </a:xfrm>
          <a:prstGeom prst="roundRect">
            <a:avLst>
              <a:gd name="adj" fmla="val 7619"/>
            </a:avLst>
          </a:prstGeom>
          <a:solidFill>
            <a:srgbClr val="14304D"/>
          </a:solidFill>
          <a:ln/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CONTRIBUTION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a novel methodology to study the vulnerabilities of oil prices — which includes: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402336" cy="402336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quantile models inside the architecture — the CAViaR-inspired contestants.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355848"/>
            <a:ext cx="402336" cy="402336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3101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departure from the canonical skewed-t to a financial-friendly density: the Johnson SU.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4014216"/>
            <a:ext cx="402336" cy="402336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96849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battery of backtesting tools applied uniformly, making the framework more robust.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672584"/>
            <a:ext cx="402336" cy="402336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62686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warning system built on one of the risk metrics.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5330952"/>
            <a:ext cx="402336" cy="402336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528523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Python module to replicate the full pipeline or extend it to other research.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" y="5989320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application itself: this presentation also aims to explain the framework, in case you find it useful for studying other phenomena — as other authors have done.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specification built on risk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11027664" cy="1463040"/>
          </a:xfrm>
          <a:prstGeom prst="roundRect">
            <a:avLst>
              <a:gd name="adj" fmla="val 4375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Efficient Market Hypothesis.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reflect all publicly available information, and expected returns are purely a function of risk. To study the future distribution of an asset, condition on its sources of risk.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3154680"/>
            <a:ext cx="11027664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84448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81328" y="328269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moves oil prices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81328" y="3666744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Kilian (2009): precautionary demand — the fear of future supply disruptions drives agents to buy early, altering prices before any physical shortfall.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4590288"/>
            <a:ext cx="11027664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5020056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01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81328" y="4718304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 moves them asymmetrically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81328" y="5102352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Brignone, Gambetti &amp; Ricci (2025): geopolitical shocks in the oil market are highly asymmetrical — motivating a flexible, distribution-aware framework.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dependent variable: Brent crude log-returns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54480" y="1463040"/>
            <a:ext cx="6998824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7" name="Image 0" descr="assets/Brent crude evolution. Structural Analysis of supply and demand sh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1591056"/>
            <a:ext cx="6742792" cy="3593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82496" y="5202936"/>
            <a:ext cx="6742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spot price, 1990–2026, with its structural supply and demand episodes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58064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frequency, January 1990 to April 2026, via FRED (EIA). We work with the log-returns of the spot price.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Brent — and not WTI?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5404104" cy="1965960"/>
          </a:xfrm>
          <a:prstGeom prst="roundRect">
            <a:avLst>
              <a:gd name="adj" fmla="val 3256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55064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Preferred in the literature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057400"/>
            <a:ext cx="4965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is the standard choice for studying world oil prices: it better reflects international market conditions. WTI is too tied to U.S. domestic conditions.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0488" y="1508760"/>
            <a:ext cx="5404104" cy="1965960"/>
          </a:xfrm>
          <a:prstGeom prst="roundRect">
            <a:avLst>
              <a:gd name="adj" fmla="val 3256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9944" y="1655064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Waterborne, not landlocked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9944" y="2057400"/>
            <a:ext cx="4965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in the North Sea and loaded directly onto ships: tradable across Europe, Asia, Africa and the Americas.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3703320"/>
            <a:ext cx="5404104" cy="1965960"/>
          </a:xfrm>
          <a:prstGeom prst="roundRect">
            <a:avLst>
              <a:gd name="adj" fmla="val 3256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849624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market dominance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86384" y="4251960"/>
            <a:ext cx="4965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two-thirds of globally traded crude is priced relative to Brent — the benchmark for Europe, Africa and the Middle East.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0488" y="3703320"/>
            <a:ext cx="5404104" cy="1965960"/>
          </a:xfrm>
          <a:prstGeom prst="roundRect">
            <a:avLst>
              <a:gd name="adj" fmla="val 3256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3849624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to global geopolitics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9944" y="4251960"/>
            <a:ext cx="4965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maritime crude, Brent reacts immediately to chokepoint disruptions — Hormuz, the Red Sea — OPEC+ decisions, and tensions across three continents.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" y="58064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WTI is technically lighter and sweeter — but in a global benchmark, logistics and liquidity beat chemistry.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regressors: three sources of risk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3529584" cy="4480560"/>
          </a:xfrm>
          <a:prstGeom prst="roundRect">
            <a:avLst>
              <a:gd name="adj" fmla="val 1813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9164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2011680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Geopolitical Risk Index (MA-7)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Caldara &amp; Iacoviello (2022)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" y="2999232"/>
            <a:ext cx="31272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moving average of the daily GPR index: geopolitical risk as perceived by the media. The main regressor and the main source of risk in this thesis.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5968" y="1508760"/>
            <a:ext cx="3529584" cy="4480560"/>
          </a:xfrm>
          <a:prstGeom prst="roundRect">
            <a:avLst>
              <a:gd name="adj" fmla="val 1813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69164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RISK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17136" y="2011680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U.S. Dollar Index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17136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Rogoff &amp; Rossi (2010)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17136" y="2999232"/>
            <a:ext cx="31272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is traded mostly in dollars: the index captures the exchange-rate component of price movements — and exchange rates have been shown to forecast commodity prices.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65008" y="1508760"/>
            <a:ext cx="3529584" cy="4480560"/>
          </a:xfrm>
          <a:prstGeom prst="roundRect">
            <a:avLst>
              <a:gd name="adj" fmla="val 1813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69164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LOGISTICAL RISK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66176" y="2011680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Baltic Dry Index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66176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Bakshi, Panayotov &amp; Skoulakis (2011)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66176" y="2999232"/>
            <a:ext cx="31272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Bulk-shipping freight rates: captures logistical disruptions in the oil distribution chain. The BDI predicts commodity returns and global economic activity.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fourth source: realized volatility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/ VOLATILITY RISK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404104" cy="2834640"/>
          </a:xfrm>
          <a:prstGeom prst="roundRect">
            <a:avLst>
              <a:gd name="adj" fmla="val 2258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965960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captures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6384" y="2395728"/>
            <a:ext cx="49651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clustering and sudden changes in speculation — the market-turbulence component of oil price risk, kept separate from the structural pricing of geopolitical threat.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0488" y="1783080"/>
            <a:ext cx="5404104" cy="2834640"/>
          </a:xfrm>
          <a:prstGeom prst="roundRect">
            <a:avLst>
              <a:gd name="adj" fmla="val 2258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965960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adds predictive power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9944" y="2395728"/>
            <a:ext cx="49651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Cenesizoglu &amp; Timmermann: the distribution of returns is predictable using volatility-type state variables. Andersen, Bollerslev, Diebold &amp; Labys (2003): modelling realized volatility directly outperforms latent-variance models.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" y="49377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model-free, observable measure — unlike the latent variance of GARCH-type models.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SPECIFICATION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specification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1027664" cy="1554480"/>
          </a:xfrm>
          <a:prstGeom prst="roundRect">
            <a:avLst>
              <a:gd name="adj" fmla="val 4118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7" name="Image 0" descr="assets/eq_sp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6903720" cy="346538"/>
          </a:xfrm>
          <a:prstGeom prst="rect">
            <a:avLst/>
          </a:prstGeom>
        </p:spPr>
      </p:pic>
      <p:pic>
        <p:nvPicPr>
          <p:cNvPr id="8" name="Image 1" descr="assets/eq_contr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965960"/>
            <a:ext cx="3200400" cy="2713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606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∈ {0.01, 0.05, 0.25, 0.50, 0.75, 0.95, 0.99} — one specification preserved across all quantiles, for simplicity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66928" y="3520440"/>
            <a:ext cx="11027664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657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more variables?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prevent multicollinearity and keep parsimony: a compact regressor set protects the tails from overfitting and keeps the quantiles comparable. (Correlation matrix of the regressors in the backup slides.)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QUANTILE REGRESSION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quantile regression estimator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60020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conditional quantile function</a:t>
            </a:r>
            <a:endParaRPr lang="en-US" sz="1350" dirty="0"/>
          </a:p>
        </p:txBody>
      </p:sp>
      <p:pic>
        <p:nvPicPr>
          <p:cNvPr id="7" name="Image 0" descr="assets/eq_cq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787" y="1938528"/>
            <a:ext cx="4363946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78892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asymmetric check loss</a:t>
            </a:r>
            <a:endParaRPr lang="en-US" sz="1350" dirty="0"/>
          </a:p>
        </p:txBody>
      </p:sp>
      <p:pic>
        <p:nvPicPr>
          <p:cNvPr id="9" name="Image 1" descr="assets/eq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143" y="3127248"/>
            <a:ext cx="4607235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397764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estimator (Koenker &amp; Bassett, 1978)</a:t>
            </a:r>
            <a:endParaRPr lang="en-US" sz="1350" dirty="0"/>
          </a:p>
        </p:txBody>
      </p:sp>
      <p:pic>
        <p:nvPicPr>
          <p:cNvPr id="11" name="Image 2" descr="assets/eq_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494" y="4343400"/>
            <a:ext cx="5690532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QUANTILE REGRESSION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In-sample estimates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5811744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7" name="Image 0" descr="assets/insaple_spec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591056"/>
            <a:ext cx="5555712" cy="4142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5751576"/>
            <a:ext cx="555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paths, controls, pseudo-R² by quantile, residuals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20840" y="1463040"/>
            <a:ext cx="4892040" cy="2486082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10" name="Image 1" descr="assets/forecasted scat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1591056"/>
            <a:ext cx="4636008" cy="19191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48856" y="3528498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quantiles against realised returns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720840" y="420624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on the left; the fitted scatter on the right — the envelope tracks the data across the distribution.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QUANTILE REGRESSION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coefficients across quantiles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60020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 = 0.05   ·   R¹ = 0.531</a:t>
            </a:r>
            <a:endParaRPr lang="en-US" sz="15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35295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603504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GPRD_MA7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−0.00028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Realized Vol.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−0.18722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25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BDI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USD Index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−0.09284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25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315968" y="160020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 = 0.50   ·   R¹ = 0.034</a:t>
            </a:r>
            <a:endParaRPr lang="en-US" sz="155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5968" y="2011680"/>
          <a:ext cx="35295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603504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GPRD_MA7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−0.00020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Realized Vol.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+0.01963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25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BDI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+0.01535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USD Index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−1.67430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25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065008" y="160020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 = 0.95   ·   R¹ = 0.559</a:t>
            </a:r>
            <a:endParaRPr lang="en-US" sz="155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5008" y="2011680"/>
          <a:ext cx="35295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603504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GPRD_MA7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Realized Vol.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+0.18713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25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BDI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USD Index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−0.06602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25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566928" y="5120640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flip and magnitudes rotate across the distribution: volatility loads negatively on the left tail and positively on the right; the dollar bites hardest at the median; GPR reverses sign between the tails.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QUANTILE REGRESSION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estimates say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11027664" cy="1389888"/>
          </a:xfrm>
          <a:prstGeom prst="roundRect">
            <a:avLst>
              <a:gd name="adj" fmla="val 4605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75688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72821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explanatory power in the tails, little at the median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112264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R¹ ≈ 0.53 and 0.56 at the 5th and 95th percentiles against 0.03 at the median — expected, since the median daily return carries almost no signal.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127248"/>
            <a:ext cx="11027664" cy="1389888"/>
          </a:xfrm>
          <a:prstGeom prst="roundRect">
            <a:avLst>
              <a:gd name="adj" fmla="val 4605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602736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255264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Asymmetric GPR effect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639312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of the GPR coefficient flips between the lower and the upper tail: geopolitical stress deepens downside risk and stretches the upside simultaneously.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654296"/>
            <a:ext cx="11027664" cy="1389888"/>
          </a:xfrm>
          <a:prstGeom prst="roundRect">
            <a:avLst>
              <a:gd name="adj" fmla="val 4605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12978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11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782312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no causal conclusions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5166360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quantile regression alone does not identify causal effects — that requires pairing it with valid techniques such as instrumental-variable QR (Chernozhukov &amp; Hansen).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DIRECT FORECASTING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direct forecasting problem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27664" cy="12801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iterate the expected value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 other well-known time-series models: conditional quantiles obey no law of iterated expectations. Each forecast horizon therefore gets its own dedicated regression.</a:t>
            </a:r>
            <a:endParaRPr lang="en-US" sz="1600" dirty="0"/>
          </a:p>
        </p:txBody>
      </p:sp>
      <p:pic>
        <p:nvPicPr>
          <p:cNvPr id="8" name="Image 0" descr="assets/eq_di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973" y="3017520"/>
            <a:ext cx="9077574" cy="868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5404104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47000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86384" y="50749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1,000-observation rolling window — around 4 years of trading data.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90488" y="4572000"/>
            <a:ext cx="5404104" cy="1463040"/>
          </a:xfrm>
          <a:prstGeom prst="roundRect">
            <a:avLst>
              <a:gd name="adj" fmla="val 4375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47000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409944" y="50749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evaluated on the last 3 years of data, through recursive out-of-sample estimation.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DIRECT FORECASTING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horizon: h = 5 trading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11027664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9968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72821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trading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112264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too short, not too long: the natural cadence for hedge and margin decisions, and short enough for the quantile signal to stay sharp.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035808"/>
            <a:ext cx="11027664" cy="1298448"/>
          </a:xfrm>
          <a:prstGeom prst="roundRect">
            <a:avLst>
              <a:gd name="adj" fmla="val 4930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465576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163824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horizon for the whole pipeline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547872"/>
            <a:ext cx="9811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consistently across forecasting, risk metrics and the early-warning step, so every output speaks about the same object.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471416"/>
            <a:ext cx="11027664" cy="1481328"/>
          </a:xfrm>
          <a:prstGeom prst="roundRect">
            <a:avLst>
              <a:gd name="adj" fmla="val 4321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9262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74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599432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convention, stated openly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4983480"/>
            <a:ext cx="9811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Loss-minimising horizons scatter between h = 2 and h = 20 depending on model and quantile (backup table) — a transparent convention beats a data-mined optimum.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DIRECT FORECASTING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Focusing on the tails: the breach indicator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a model that captures extreme tail events — so we track exactly those.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breach indicator takes the value 1 when the realised return lands outside the forecast quantile range:</a:t>
            </a:r>
            <a:endParaRPr lang="en-US" sz="1600" dirty="0"/>
          </a:p>
        </p:txBody>
      </p:sp>
      <p:pic>
        <p:nvPicPr>
          <p:cNvPr id="7" name="Image 0" descr="assets/eq_bre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926080"/>
            <a:ext cx="5760720" cy="4500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36576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flag for upside breaches, one for downside — asymmetric effects stay visible.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903720" y="1463040"/>
            <a:ext cx="4572000" cy="3643104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10" name="Image 1" descr="assets/qreg breaches and fallou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36" y="1591056"/>
            <a:ext cx="4315968" cy="3076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31736" y="468552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of the standard model across the evaluation window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6928" y="5257800"/>
            <a:ext cx="11027664" cy="960120"/>
          </a:xfrm>
          <a:prstGeom prst="roundRect">
            <a:avLst>
              <a:gd name="adj" fmla="val 7619"/>
            </a:avLst>
          </a:prstGeom>
          <a:solidFill>
            <a:srgbClr val="14304D"/>
          </a:solidFill>
          <a:ln/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cluster around market shakes: </a:t>
            </a:r>
            <a:pPr indent="0" marL="0">
              <a:buNone/>
            </a:pPr>
            <a:r>
              <a:rPr lang="en-US" sz="1500" i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model systematically fails to capture tail events exactly when it matters.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DIRECT FORECASTING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giving the model memory of its failures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import the CAViaR models of Engle &amp; Manganelli (2004) — originally built for Value-at-Risk — into our framework: </a:t>
            </a:r>
            <a:pPr indent="0" marL="0"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contestants that include the breach indicator among their regressors, so they can react to extreme events.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377440"/>
            <a:ext cx="5404104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5420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 · binary indicator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6384" y="2944368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breach enters as a binary variable — one flag for upside, one for downside, to control for asymmetric effects. Any breach weighs the same: size is not considered.</a:t>
            </a:r>
            <a:endParaRPr lang="en-US" sz="1600" dirty="0"/>
          </a:p>
        </p:txBody>
      </p:sp>
      <p:pic>
        <p:nvPicPr>
          <p:cNvPr id="10" name="Image 0" descr="assets/eq_bre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754880"/>
            <a:ext cx="4983480" cy="38936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90488" y="2377440"/>
            <a:ext cx="5404104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25420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3 · breach severity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09944" y="2944368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breach enters as a continuous variable — the distance from the realised value to the closest quantile. Larger breaches get larger weight: the model adjusts for size.</a:t>
            </a:r>
            <a:endParaRPr lang="en-US" sz="1600" dirty="0"/>
          </a:p>
        </p:txBody>
      </p:sp>
      <p:pic>
        <p:nvPicPr>
          <p:cNvPr id="14" name="Image 1" descr="assets/eq_s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4800600"/>
            <a:ext cx="4983480" cy="2949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DIRECT FORECASTING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fallout audit: the contestants react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4464045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7" name="Image 0" descr="assets/caviar_i breaches and fallou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591056"/>
            <a:ext cx="4208013" cy="2999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5256" y="4608576"/>
            <a:ext cx="42080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CAViaR indicator: breaches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4467075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10" name="Image 1" descr="assets/caviar_s breaches and fallou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1591056"/>
            <a:ext cx="4211043" cy="29992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37376" y="4608576"/>
            <a:ext cx="4211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CAViaR severity: breaches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6928" y="525780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14304D"/>
          </a:solidFill>
          <a:ln/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53492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augmented models cut the number of breaches by a factor of ~3: </a:t>
            </a:r>
            <a:pPr indent="0" marL="0">
              <a:buNone/>
            </a:pPr>
            <a:r>
              <a:rPr lang="en-US" sz="1500" i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capture tail events far better.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9418320" y="5212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But…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DIRECT FORECASTING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comparison: does memory add predictive power?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Diebold–Mariano on the tick loss (τ = 0.95, h = 5)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5577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737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vs CAViaR-i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difference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vs CAViaR-s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difference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CAViaR-i vs CAViaR-s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difference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720840" y="1463040"/>
            <a:ext cx="4892040" cy="3440409"/>
          </a:xfrm>
          <a:prstGeom prst="roundRect">
            <a:avLst>
              <a:gd name="adj" fmla="val 159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9" name="Image 0" descr="assets/oos performance at different horiz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8856" y="1591056"/>
            <a:ext cx="4636008" cy="28734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48856" y="4482825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loss at the main quantiles, across horizons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434340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14304D"/>
          </a:solidFill>
          <a:ln/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04672" y="44805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horizon, the breach indicator adds no significant predictive power — the signal probably arrives too late.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6928" y="58978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Disclaimer: at shorter horizons, these models may improve predictive power significantly.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DISTRIBUTION FITTING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Johnson SU distribution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flexible transformation of the standard normal:</a:t>
            </a:r>
            <a:endParaRPr lang="en-US" sz="1600" dirty="0"/>
          </a:p>
        </p:txBody>
      </p:sp>
      <p:pic>
        <p:nvPicPr>
          <p:cNvPr id="7" name="Image 0" descr="assets/eq_j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8855" y="1920240"/>
            <a:ext cx="8783810" cy="868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3154680"/>
            <a:ext cx="2670048" cy="2377440"/>
          </a:xfrm>
          <a:prstGeom prst="roundRect">
            <a:avLst>
              <a:gd name="adj" fmla="val 2692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333756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66928" y="397764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49808" y="434340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the distribution — anchored at the forecast median.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355848" y="3154680"/>
            <a:ext cx="2670048" cy="2377440"/>
          </a:xfrm>
          <a:prstGeom prst="roundRect">
            <a:avLst>
              <a:gd name="adj" fmla="val 2692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55848" y="333756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355848" y="397764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3538728" y="434340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Stretches the distribution — the dispersion of returns.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144768" y="3154680"/>
            <a:ext cx="2670048" cy="2377440"/>
          </a:xfrm>
          <a:prstGeom prst="roundRect">
            <a:avLst>
              <a:gd name="adj" fmla="val 2692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44768" y="333756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144768" y="397764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Skewness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327648" y="434340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Tilts the distribution — which tail dominates.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933688" y="3154680"/>
            <a:ext cx="2670048" cy="2377440"/>
          </a:xfrm>
          <a:prstGeom prst="roundRect">
            <a:avLst>
              <a:gd name="adj" fmla="val 2692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33688" y="333756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8933688" y="397764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 weight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9116568" y="434340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the heaviness of the tails — the extreme-event mass.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DISTRIBUTION FITTING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Johnson SU?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27664" cy="16002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7228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539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81965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shape control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203704"/>
            <a:ext cx="9811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drives skewness and δ drives tail weight, independently: the family tracks the asymmetric tail rotations of oil — right tail fattening under supply threats, left under demand collapses — and nests the Gaussian as a limit.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520440"/>
            <a:ext cx="11027664" cy="1600200"/>
          </a:xfrm>
          <a:prstGeom prst="roundRect">
            <a:avLst>
              <a:gd name="adj" fmla="val 4000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10108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827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64845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Versatile and field-tested for asset returns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4032504"/>
            <a:ext cx="9811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used distributions for modelling financial returns, precisely because it accounts for skewness and tail weight. The canonical skewed-t is not estimated here — no head-to-head is claimed.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DISTRIBUTION FITTING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Fitting with seven points: Minimum Distance Estimation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27664" cy="12801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Maximum Likelihood?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origin we observe only K = 7 predicted quantiles — not a sample of future returns. MDE fits the theoretical quantile function to that forecast skeleton instead.</a:t>
            </a:r>
            <a:endParaRPr lang="en-US" sz="1600" dirty="0"/>
          </a:p>
        </p:txBody>
      </p:sp>
      <p:pic>
        <p:nvPicPr>
          <p:cNvPr id="8" name="Image 0" descr="assets/eq_m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0486" y="2971800"/>
            <a:ext cx="5700547" cy="868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251960"/>
            <a:ext cx="5404104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43799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86384" y="475488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 starts at the median forecast, λ at the IQR, γ = 0, δ = 1 — a symmetric prior the optimiser refines. Equal weights; tolerance 10⁻¹⁰.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90488" y="4251960"/>
            <a:ext cx="5404104" cy="1737360"/>
          </a:xfrm>
          <a:prstGeom prst="roundRect">
            <a:avLst>
              <a:gd name="adj" fmla="val 3684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43799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&amp; refresh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409944" y="475488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1,000-day rolling training window as the forecasting step; the quantile coefficients are retrained every 30 out-of-sample days.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DISTRIBUTION FITTING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fit any good? The PIT test</a:t>
            </a:r>
            <a:endParaRPr lang="en-US" sz="3000" dirty="0"/>
          </a:p>
        </p:txBody>
      </p:sp>
      <p:pic>
        <p:nvPicPr>
          <p:cNvPr id="6" name="Image 0" descr="assets/eq_p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659" y="1417320"/>
            <a:ext cx="8478203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057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 measures where each realised return lands within the forecast distribution (Diebold, Gunther &amp; Tay, 1998). Under a perfectly calibrated model, the PIT sequence behaves as a Uniform(0,1) — tested with a Kolmogorov–Smirnov test on the out-of-sample PITs.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600200" y="2971800"/>
            <a:ext cx="4709160" cy="336203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9" name="Image 1" descr="assets/pit U(0,1) 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16" y="3099816"/>
            <a:ext cx="4453128" cy="27951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28216" y="5913206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histogram vs U(0,1)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903720" y="2971800"/>
            <a:ext cx="3042830" cy="3401568"/>
          </a:xfrm>
          <a:prstGeom prst="roundRect">
            <a:avLst>
              <a:gd name="adj" fmla="val 18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12" name="Image 2" descr="assets/pit diagonal t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3099816"/>
            <a:ext cx="2786798" cy="2834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31736" y="5952744"/>
            <a:ext cx="27867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vs theoretical CDF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DISTRIBUTION FITTING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result: a full forecasted density, every 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520440" y="1417320"/>
            <a:ext cx="4330374" cy="4572000"/>
          </a:xfrm>
          <a:prstGeom prst="roundRect">
            <a:avLst>
              <a:gd name="adj" fmla="val 12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7" name="Image 0" descr="assets/in sample predicted distribution at 5 step ahea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456" y="1545336"/>
            <a:ext cx="4074342" cy="40050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48456" y="5568696"/>
            <a:ext cx="40743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years of daily conditional densities for Brent returns at h = 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6053328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 fatten under stress and tighten in calm regimes — this surface is what every metric that follows is read from.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RISK METRICS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risk off the density: VaR, ES, skewness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3529584" cy="4114800"/>
          </a:xfrm>
          <a:prstGeom prst="roundRect">
            <a:avLst>
              <a:gd name="adj" fmla="val 1813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7335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Value-at-Risk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8096" y="2130552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α-quantile of the fitted JSU, computed for both tails — they need not move together. Already an h-day VaR: no √t scaling.</a:t>
            </a:r>
            <a:endParaRPr lang="en-US" sz="1600" dirty="0"/>
          </a:p>
        </p:txBody>
      </p:sp>
      <p:pic>
        <p:nvPicPr>
          <p:cNvPr id="9" name="Image 0" descr="assets/eq_v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4572000"/>
            <a:ext cx="3127248" cy="42537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15968" y="1508760"/>
            <a:ext cx="3529584" cy="4114800"/>
          </a:xfrm>
          <a:prstGeom prst="roundRect">
            <a:avLst>
              <a:gd name="adj" fmla="val 1813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17136" y="167335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Shortfall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17136" y="2130552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loss beyond VaR — coherent (sub-additive) and the Basel III FRTB standard; quoted at 97.5% confidence.</a:t>
            </a:r>
            <a:endParaRPr lang="en-US" sz="1600" dirty="0"/>
          </a:p>
        </p:txBody>
      </p:sp>
      <p:pic>
        <p:nvPicPr>
          <p:cNvPr id="13" name="Image 1" descr="assets/eq_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4572000"/>
            <a:ext cx="3127248" cy="2118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65008" y="1508760"/>
            <a:ext cx="3529584" cy="4114800"/>
          </a:xfrm>
          <a:prstGeom prst="roundRect">
            <a:avLst>
              <a:gd name="adj" fmla="val 1813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66176" y="167335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Skewness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266176" y="2130552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Fisher skewness of the JSU: which way is the balance of risks tilted — supply-threat upside or demand-collapse downside?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Benchmarked against a rolling 1,000-day historical simulation: divergence means the model sees a shift that recent history has not yet absorbed.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RISK METRICS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metric: relative entropy (KL divergence)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Kullback &amp; Leibler (1951): how far a density has moved from a reference state — the whole shape, not a single point on it.</a:t>
            </a:r>
            <a:endParaRPr lang="en-US" sz="1600" dirty="0"/>
          </a:p>
        </p:txBody>
      </p:sp>
      <p:pic>
        <p:nvPicPr>
          <p:cNvPr id="7" name="Image 0" descr="assets/eq_k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5984" y="1965960"/>
            <a:ext cx="7329552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3246120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Computed over three regions of the distribution: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703320"/>
            <a:ext cx="3529584" cy="1874520"/>
          </a:xfrm>
          <a:prstGeom prst="roundRect">
            <a:avLst>
              <a:gd name="adj" fmla="val 3415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384048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divergence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8096" y="4224528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distribution: the aggregate shift of the forecast density away from the reference.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15968" y="3703320"/>
            <a:ext cx="3529584" cy="1874520"/>
          </a:xfrm>
          <a:prstGeom prst="roundRect">
            <a:avLst>
              <a:gd name="adj" fmla="val 3415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17136" y="384048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Right-tail divergence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17136" y="4224528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over the 0.90 – 0.99 quantile region: upside stress — supply threats and geopolitical escalation.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65008" y="3703320"/>
            <a:ext cx="3529584" cy="1874520"/>
          </a:xfrm>
          <a:prstGeom prst="roundRect">
            <a:avLst>
              <a:gd name="adj" fmla="val 3415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66176" y="384048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Left-tail divergence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66176" y="4224528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over the 0.01 – 0.10 quantile region: downside stress — demand collapses and risk-off episodes.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66928" y="576072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the tail intervals are a convention — a more robust approach would test which intervals yield the best results.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RISK METRICS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candidate reference states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5404104" cy="3840480"/>
          </a:xfrm>
          <a:prstGeom prst="roundRect">
            <a:avLst>
              <a:gd name="adj" fmla="val 166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783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unconditional density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224028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Johnson SU fitted by Maximum Likelihood to the historical returns in the rolling window: the market's long-run distribution, as the data describe 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42519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reads as: how far are current conditions from the historical norm?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90488" y="1600200"/>
            <a:ext cx="5404104" cy="3840480"/>
          </a:xfrm>
          <a:prstGeom prst="roundRect">
            <a:avLst>
              <a:gd name="adj" fmla="val 1667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783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Normal density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9944" y="224028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usually assumed to produce fan charts and density forecasts — and the JSU's own parent: the SU family collapses to the Gaussian in the limit.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9944" y="42519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reads as: how non-Gaussian — how fat-tailed and tilted — have the forecast densities become?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RISK METRICS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unconditional distribution looks like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21792" y="1600200"/>
            <a:ext cx="5081611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7" name="Image 0" descr="assets/historical fitted JSU through M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28216"/>
            <a:ext cx="4825579" cy="3182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4928616"/>
            <a:ext cx="4825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unconditional JSU, fitted by MLE: heavy-tailed, near-symmetric centre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1600200"/>
            <a:ext cx="5345946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10" name="Image 1" descr="assets/skewn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728216"/>
            <a:ext cx="5089914" cy="31821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63056" y="4928616"/>
            <a:ext cx="5089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skewness of the unconditional JSU: negative and drifting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463040" y="59436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unconditional fit is strongly heavy-tailed — and its skewness is not constant: it drifts with the market regime.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RISK METRICS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verdict: use the Normal as baseline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11027664" cy="1389888"/>
          </a:xfrm>
          <a:prstGeom prst="roundRect">
            <a:avLst>
              <a:gd name="adj" fmla="val 4605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75688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72821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natural baseline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112264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Johnson SU nests the Normal, and the Normal is the distribution usually assumed when producing fan charts and density forecasts — a natural reference state.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127248"/>
            <a:ext cx="11027664" cy="1389888"/>
          </a:xfrm>
          <a:prstGeom prst="roundRect">
            <a:avLst>
              <a:gd name="adj" fmla="val 4605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602736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255264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unconditional density embeds risk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639312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absorbs skewness and heavy tails — which are risks in themselves — so measuring divergence against it may understate the risk metrics.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654296"/>
            <a:ext cx="11027664" cy="1389888"/>
          </a:xfrm>
          <a:prstGeom prst="roundRect">
            <a:avLst>
              <a:gd name="adj" fmla="val 4605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12978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11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782312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divergence from the Normal reads cleanly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5166360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fattening and tilt — exactly the risks a vulnerability metric should detect, not absorb into its reference.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EARLY WARNING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entropy predict? The hypothesis and the tests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11027664" cy="1371600"/>
          </a:xfrm>
          <a:prstGeom prst="roundRect">
            <a:avLst>
              <a:gd name="adj" fmla="val 5333"/>
            </a:avLst>
          </a:prstGeom>
          <a:solidFill>
            <a:srgbClr val="14304D"/>
          </a:solidFill>
          <a:ln/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27632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spc="20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  </a:t>
            </a:r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entropy, computed from the forecasted distribution, carries predictive power over oil prices. Since we forecast five days ahead, we should expect at least five days of lead.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200400"/>
            <a:ext cx="5404104" cy="2651760"/>
          </a:xfrm>
          <a:prstGeom prst="roundRect">
            <a:avLst>
              <a:gd name="adj" fmla="val 2414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33832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1 · Cross-Correlation Function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3840480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between returns and the entropy — first-differenced to make it stationary. If the entropy warns early, it should correlate more with future returns than with the past or the present.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0488" y="3200400"/>
            <a:ext cx="5404104" cy="2651760"/>
          </a:xfrm>
          <a:prstGeom prst="roundRect">
            <a:avLst>
              <a:gd name="adj" fmla="val 2414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33832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2 · Granger causality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9944" y="3840480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opinion: does the entropy help predict oil returns beyond what their own history already provides? Nested F-test, lag order selected by AIC.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EARLY WARNING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the entropy leads Brent returns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5259072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7" name="Image 0" descr="assets/c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36776"/>
            <a:ext cx="5003040" cy="35478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5202936"/>
            <a:ext cx="500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CCF: all peaks at strictly positive lags</a:t>
            </a:r>
            <a:endParaRPr lang="en-US" sz="1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0020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914400"/>
                <a:gridCol w="914400"/>
                <a:gridCol w="8229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CCF peak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at peak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Granger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25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Right-tail entropy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29.6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entropy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29.4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Left-tail entropy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92240" y="3977640"/>
            <a:ext cx="5120640" cy="960120"/>
          </a:xfrm>
          <a:prstGeom prst="roundRect">
            <a:avLst>
              <a:gd name="adj" fmla="val 6667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93408" y="4069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entropy leads Brent returns by 6 to 16 days, depending on the metric — all Granger-significant at the 1% level.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92240" y="507492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93408" y="5166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lead is expected — the entropy comes from a 5-step-ahead forecast. But the lead exceeds it: the forecast is truly forecasting.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CONCLUSIONS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1027664" cy="1389888"/>
          </a:xfrm>
          <a:prstGeom prst="roundRect">
            <a:avLst>
              <a:gd name="adj" fmla="val 4605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9968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68249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methodology travels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066544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measure the vulnerability of many indicators to different sources of risk — this thesis is one application, and within it many possibilities remain to be explored.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081528"/>
            <a:ext cx="11027664" cy="1389888"/>
          </a:xfrm>
          <a:prstGeom prst="roundRect">
            <a:avLst>
              <a:gd name="adj" fmla="val 4605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557016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38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209544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Forecast-based entropy carries predictive power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593592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computed from forecasted quantiles leads the target variable — with a lead longer than the forecast horizon — even in high-frequency, volatile markets.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608576"/>
            <a:ext cx="11027664" cy="1389888"/>
          </a:xfrm>
          <a:prstGeom prst="roundRect">
            <a:avLst>
              <a:gd name="adj" fmla="val 4605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08406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65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736592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scope is bounded by the regressors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5120640"/>
            <a:ext cx="9811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capture geopolitical and market risks, so the entropy reacts early to those — it may have no predictive power over other kinds of events. Other risk sources can be added to the specification.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" y="603504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short: exploiting high-frequency data, the framework can be pushed into an early warning system.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quantile forecast at the eve of the Iran war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423160" y="1463040"/>
            <a:ext cx="68929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7" name="Image 0" descr="assets/in sample direct forecasting - Iran Wars E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1176" y="1591056"/>
            <a:ext cx="6636948" cy="3959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51176" y="5568696"/>
            <a:ext cx="6636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Brent returns against the forecast quantile envelope around the escalation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6108192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corridor widens as the geopolitical regressors absorb the escalating threat — before the largest realised moves arrive.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 divergence vs Brent at the eve of the Ukraine war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194560" y="1600200"/>
            <a:ext cx="7772400" cy="4023360"/>
          </a:xfrm>
          <a:prstGeom prst="roundRect">
            <a:avLst>
              <a:gd name="adj" fmla="val 1818"/>
            </a:avLst>
          </a:prstGeom>
          <a:solidFill>
            <a:srgbClr val="FAFBFC"/>
          </a:solidFill>
          <a:ln w="19050">
            <a:solidFill>
              <a:srgbClr val="C2561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468880" y="265176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Plot pending ]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against Brent prices, zoomed on the eve of the Ukraine war (early 2022)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exported figure here when ready — results/plots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594360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entropy spikes ahead of the price break — the early-warning signal at work in a second, independent episode.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SOFTWARE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Python module: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14304D"/>
          </a:solidFill>
          <a:ln/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568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preprocessing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4505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alignment, returns, MA construction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42232" y="22128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14304D"/>
          </a:solidFill>
          <a:ln/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9568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quantile engine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4505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CAViaR-augmented specifications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36992" y="22128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66760" y="182880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14304D"/>
          </a:solidFill>
          <a:ln/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0" y="19568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forecasting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24505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windows, horizon grid, recursive OOS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14304D"/>
          </a:solidFill>
          <a:ln/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6941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1879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 SU fitting by MDE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42232" y="3950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0" y="356616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14304D"/>
          </a:solidFill>
          <a:ln/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36941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metrics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9160" y="41879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· ES · skewness · KL divergence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36992" y="3950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366760" y="356616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C2561F"/>
          </a:solidFill>
          <a:ln/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03920" y="36941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03920" y="41879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Kupiec · DM · PIT · DQ · fallout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2412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66928" y="52120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modules, one pipeline: each step consumes the previous step's output — and each can be swapped without touching the rest.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SOFTWARE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source, ready to replicate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7040880" cy="4480560"/>
          </a:xfrm>
          <a:prstGeom prst="roundRect">
            <a:avLst>
              <a:gd name="adj" fmla="val 1429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6537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ready-to-use tools existed for this pipeline — so most were designed from scratch for this thesis.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Notebook-driven analysis on top of a tested package core (unit tests included).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and table in the thesis is reproducible from the repository.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Modular: swap the distribution family, the regressors, or the horizon grid without touching the evaluation layer.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replication — and for extending the framework to other research.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55280" y="150876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14304D"/>
          </a:solidFill>
          <a:ln/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9" name="Image 0" descr="assets/qr_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874520"/>
            <a:ext cx="2286000" cy="2286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3816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github.com/Alejandro-bot-one/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13816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Oil-at-Risk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3816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visit the repository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11027664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21408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72821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predictive to causal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112264"/>
            <a:ext cx="9811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some changes the framework can take a causal orientation — generalised quantile regression (Powell, 2020) or quantile local projections (Wojciechowski, 2025). A completely different thesis, deserving its own research.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218688"/>
            <a:ext cx="11027664" cy="1481328"/>
          </a:xfrm>
          <a:prstGeom prst="roundRect">
            <a:avLst>
              <a:gd name="adj" fmla="val 4321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39896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21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346704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specifications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730752"/>
            <a:ext cx="9811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many configurations to try. The CAViaR models remain to be explored at shorter horizons — they may not forecast better, yet still yield a better early warning system.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837176"/>
            <a:ext cx="11027664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35838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40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965192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of arbitrary decisions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5349240"/>
            <a:ext cx="9811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such as the tail-entropy intervals or the 7-day moving-average window can be calibrated to obtain even better results.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304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606040"/>
            <a:ext cx="3291840" cy="1028700"/>
          </a:xfrm>
          <a:prstGeom prst="line">
            <a:avLst/>
          </a:prstGeom>
          <a:noFill/>
          <a:ln w="12700">
            <a:solidFill>
              <a:srgbClr val="3A5A7C">
                <a:alpha val="55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40080" y="2958084"/>
            <a:ext cx="3291840" cy="651510"/>
          </a:xfrm>
          <a:prstGeom prst="line">
            <a:avLst/>
          </a:prstGeom>
          <a:noFill/>
          <a:ln w="12700">
            <a:solidFill>
              <a:srgbClr val="3A5A7C">
                <a:alpha val="55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3278124"/>
            <a:ext cx="3291840" cy="308610"/>
          </a:xfrm>
          <a:prstGeom prst="line">
            <a:avLst/>
          </a:prstGeom>
          <a:noFill/>
          <a:ln w="12700">
            <a:solidFill>
              <a:srgbClr val="3A5A7C">
                <a:alpha val="55000"/>
              </a:srgbClr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0080" y="3566160"/>
            <a:ext cx="3291840" cy="0"/>
          </a:xfrm>
          <a:prstGeom prst="line">
            <a:avLst/>
          </a:prstGeom>
          <a:noFill/>
          <a:ln w="25400">
            <a:solidFill>
              <a:srgbClr val="F5F0E8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854196"/>
            <a:ext cx="3291840" cy="-308610"/>
          </a:xfrm>
          <a:prstGeom prst="line">
            <a:avLst/>
          </a:prstGeom>
          <a:noFill/>
          <a:ln w="12700">
            <a:solidFill>
              <a:srgbClr val="3A5A7C">
                <a:alpha val="55000"/>
              </a:srgbClr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" y="4174236"/>
            <a:ext cx="3291840" cy="-651510"/>
          </a:xfrm>
          <a:prstGeom prst="line">
            <a:avLst/>
          </a:prstGeom>
          <a:noFill/>
          <a:ln w="12700">
            <a:solidFill>
              <a:srgbClr val="3A5A7C">
                <a:alpha val="55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4526280"/>
            <a:ext cx="3291840" cy="-1028700"/>
          </a:xfrm>
          <a:prstGeom prst="line">
            <a:avLst/>
          </a:prstGeom>
          <a:noFill/>
          <a:ln w="12700">
            <a:solidFill>
              <a:srgbClr val="3A5A7C">
                <a:alpha val="55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66928" y="1234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 · MASTER THESIS DEFENSE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737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566928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advice is more than welcome — and I will be really glad to hear your questions.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" y="4892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Alejandro Rodríguez Garrido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Autónoma de Madrid · MSc in Quantitative Economic Analysis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github.com/Alejandro-bot-one/Oil-at-Risk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slides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MA-7 window · collinearity · QR optimisation, hypotheses &amp; diagnostics · causality · iteration &amp; horizons · thresholds and ROC · breach-model disclaimer · Kupiec · DQ · entropy internals — followed by the math annex with every test statistic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THE MA-7 WINDOW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7-day moving average, in detail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1027664" cy="1188720"/>
          </a:xfrm>
          <a:prstGeom prst="roundRect">
            <a:avLst>
              <a:gd name="adj" fmla="val 5385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938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11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68249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goals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066544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the raw daily indicator, and capture the time structure of risk transmission through the news cycle — stress builds over days, not in one session.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2880360"/>
            <a:ext cx="11027664" cy="1325880"/>
          </a:xfrm>
          <a:prstGeom prst="roundRect">
            <a:avLst>
              <a:gd name="adj" fmla="val 4828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2384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055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00837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window trade-off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392424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enough to smooth the indicator; short enough not to induce excessive autocorrelation — we do not want to carry too much memory into the future in such a volatile index.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343400"/>
            <a:ext cx="11027664" cy="1463040"/>
          </a:xfrm>
          <a:prstGeom prst="roundRect">
            <a:avLst>
              <a:gd name="adj" fmla="val 4375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85546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37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47141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length was chosen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4855464"/>
            <a:ext cx="9811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windows were assessed through the loss function at the operative horizon, giving an interval of near-optimal lengths. Among them, we chose the one matching a natural trading week — 7 calendar days ≈ 5 trading days.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COLLINEARITY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matrix of the regressors</a:t>
            </a:r>
            <a:endParaRPr lang="en-US" sz="26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73736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USDI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BDI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Brent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USDI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BDI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Brent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194560" y="4846320"/>
            <a:ext cx="7772400" cy="1097280"/>
          </a:xfrm>
          <a:prstGeom prst="roundRect">
            <a:avLst>
              <a:gd name="adj" fmla="val 5833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23160" y="4983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pairwise correlations among the regressors are below 0.02 in absolute value — no evidence of problematic multicollinearity in the retained set.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QR OPTIMISATION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quantile regression is solved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1027664" cy="1325880"/>
          </a:xfrm>
          <a:prstGeom prst="roundRect">
            <a:avLst>
              <a:gd name="adj" fmla="val 4828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9796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796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68249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066544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function has a non-differentiable corner at zero: standard first-order conditions do not apply, so the optimisation becomes a Linear Programming problem.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017520"/>
            <a:ext cx="11027664" cy="1417320"/>
          </a:xfrm>
          <a:prstGeom prst="roundRect">
            <a:avLst>
              <a:gd name="adj" fmla="val 4516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50672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884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14553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529584"/>
            <a:ext cx="9811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residual is split into two non-negative buckets, u⁺ (under-prediction) and u⁻ (over-prediction), with u = u⁺ − u⁻. The objective becomes min Σ [τ·u⁺ + (1−τ)·u⁻] subject to x′β + u⁺ − u⁻ = 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572000"/>
            <a:ext cx="11027664" cy="1325880"/>
          </a:xfrm>
          <a:prstGeom prst="roundRect">
            <a:avLst>
              <a:gd name="adj" fmla="val 4828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01548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971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70001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algorithms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5084064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Barrodale–Roberts modified simplex for smaller datasets — searching along the geometric edges of the data — or Frisch–Newton interior-point methods for large ones.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ESTIMATES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estimated coefficients, in full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6080" y="1417320"/>
            <a:ext cx="5995708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7" name="Image 0" descr="assets/insaple_spec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4096" y="1545336"/>
            <a:ext cx="5739676" cy="42793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54096" y="5843016"/>
            <a:ext cx="5739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paths across all quantiles, with significance marks and the OLS benchmark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HYPOTHESES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estimator requires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1027664" cy="1051560"/>
          </a:xfrm>
          <a:prstGeom prst="roundRect">
            <a:avLst>
              <a:gd name="adj" fmla="val 608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6080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425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68249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Linearity of conditional quantiles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066544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Q_τ(Y | X) = X′β(τ): each targeted quantile is a linear function of the regressors.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2743200"/>
            <a:ext cx="11027664" cy="1051560"/>
          </a:xfrm>
          <a:prstGeom prst="roundRect">
            <a:avLst>
              <a:gd name="adj" fmla="val 608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04952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312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287121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quantile exogeneity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255264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conditional τ-quantile of the error, given X, is zero: Q_τ(u | X) = 0.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3931920"/>
            <a:ext cx="11027664" cy="1051560"/>
          </a:xfrm>
          <a:prstGeom prst="roundRect">
            <a:avLst>
              <a:gd name="adj" fmla="val 608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23824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199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05993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perfect multicollinearity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4443984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E[XX′] finite, positive-definite and invertible — checked via the correlation matrix.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5120640"/>
            <a:ext cx="11027664" cy="1325880"/>
          </a:xfrm>
          <a:prstGeom prst="roundRect">
            <a:avLst>
              <a:gd name="adj" fmla="val 4828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56412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5458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81328" y="524865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density at the quantile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81328" y="5632704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density around the fitted quantile must be strictly positive: precision depends on how dense the data are near the quantile — tails are estimated with more noise.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DIAGNOSTICS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Quantile-regression diagnostic battery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70078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Koenker–Machado R¹(τ)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066544"/>
            <a:ext cx="5038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Pseudo-R² as the proportional reduction in check loss vs the intercept-only model (the unconditional quantile). Explanatory power concentrates in the tails — expected: the median return carries no directional signal.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55448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70078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Wald slope-equality test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37376" y="2066544"/>
            <a:ext cx="5038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identical slopes across all τ — under it, QR collapses to a shifted OLS. Rejected. Covariance of the stacked system estimated by moving-block bootstrap to preserve serial dependence.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88620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403250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QAR unit-root test (Koenker &amp; Xiao)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68096" y="4398264"/>
            <a:ext cx="5038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Quantile-specific stationarity: H₀ of a unit root rejected at every targeted τ — Brent returns mean-revert throughout the conditional distribution. Simulated critical values.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388620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403250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Quantile crossing inspection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37376" y="4398264"/>
            <a:ext cx="5038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Monotonicity of the fitted quantile function in τ checked at every observation: no crossings detected — a necessary condition for a valid conditional distribution.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CAUSALITY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 causal conclusions from this regression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1027664" cy="1325880"/>
          </a:xfrm>
          <a:prstGeom prst="roundRect">
            <a:avLst>
              <a:gd name="adj" fmla="val 4828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9796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796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68249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Quantile regression measures conditional association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066544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β₁(τ) describes how quantiles co-move with GPR given the controls — it does not identify what would happen to Brent if GPR were exogenously moved.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017520"/>
            <a:ext cx="11027664" cy="1325880"/>
          </a:xfrm>
          <a:prstGeom prst="roundRect">
            <a:avLst>
              <a:gd name="adj" fmla="val 4828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46100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427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14553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regressor is not exogenous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529584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 is built from news coverage, and newspapers react to markets and to the same world events that move oil: reverse causality and common drivers are plausible.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27664" cy="1417320"/>
          </a:xfrm>
          <a:prstGeom prst="roundRect">
            <a:avLst>
              <a:gd name="adj" fmla="val 4516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976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514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60857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identification would take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4992624"/>
            <a:ext cx="9811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QR with valid identification techniques — instrumental-variable quantile regression (Chernozhukov &amp; Hansen) or high-frequency instruments for geopolitical shocks.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DIRECT FORECASTING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quantiles cannot be iterated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1027664" cy="1371600"/>
          </a:xfrm>
          <a:prstGeom prst="roundRect">
            <a:avLst>
              <a:gd name="adj" fmla="val 466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02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68249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Means iterate; quantiles do not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066544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conditional mean obeys the law of iterated expectations: E[Y(t+2)|t] = E[E[Y(t+2)|t+1]|t], so one-step models can be chained forward. No analogous law exists for quantiles.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063240"/>
            <a:ext cx="11027664" cy="1371600"/>
          </a:xfrm>
          <a:prstGeom prst="roundRect">
            <a:avLst>
              <a:gd name="adj" fmla="val 466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52958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19125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quantile of a composition is not the composition of quantiles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575304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τ-quantile of Y(t+h) given today is not reachable by feeding the one-step τ-quantile into itself h times — quantiles are not linear operators, and each chaining step distorts the target probability.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572000"/>
            <a:ext cx="11027664" cy="1371600"/>
          </a:xfrm>
          <a:prstGeom prst="roundRect">
            <a:avLst>
              <a:gd name="adj" fmla="val 4667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03834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20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70001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Hence direct forecasting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5084064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regression per horizon pairs today's information directly with the value realised h days ahead — targeting the h-step quantile without composition bias.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HORIZON SELECTION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more rigorous horizon selection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1027664" cy="1371600"/>
          </a:xfrm>
          <a:prstGeom prst="roundRect">
            <a:avLst>
              <a:gd name="adj" fmla="val 466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02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68249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growth in direct forecasting is different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066544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nothing is iterated, the variance is not recursively compounded over time as in traditional time-series models. The error grows instead because information decays: today's covariates say less and less about returns further away.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063240"/>
            <a:ext cx="11027664" cy="1371600"/>
          </a:xfrm>
          <a:prstGeom prst="roundRect">
            <a:avLst>
              <a:gd name="adj" fmla="val 466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52958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19125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rigorous criterion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575304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horizon at which the dynamics between the regressors and the dependent variable are best captured — the loss-minimising h, per model and per quantile.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572000"/>
            <a:ext cx="11027664" cy="1371600"/>
          </a:xfrm>
          <a:prstGeom prst="roundRect">
            <a:avLst>
              <a:gd name="adj" fmla="val 4667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03834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20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70001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that grid shows here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5084064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Loss-minimising horizons scatter between h = 2 and h = 20 across models and quantiles: no single h dominates, which is why the transparent trading-week convention was retained.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THRESHOLDS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0.95 boundary — and how it should be chosen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1027664" cy="1188720"/>
          </a:xfrm>
          <a:prstGeom prst="roundRect">
            <a:avLst>
              <a:gd name="adj" fmla="val 5385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938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11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68249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admission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066544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0.95 mark defining the breach boundary was chosen arbitrarily, as a conventional tail marker.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2880360"/>
            <a:ext cx="11027664" cy="1463040"/>
          </a:xfrm>
          <a:prstGeom prst="roundRect">
            <a:avLst>
              <a:gd name="adj" fmla="val 4375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9242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00837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threshold is a trade-off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392424"/>
            <a:ext cx="9811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boundary and breaches fire earlier and more often — more sensitivity, more false alarms. Raise it and alarms become rare but late — fewer false triggers, more missed events. Every threshold buys one error type with the other.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27664" cy="1463040"/>
          </a:xfrm>
          <a:prstGeom prst="roundRect">
            <a:avLst>
              <a:gd name="adj" fmla="val 4375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9262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74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60857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rigorous approach: ROC analysis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4992624"/>
            <a:ext cx="9811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the threshold, plot the true-positive rate against the false-positive rate (ROC curve), summarise discrimination with the AUC, and pick the operating point matching the user's cost of a missed crisis versus a false alarm.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BREACH MODELS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would the breach models win?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27664" cy="1463040"/>
          </a:xfrm>
          <a:prstGeom prst="roundRect">
            <a:avLst>
              <a:gd name="adj" fmla="val 4375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57984"/>
            <a:ext cx="438912" cy="438912"/>
          </a:xfrm>
          <a:prstGeom prst="ellipse">
            <a:avLst/>
          </a:prstGeom>
          <a:solidFill>
            <a:srgbClr val="14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39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77393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breach signal is short-lived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157984"/>
            <a:ext cx="9811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violation today says a lot about tomorrow and little about three weeks ahead: tail stress clusters at short range, so the information content of a breach decays quickly with the horizon.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246120"/>
            <a:ext cx="11027664" cy="1463040"/>
          </a:xfrm>
          <a:prstGeom prst="roundRect">
            <a:avLst>
              <a:gd name="adj" fmla="val 4375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58184"/>
            <a:ext cx="438912" cy="438912"/>
          </a:xfrm>
          <a:prstGeom prst="ellipse">
            <a:avLst/>
          </a:prstGeom>
          <a:solidFill>
            <a:srgbClr val="C2561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39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337413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augmentations shine at short horizons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3758184"/>
            <a:ext cx="9811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 = 5 the signal has already gone stale — which is what the Diebold–Mariano tie shows. At shorter horizons (h = 1–3) the breach regressors carry their sharpest information and may significantly improve predictive power.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COVERAGE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Kupiec coverage test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τ-quantile forecast promises breaches at rate 1−τ. Kupiec (1995) tests whether the realised breach frequency matches that promise:</a:t>
            </a:r>
            <a:endParaRPr lang="en-US" sz="1350" dirty="0"/>
          </a:p>
        </p:txBody>
      </p:sp>
      <p:pic>
        <p:nvPicPr>
          <p:cNvPr id="7" name="Image 0" descr="assets/eq_kupi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5506" y="2011680"/>
            <a:ext cx="7330507" cy="822960"/>
          </a:xfrm>
          <a:prstGeom prst="rect">
            <a:avLst/>
          </a:prstGeom>
        </p:spPr>
      </p:pic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108960"/>
          <a:ext cx="5852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1887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(p-value)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QReg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2.189 (0.139)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CAViaR-indicator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1.437 (0.231)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CAViaR-severity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2.471 (0.116)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12280" y="2880360"/>
            <a:ext cx="4800600" cy="3080557"/>
          </a:xfrm>
          <a:prstGeom prst="roundRect">
            <a:avLst>
              <a:gd name="adj" fmla="val 17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10" name="Image 1" descr="assets/kupiec and christofen coverage test - main mod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296" y="3008376"/>
            <a:ext cx="4544568" cy="25136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0296" y="5540293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convergence, main model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66928" y="53035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unconditional coverage is tested: overlapping h-step forecasts make hits serially dependent, distorting independence-based tests but not the breach count.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MODEL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Loss-minimising horizons and the evidence summary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Loss-minimising horizon per model and quantile (h* → pinball loss)</a:t>
            </a:r>
            <a:endParaRPr lang="en-US" sz="13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5760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 = 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 = 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 = 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QReg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2 → 0.3017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4 → 0.9375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3 → 0.2856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CAViaR-indicator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9 → 0.2960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6 → 0.9742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7 → 0.2806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CAViaR-severity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20 → 0.3397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6 → 0.9573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16 → 0.3810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886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summary across the three models (τ = 0.95, h = 5)</a:t>
            </a:r>
            <a:endParaRPr lang="en-US" sz="1300" dirty="0"/>
          </a:p>
        </p:txBody>
      </p:sp>
      <p:graphicFrame>
        <p:nvGraphicFramePr>
          <p:cNvPr id="1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51960"/>
          <a:ext cx="5760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CAViaR-i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CAViaR-s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Pinball / generalisation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Fallout audit (inside tunnel)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Kupiec PoF (p-value)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(0.139)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(0.231)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(0.116)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Diebold–Mariano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812280" y="1691640"/>
            <a:ext cx="4800600" cy="2448229"/>
          </a:xfrm>
          <a:prstGeom prst="roundRect">
            <a:avLst>
              <a:gd name="adj" fmla="val 224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11" name="Image 0" descr="assets/forecasted scat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0296" y="1819656"/>
            <a:ext cx="4544568" cy="18813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40296" y="3719245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returns vs the forecast quantile envelope, out-of-sample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DYNAMIC QUANTILE TEST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DQ test — and why CAViaR passes it by construction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the hit sequence; correct dynamic specification demands breaches be unpredictable from anything known yesterday (martingale difference):</a:t>
            </a:r>
            <a:endParaRPr lang="en-US" sz="1250" dirty="0"/>
          </a:p>
        </p:txBody>
      </p:sp>
      <p:pic>
        <p:nvPicPr>
          <p:cNvPr id="7" name="Image 0" descr="assets/eq_h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704" y="1965960"/>
            <a:ext cx="9392111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69748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hits on a constant, L lagged hits and the lagged fitted quantile; test joint significance:</a:t>
            </a:r>
            <a:endParaRPr lang="en-US" sz="1250" dirty="0"/>
          </a:p>
        </p:txBody>
      </p:sp>
      <p:pic>
        <p:nvPicPr>
          <p:cNvPr id="9" name="Image 1" descr="assets/eq_d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558" y="3108960"/>
            <a:ext cx="5224405" cy="777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6928" y="4251960"/>
            <a:ext cx="11027664" cy="1691640"/>
          </a:xfrm>
          <a:prstGeom prst="roundRect">
            <a:avLst>
              <a:gd name="adj" fmla="val 3784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4434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= the violation process is still predictable — the model is caught off guard by clustered tail events.  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CAViaR augmentations feed the model's own lagged breach information back into the forecast: they internalise precisely the lagged-hit dependence the DQ statistic interrogates, so they pass the test by construction.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ENTROPY INTERNALS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coherence and the unconditional benchmark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Pairwise CCF among the entropy components</a:t>
            </a:r>
            <a:endParaRPr lang="en-US" sz="13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822960"/>
                <a:gridCol w="128016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at h*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374904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39319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tails are uncorrelated (r = −0.036, n.s.). </a:t>
            </a:r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supply-disruption shock fattens the right tail without touching the left; a demand contraction does the reverse. The tail components carry largely independent information — monitoring both separately gives a richer warning profile than the aggregate alone.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446520" y="1554480"/>
            <a:ext cx="5166360" cy="3699074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2700000">
              <a:srgbClr val="1F2937">
                <a:alpha val="14000"/>
              </a:srgbClr>
            </a:outerShdw>
          </a:effectLst>
        </p:spPr>
      </p:sp>
      <p:pic>
        <p:nvPicPr>
          <p:cNvPr id="11" name="Image 0" descr="assets/rolling entropy vs unconditional 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36" y="1682496"/>
            <a:ext cx="4910328" cy="313214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74536" y="4832930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vs the unconditional JSU (MLE): high divergence = genuine conditional shift, not mere non-normality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annex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statistic used in the thesis, ordered by pipeline stage: in-sample diagnostics · forecast evaluation · density evaluation · risk metrics · early-warning tests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ANNEX · IN-SAMPLE DIAGNOSTICS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Goodness of fit, slope equality, stationarity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Koenker–Machado R¹(τ) — proportional reduction in check loss vs the intercept-only model (the unconditional quantile)</a:t>
            </a:r>
            <a:endParaRPr lang="en-US" sz="1400" dirty="0"/>
          </a:p>
        </p:txBody>
      </p:sp>
      <p:pic>
        <p:nvPicPr>
          <p:cNvPr id="7" name="Image 0" descr="assets/eq_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591" y="1792224"/>
            <a:ext cx="2706338" cy="960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98094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Wald test for slope equality across quantiles — H₀: identical slopes for every τ (moving-block bootstrap covariance)</a:t>
            </a:r>
            <a:endParaRPr lang="en-US" sz="1400" dirty="0"/>
          </a:p>
        </p:txBody>
      </p:sp>
      <p:pic>
        <p:nvPicPr>
          <p:cNvPr id="9" name="Image 1" descr="assets/eq_w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589" y="3310128"/>
            <a:ext cx="5732342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4087368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QAR unit-root test (Koenker &amp; Xiao) — H₀: quantile-specific unit root; simulated critical values</a:t>
            </a:r>
            <a:endParaRPr lang="en-US" sz="1400" dirty="0"/>
          </a:p>
        </p:txBody>
      </p:sp>
      <p:pic>
        <p:nvPicPr>
          <p:cNvPr id="11" name="Image 2" descr="assets/eq_q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289" y="4416552"/>
            <a:ext cx="5336943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ANNEX · FORECAST EVALUATION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Pinball loss, Diebold–Mariano, Kupiec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Pinball (tick) loss — the strictly proper scoring rule for quantile forecasts (Gneiting &amp; Raftery, 2007)</a:t>
            </a:r>
            <a:endParaRPr lang="en-US" sz="1400" dirty="0"/>
          </a:p>
        </p:txBody>
      </p:sp>
      <p:pic>
        <p:nvPicPr>
          <p:cNvPr id="7" name="Image 0" descr="assets/eq_pinb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0620" y="1792224"/>
            <a:ext cx="732028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542032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Diebold–Mariano — H₀: equal predictive accuracy; HAC variance with bandwidth h−1 for the MA(h−1) overlap</a:t>
            </a:r>
            <a:endParaRPr lang="en-US" sz="1400" dirty="0"/>
          </a:p>
        </p:txBody>
      </p:sp>
      <p:pic>
        <p:nvPicPr>
          <p:cNvPr id="9" name="Image 1" descr="assets/eq_d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927" y="2871216"/>
            <a:ext cx="7219666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384962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Kupiec proportion-of-failures — H₀: the breach frequency matches the nominal rate</a:t>
            </a:r>
            <a:endParaRPr lang="en-US" sz="1400" dirty="0"/>
          </a:p>
        </p:txBody>
      </p:sp>
      <p:pic>
        <p:nvPicPr>
          <p:cNvPr id="11" name="Image 2" descr="assets/eq_kupie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132" y="4178808"/>
            <a:ext cx="6923257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ANNEX · DENSITY EVALUATION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 uniformity and the KS statistic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Integral Transform — Uniform(0,1) under a correctly specified forecast density (Diebold, Gunther &amp; Tay, 1998)</a:t>
            </a:r>
            <a:endParaRPr lang="en-US" sz="1400" dirty="0"/>
          </a:p>
        </p:txBody>
      </p:sp>
      <p:pic>
        <p:nvPicPr>
          <p:cNvPr id="7" name="Image 0" descr="assets/eq_p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659" y="1883664"/>
            <a:ext cx="8478203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75234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Kolmogorov–Smirnov — supremum deviation of the empirical PIT CDF from the uniform</a:t>
            </a:r>
            <a:endParaRPr lang="en-US" sz="1400" dirty="0"/>
          </a:p>
        </p:txBody>
      </p:sp>
      <p:pic>
        <p:nvPicPr>
          <p:cNvPr id="9" name="Image 1" descr="assets/eq_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079" y="3081528"/>
            <a:ext cx="2571362" cy="548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6928" y="4087368"/>
            <a:ext cx="11027664" cy="1371600"/>
          </a:xfrm>
          <a:prstGeom prst="roundRect">
            <a:avLst>
              <a:gd name="adj" fmla="val 4667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4224528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departures: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PITs piling near 0 → left tail too thin (Expected Shortfall understated); piling near 1 → right tail too thin; a hump in the centre → forecast densities too wide. The evaluation spans every fitted density in the out-of-sample window simultaneously.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ANNEX · RISK METRICS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forms read from the fitted JSU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VaR — the closed-form JSU quantile at confidence α</a:t>
            </a:r>
            <a:endParaRPr lang="en-US" sz="1400" dirty="0"/>
          </a:p>
        </p:txBody>
      </p:sp>
      <p:pic>
        <p:nvPicPr>
          <p:cNvPr id="7" name="Image 0" descr="assets/eq_v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712" y="1792224"/>
            <a:ext cx="5714096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816352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Shortfall — the conditional mean beyond the VaR threshold (numerical integration, 5,000-point grid)</a:t>
            </a:r>
            <a:endParaRPr lang="en-US" sz="1400" dirty="0"/>
          </a:p>
        </p:txBody>
      </p:sp>
      <p:pic>
        <p:nvPicPr>
          <p:cNvPr id="9" name="Image 1" descr="assets/eq_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133" y="3145536"/>
            <a:ext cx="7425255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389534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Tail-decomposed KL divergence — split at the tail mark q̄</a:t>
            </a:r>
            <a:endParaRPr lang="en-US" sz="1400" dirty="0"/>
          </a:p>
        </p:txBody>
      </p:sp>
      <p:pic>
        <p:nvPicPr>
          <p:cNvPr id="11" name="Image 2" descr="assets/eq_kl_tai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788" y="4224528"/>
            <a:ext cx="6251944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ANNEX · EARLY WARNING TESTS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CCF and the Granger causality test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Cross-correlation function — h* &gt; 0 means the indicator leads the target; Bartlett band under the iid null</a:t>
            </a:r>
            <a:endParaRPr lang="en-US" sz="1400" dirty="0"/>
          </a:p>
        </p:txBody>
      </p:sp>
      <p:pic>
        <p:nvPicPr>
          <p:cNvPr id="7" name="Image 0" descr="assets/eq_c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3959" y="1792224"/>
            <a:ext cx="8113602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61518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Granger causality — unrestricted model and null hypothesis; F-test on the nested comparison, lags by AIC (ceiling 30)</a:t>
            </a:r>
            <a:endParaRPr lang="en-US" sz="1400" dirty="0"/>
          </a:p>
        </p:txBody>
      </p:sp>
      <p:pic>
        <p:nvPicPr>
          <p:cNvPr id="9" name="Image 1" descr="assets/eq_gra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432" y="2944368"/>
            <a:ext cx="8158655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6928" y="4270248"/>
            <a:ext cx="11027664" cy="1463040"/>
          </a:xfrm>
          <a:prstGeom prst="roundRect">
            <a:avLst>
              <a:gd name="adj" fmla="val 4375"/>
            </a:avLst>
          </a:prstGeom>
          <a:solidFill>
            <a:srgbClr val="FBEFE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4407408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F-statistic: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[(RSS_r − RSS_ur)/p] / [RSS_ur/(T − 2p − 1)]  ~  F(p, T − 2p − 1) under H₀. Rejection means the entropy lags carry information beyond the returns' own autoregressive structure — forecasting-sense causality, not structural causation.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Oil-at-Risk</a:t>
            </a:r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J. A. Rodríguez Garrido — UAM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ANNEX · DYNAMIC QUANTILE TEST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DQ test of Engle &amp; Manganelli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Centred hit sequence — mean zero under correct specification; H₀: hits are a martingale difference</a:t>
            </a:r>
            <a:endParaRPr lang="en-US" sz="1400" dirty="0"/>
          </a:p>
        </p:txBody>
      </p:sp>
      <p:pic>
        <p:nvPicPr>
          <p:cNvPr id="7" name="Image 0" descr="assets/eq_h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704" y="1883664"/>
            <a:ext cx="9392111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75234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 statistic — Wald form of the projection of hits on a constant, L lagged hits and the lagged fitted quantile</a:t>
            </a:r>
            <a:endParaRPr lang="en-US" sz="1400" dirty="0"/>
          </a:p>
        </p:txBody>
      </p:sp>
      <p:pic>
        <p:nvPicPr>
          <p:cNvPr id="9" name="Image 1" descr="assets/eq_d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558" y="3081528"/>
            <a:ext cx="5224405" cy="777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6928" y="4315968"/>
            <a:ext cx="11027664" cy="1234440"/>
          </a:xfrm>
          <a:prstGeom prst="roundRect">
            <a:avLst>
              <a:gd name="adj" fmla="val 5185"/>
            </a:avLst>
          </a:prstGeom>
          <a:solidFill>
            <a:srgbClr val="F4F7FA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445312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this thesis: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DQ statistic names the dependence the CAViaR augmentations feed back into the model — they internalise the lagged-hit information the test interrogates, so they pass it by construction. It motivates the augmentation; it is not evidence of superiority.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Oil-at-Risk: A Framework for Studying Oil Price Vulnerabilities</dc:title>
  <dc:subject>PptxGenJS Presentation</dc:subject>
  <dc:creator>J. Alejandro Rodriguez Garrido</dc:creator>
  <cp:lastModifiedBy>J. Alejandro Rodriguez Garrido</cp:lastModifiedBy>
  <cp:revision>1</cp:revision>
  <dcterms:created xsi:type="dcterms:W3CDTF">2026-07-06T17:15:30Z</dcterms:created>
  <dcterms:modified xsi:type="dcterms:W3CDTF">2026-07-06T17:15:30Z</dcterms:modified>
</cp:coreProperties>
</file>