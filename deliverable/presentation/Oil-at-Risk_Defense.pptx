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77" roundtripDataSignature="AMtx7mhsNbSMeQRngONGcULnRdisnOXb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585064E-28E5-438A-B72F-EB41A304CEDD}">
  <a:tblStyle styleId="{0585064E-28E5-438A-B72F-EB41A304CED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slide" Target="slides/slide70.xml"/><Relationship Id="rId30" Type="http://schemas.openxmlformats.org/officeDocument/2006/relationships/slide" Target="slides/slide25.xml"/><Relationship Id="rId74" Type="http://schemas.openxmlformats.org/officeDocument/2006/relationships/slide" Target="slides/slide69.xml"/><Relationship Id="rId33" Type="http://schemas.openxmlformats.org/officeDocument/2006/relationships/slide" Target="slides/slide28.xml"/><Relationship Id="rId77" Type="http://customschemas.google.com/relationships/presentationmetadata" Target="metadata"/><Relationship Id="rId32" Type="http://schemas.openxmlformats.org/officeDocument/2006/relationships/slide" Target="slides/slide27.xml"/><Relationship Id="rId76" Type="http://schemas.openxmlformats.org/officeDocument/2006/relationships/slide" Target="slides/slide71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Hello, my name is Alejandro and I am going to present a framework for studying oil price vulnerabilities and exposure to geopolitical risk. Acknowledgement: many thanks to my professors in the master, especially my supervisors Diego Fresoli and Pilar Poncela for their continuous support in the development of this thesis.</a:t>
            </a:r>
            <a:endParaRPr/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study this? The exogeneity debate — Hamilton showed oil shocks Granger-caused downturns; Kilian and Barsky argued endogenous responses to global demand. Either way oil is essential for strategic sectors and a primary inflation driver, and the Middle East has put it back in the spotlight.</a:t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traditional frameworks fail: asymmetric responses (linear models understate downside risk) and the data itself — near-zero average daily returns, volatility clustering, influential outliers, heavy tails. Hence GaR adapted to daily oil prices. And beyond measurement: we show one vulnerability indicator carries predictive power over oil market shakes.</a:t>
            </a:r>
            <a:endParaRPr/>
          </a:p>
        </p:txBody>
      </p:sp>
      <p:sp>
        <p:nvSpPr>
          <p:cNvPr id="52" name="Google Shape;52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6" name="Google Shape;76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steps of the framework: a specification for the quantile regression; direct forecasting at horizon h; fit a parametric distribution to the discrete forecasts; compute vulnerability metrics; and test whether a selected risk metric predicts oil shocks.</a:t>
            </a:r>
            <a:endParaRPr/>
          </a:p>
        </p:txBody>
      </p:sp>
      <p:sp>
        <p:nvSpPr>
          <p:cNvPr id="77" name="Google Shape;77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the presentation as a whole: literature and where the thesis fits; the contribution; data and specification; then the pipeline — direct forecasting, distribution fitting, risk metrics, EWS diagnostics; conclusions and time for questions.</a:t>
            </a:r>
            <a:endParaRPr/>
          </a:p>
        </p:txBody>
      </p:sp>
      <p:sp>
        <p:nvSpPr>
          <p:cNvPr id="111" name="Google Shape;111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1" name="Google Shape;151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main research behind this thesis: Adrian, Boyarchenko &amp; Giannone 2019 — conditional distribution of GDP as a function of financial conditions; adverse conditions crush the lower quantiles while upper ones barely move. Original setup: QR at 5 quantiles, skewed-t fit, risk metrics. Meant for quarterly data and familiar indicators — we adapt it to high-frequency financial data.</a:t>
            </a:r>
            <a:endParaRPr/>
          </a:p>
        </p:txBody>
      </p:sp>
      <p:sp>
        <p:nvSpPr>
          <p:cNvPr id="152" name="Google Shape;152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6" name="Google Shape;17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Five pillars: Koenker &amp; Bassett 1978 (QR and diagnostics — unchanged from the original); Engle &amp; Manganelli 2004 (CAViaR — our contestant models); Johnson 1949 (the SU family — a transformation of the Gaussian, our departure from the skewed-t); Kullback &amp; Leibler 1951 (relative entropy — the main metric); Diebold &amp; Mariano 1995 and Diebold, Gunther &amp; Tay 1998 (backtesting toolkit). And FYI: the framework is used at the IMF for house prices at risk and surveillance, and adapted to inflation at central banks.</a:t>
            </a:r>
            <a:endParaRPr/>
          </a:p>
        </p:txBody>
      </p:sp>
      <p:sp>
        <p:nvSpPr>
          <p:cNvPr id="177" name="Google Shape;17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0" name="Google Shape;20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 main contribution — adapting a novel framework to study oil price vulnerability — with five components: familiar quantile models inside the architecture; the JSU replacing the skewed-t; the backtesting battery; the EWS built on a risk metric; and the open-source module. And the broader aim: explaining the framework so others can reuse it.</a:t>
            </a:r>
            <a:endParaRPr/>
          </a:p>
        </p:txBody>
      </p:sp>
      <p:sp>
        <p:nvSpPr>
          <p:cNvPr id="201" name="Google Shape;20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6" name="Google Shape;226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the specification is built on risk metrics: the EMH — prices reflect all available information and expected returns are a function of risk; so we condition on sources of risk. Supporting literature: Kilian's precautionary demand and Brignone et al.'s asymmetry. Each regressor will capture a distinct source of risk: geopolitical, exchange, logistical, speculative.</a:t>
            </a:r>
            <a:endParaRPr/>
          </a:p>
        </p:txBody>
      </p:sp>
      <p:sp>
        <p:nvSpPr>
          <p:cNvPr id="227" name="Google Shape;227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dependent variable: Brent crude, daily from 1990 to April 2026 via FRED. We work with log-returns. The chart shows the price history and the structural episodes the sample spans — Gulf wars, 2008, the 2014 glut, COVID, Ukraine, Iran.</a:t>
            </a:r>
            <a:endParaRPr/>
          </a:p>
        </p:txBody>
      </p:sp>
      <p:sp>
        <p:nvSpPr>
          <p:cNvPr id="248" name="Google Shape;248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0" name="Google Shape;26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Brent over WTI: the literature's standard choice because it reflects international conditions — WTI is too tied to the US; waterborne and internationally accessible; two-thirds of world crude priced off Brent; and maritime exposure means geopolitics shows up in Brent first.</a:t>
            </a:r>
            <a:endParaRPr/>
          </a:p>
        </p:txBody>
      </p:sp>
      <p:sp>
        <p:nvSpPr>
          <p:cNvPr id="261" name="Google Shape;26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regressor captures a distinct source of risk. GPR (MA-7 of the daily index by Caldara &amp; Iacoviello): geopolitical risk as perceived by the media — the main regressor. The US Dollar Index: exchange risk — oil trades in dollars, and Chen, Rogoff &amp; Rossi show exchange rates can forecast commodity prices. The Baltic Dry Index: logistical risk in the distribution chain — Bakshi, Panayotov &amp; Skoulakis show it predicts commodity returns and global activity.</a:t>
            </a:r>
            <a:endParaRPr/>
          </a:p>
        </p:txBody>
      </p:sp>
      <p:sp>
        <p:nvSpPr>
          <p:cNvPr id="283" name="Google Shape;283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fourth risk source: speculation and volatility. RV captures volatility clustering and sudden changes in speculation. Literature: Cenesizoglu &amp; Timmermann on return-distribution predictability; Andersen, Bollerslev, Diebold &amp; Labys 2003 on RV-based forecasting beating latent-variance models. It is observable and model-free.</a:t>
            </a:r>
            <a:endParaRPr/>
          </a:p>
        </p:txBody>
      </p:sp>
      <p:sp>
        <p:nvSpPr>
          <p:cNvPr id="307" name="Google Shape;307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3" name="Google Shape;323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specification, preserved across all quantiles for simplicity. Why no more variables: to prevent multicollinearity and keep some parsimony. The correlation matrix is in the backup slides, as is the detailed rationale for the 7-day moving average.</a:t>
            </a:r>
            <a:endParaRPr/>
          </a:p>
        </p:txBody>
      </p:sp>
      <p:sp>
        <p:nvSpPr>
          <p:cNvPr id="324" name="Google Shape;324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8" name="Google Shape;33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estimator itself: the conditional quantile function as the inverse conditional CDF; the asymmetric check loss that traces out percentiles; and the Koenker-Bassett estimator, solved as a linear programme. The optimisation details are in the backup slides.</a:t>
            </a:r>
            <a:endParaRPr/>
          </a:p>
        </p:txBody>
      </p:sp>
      <p:sp>
        <p:nvSpPr>
          <p:cNvPr id="339" name="Google Shape;33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3" name="Google Shape;353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In-sample estimates: the coefficient dashboard (paths across quantiles, controls, pseudo R-squared, residuals) and the fitted scatter plots. Next slide: the coefficients side by side at the three key quantiles.</a:t>
            </a:r>
            <a:endParaRPr/>
          </a:p>
        </p:txBody>
      </p:sp>
      <p:sp>
        <p:nvSpPr>
          <p:cNvPr id="354" name="Google Shape;354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5" name="Google Shape;365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in-sample results: explainability concentrated in the tails (expected — the median return carries no signal); asymmetric GPR effect through the sign flip; and the honest caveat — no causal conclusions from QR alone, it would need IV-QR à la Chernozhukov &amp; Hansen. More on this in the backup slides.</a:t>
            </a:r>
            <a:endParaRPr/>
          </a:p>
        </p:txBody>
      </p:sp>
      <p:sp>
        <p:nvSpPr>
          <p:cNvPr id="366" name="Google Shape;366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9" name="Google Shape;389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Direct forecasting: quantiles cannot be iterated like conditional means, so each horizon gets its own regression. Setting: 1,000-observation rolling window (~4 years) for training, independent evaluation on the last 3 years of data through recursive out-of-sample estimation. Why the iteration fails is expanded in the backup slides.</a:t>
            </a:r>
            <a:endParaRPr/>
          </a:p>
        </p:txBody>
      </p:sp>
      <p:sp>
        <p:nvSpPr>
          <p:cNvPr id="390" name="Google Shape;390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7" name="Google Shape;407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horizon: 5 periods, one full trading week. Not too short, not too long. Uniform across the pipeline. The rigorous alternative — selecting h where the regressor-target dynamics are best captured — is discussed in the backup slides.</a:t>
            </a:r>
            <a:endParaRPr/>
          </a:p>
        </p:txBody>
      </p:sp>
      <p:sp>
        <p:nvSpPr>
          <p:cNvPr id="408" name="Google Shape;408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1" name="Google Shape;431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Since the object is extreme tail events, we build a breach indicator: 1 when the realised value lands outside the forecast quantile range, split by side for asymmetry. The figure shows the standard model's breaches: they cluster around market shakes — the model systematically fails during exactly those periods.</a:t>
            </a:r>
            <a:endParaRPr/>
          </a:p>
        </p:txBody>
      </p:sp>
      <p:sp>
        <p:nvSpPr>
          <p:cNvPr id="432" name="Google Shape;432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5" name="Google Shape;44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Since the object is extreme tail events, we build a breach indicator: 1 when the realised value lands outside the forecast quantile range, split by side for asymmetry. The figure shows the standard model's breaches: they cluster around market shakes — the model systematically fails during exactly those periods.</a:t>
            </a:r>
            <a:endParaRPr/>
          </a:p>
        </p:txBody>
      </p:sp>
      <p:sp>
        <p:nvSpPr>
          <p:cNvPr id="446" name="Google Shape;44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7" name="Google Shape;457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fix: give the model memory of its own failures. Two CAViaR-inspired contestants, differing only in how the breach enters: Model 2 as binary flags (any breach weighs the same); Model 3 as the severity — distance from the realised value to the closest quantile, weighting large breaches more.</a:t>
            </a:r>
            <a:endParaRPr/>
          </a:p>
        </p:txBody>
      </p:sp>
      <p:sp>
        <p:nvSpPr>
          <p:cNvPr id="458" name="Google Shape;458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5" name="Google Shape;475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fallout audit: the breach paths of the two augmented models. They cut the number of breaches roughly by three — much better tail capture. But... (next slide: does that translate into predictive power?)</a:t>
            </a:r>
            <a:endParaRPr/>
          </a:p>
        </p:txBody>
      </p:sp>
      <p:sp>
        <p:nvSpPr>
          <p:cNvPr id="476" name="Google Shape;476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3" name="Google Shape;493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comparison: Diebold-Mariano on tick-loss error series — no model dominates at h=5; the breach signal probably comes too late. The OOS loss profiles at the main quantiles tell the same story. Disclaimer: at shorter horizons other results may be observed — expanded in the backup slides.</a:t>
            </a:r>
            <a:endParaRPr/>
          </a:p>
        </p:txBody>
      </p:sp>
      <p:sp>
        <p:nvSpPr>
          <p:cNvPr id="494" name="Google Shape;494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7" name="Google Shape;507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Johnson SU: a transformation of the standard normal through the inverse hyperbolic sine. Four parameters: xi location (anchored at the median forecast), lambda scale, gamma skewness, delta tail weight. The two shape parameters are what let it track asymmetric, heavy-tailed oil returns.</a:t>
            </a:r>
            <a:endParaRPr/>
          </a:p>
        </p:txBody>
      </p:sp>
      <p:sp>
        <p:nvSpPr>
          <p:cNvPr id="508" name="Google Shape;508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4" name="Google Shape;534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the JSU: independent control of skewness and tail weight — it tracks the tail rotations of oil and nests the Gaussian; and it is versatile, battle-tested for asset returns. Honesty point: we do not estimate the skewed-t, so no superiority claim.</a:t>
            </a:r>
            <a:endParaRPr/>
          </a:p>
        </p:txBody>
      </p:sp>
      <p:sp>
        <p:nvSpPr>
          <p:cNvPr id="535" name="Google Shape;535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3" name="Google Shape;553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not MLE: seven quantiles, not seven thousand observations. MDE minimises the squared distance between the JSU quantile function and the forecast skeleton. Configuration: median/IQR initialisation, symmetric shape prior, equal weights, tight tolerance. Training: the same 1,000-day rolling window, coefficients retrained every 30 OOS days.</a:t>
            </a:r>
            <a:endParaRPr/>
          </a:p>
        </p:txBody>
      </p:sp>
      <p:sp>
        <p:nvSpPr>
          <p:cNvPr id="554" name="Google Shape;554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1" name="Google Shape;571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PIT: where did each realised return land within our forecast distribution? Under a perfectly calibrated model the PIT sequence is Uniform(0,1). We run a KS test on the OOS PITs — and pass. (Say the pass verbally; it is deliberately not printed on the slide.)</a:t>
            </a:r>
            <a:endParaRPr/>
          </a:p>
        </p:txBody>
      </p:sp>
      <p:sp>
        <p:nvSpPr>
          <p:cNvPr id="572" name="Google Shape;572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8" name="Google Shape;588;p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payoff of the fitting step: a full forecasted density at every trading day. The tails visibly fatten under stress episodes. Everything that follows — VaR, ES, skewness, entropy — is read from this surface.</a:t>
            </a:r>
            <a:endParaRPr/>
          </a:p>
        </p:txBody>
      </p:sp>
      <p:sp>
        <p:nvSpPr>
          <p:cNvPr id="589" name="Google Shape;589;p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00" name="Google Shape;600;p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Four vulnerability metrics from the fitted distribution; here the first three. VaR from the closed-form JSU quantile, both tails, no time-scaling. ES: coherent, Basel III at 97.5%. Skewness: closed-form, tracks the direction of the risk balance.</a:t>
            </a:r>
            <a:endParaRPr/>
          </a:p>
        </p:txBody>
      </p:sp>
      <p:sp>
        <p:nvSpPr>
          <p:cNvPr id="601" name="Google Shape;601;p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1" name="Google Shape;62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main metric: relative entropy — the expected log-likelihood ratio between the forecast density f and the reference g. Computed three ways: over the full distribution, over the right tail (0.90-0.99 region, upside stress) and over the left tail (0.01-0.10 region, downside stress). Disclaimer in small print: the intervals are a convention; a more robust approach would calibrate them.</a:t>
            </a:r>
            <a:endParaRPr/>
          </a:p>
        </p:txBody>
      </p:sp>
      <p:sp>
        <p:nvSpPr>
          <p:cNvPr id="622" name="Google Shape;62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3" name="Google Shape;643;p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Two candidate references: the unconditional density (JSU fitted by MLE to history) and the Normal (the classical fan-chart assumption and the JSU's parent). Which to choose? Look at the data first.</a:t>
            </a:r>
            <a:endParaRPr/>
          </a:p>
        </p:txBody>
      </p:sp>
      <p:sp>
        <p:nvSpPr>
          <p:cNvPr id="644" name="Google Shape;644;p3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3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0" name="Google Shape;660;p3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evidence: left, the unconditional JSU fitted by MLE — strongly heavy-tailed. Right, its rolling skewness — persistently negative and drifting with the regime. The unconditional reference is itself absorbing skewness changes.</a:t>
            </a:r>
            <a:endParaRPr/>
          </a:p>
        </p:txBody>
      </p:sp>
      <p:sp>
        <p:nvSpPr>
          <p:cNvPr id="661" name="Google Shape;661;p3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6" name="Google Shape;676;p3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the Normal: first, the JSU nests it and it is the usual fan-chart assumption — a natural baseline. Second, the unconditional density already embeds skewness and heavy tails, which are risks in themselves, so measuring against it may understate risk.</a:t>
            </a:r>
            <a:endParaRPr/>
          </a:p>
        </p:txBody>
      </p:sp>
      <p:sp>
        <p:nvSpPr>
          <p:cNvPr id="677" name="Google Shape;677;p3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3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0" name="Google Shape;700;p3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GaR frameworks stop at the metrics — we test whether the entropy predicts. Hypothesis: at least 5 days of lead, since the forecast is 5-ahead. Two tests: the CCF (entropy first-differenced for stationarity; expect higher correlation with future returns) and Granger causality as a second opinion (beyond the returns' own history). DISCLAIMER for questions — what these tests do and do not establish: they certify predictive content in the forecasting sense (lead-lag correlation; incremental information beyond the returns' own lags). They do NOT establish structural or economic causation, the CCF is bivariate (cannot exclude a common third factor), and the Granger F conditions only on the returns' own history — not on other predictors like volatility.</a:t>
            </a:r>
            <a:endParaRPr/>
          </a:p>
        </p:txBody>
      </p:sp>
      <p:sp>
        <p:nvSpPr>
          <p:cNvPr id="701" name="Google Shape;701;p3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17" name="Google Shape;717;p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results: leads of 6-16 days depending on the entropy metric, all Granger-significant at 1% (sample: 2,167 daily observations, June 2012 - April 2026; AIC lags 16-22). DISCLAIMER — what is and is not being tested: these are tests of predictive content in the forecasting sense. The CCF is a bivariate lead-lag correlation — it cannot exclude a common third factor. Granger conditions on the returns' own history only — it certifies incremental information, not structural causation. Effect sizes are modest (squared peak correlations of roughly 1-6%): a signal to combine with others, not a standalone trigger. And part of the measured lead is mechanical, since the entropy is built from a 5-day-ahead forecast — the finding is that the lead exceeds that horizon.</a:t>
            </a:r>
            <a:endParaRPr/>
          </a:p>
        </p:txBody>
      </p:sp>
      <p:sp>
        <p:nvSpPr>
          <p:cNvPr id="718" name="Google Shape;718;p3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3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34" name="Google Shape;734;p3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Three conclusions: the methodology is general — one application among many possible; forecast-based KL divergence carries predictive power with a lead longer than the forecast horizon, even at daily frequency in a volatile market; and the scope is bounded by the risk sources in the specification — geopolitical and market risks here, other sources can be added. The punchline: high-frequency data lets GaR become an early warning system.</a:t>
            </a:r>
            <a:endParaRPr/>
          </a:p>
        </p:txBody>
      </p:sp>
      <p:sp>
        <p:nvSpPr>
          <p:cNvPr id="735" name="Google Shape;735;p3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p3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8" name="Google Shape;758;p3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 one: the quantile forecast around the eve of the Iran war. The corridor visibly widens ahead of the largest moves as the conditioning variables absorb the threat.</a:t>
            </a:r>
            <a:endParaRPr/>
          </a:p>
        </p:txBody>
      </p:sp>
      <p:sp>
        <p:nvSpPr>
          <p:cNvPr id="759" name="Google Shape;759;p3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0" name="Google Shape;770;p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 two: the KL divergence against Brent at the eve of the Ukraine war — the entropy spiking ahead of the price break. Figure placeholder: export the zoomed plot to results/plots and drop it in.</a:t>
            </a:r>
            <a:endParaRPr/>
          </a:p>
        </p:txBody>
      </p:sp>
      <p:sp>
        <p:nvSpPr>
          <p:cNvPr id="771" name="Google Shape;771;p3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81" name="Google Shape;781;p4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architecture: six modules mirroring the methodology one-to-one — data, quantile engine, direct forecasting, distribution, risk metrics, backtesting. Modular by design: each stage can be swapped independently.</a:t>
            </a:r>
            <a:endParaRPr/>
          </a:p>
        </p:txBody>
      </p:sp>
      <p:sp>
        <p:nvSpPr>
          <p:cNvPr id="782" name="Google Shape;782;p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4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4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architecture: six modules mirroring the methodology one-to-one — data, quantile engine, direct forecasting, distribution, risk metrics, backtesting. Modular by design: each stage can be swapped independently.</a:t>
            </a:r>
            <a:endParaRPr/>
          </a:p>
        </p:txBody>
      </p:sp>
      <p:sp>
        <p:nvSpPr>
          <p:cNvPr id="815" name="Google Shape;815;p4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4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4" name="Google Shape;824;p4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While doing this project I found few ready-to-use software tools, so I had to design most of them myself. All the code and modules are available on GitHub for replication and for other researchers. The QR code links directly to the repository.</a:t>
            </a:r>
            <a:endParaRPr/>
          </a:p>
        </p:txBody>
      </p:sp>
      <p:sp>
        <p:nvSpPr>
          <p:cNvPr id="825" name="Google Shape;825;p4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8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4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0" name="Google Shape;840;p4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Next steps, as in the script: a causal orientation via generalised QR (Powell 2020) or quantile local projections (Wojciechowski 2025) — a different thesis of its own; more specifications, with CAViaR at shorter horizons possibly yielding a better EWS even without better point forecasts; and calibrating the arbitrary choices — tail intervals, MA window.</a:t>
            </a:r>
            <a:endParaRPr/>
          </a:p>
        </p:txBody>
      </p:sp>
      <p:sp>
        <p:nvSpPr>
          <p:cNvPr id="841" name="Google Shape;841;p4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2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4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64" name="Google Shape;864;p4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4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4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81" name="Google Shape;881;p4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4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4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88" name="Google Shape;888;p4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MA-7 rationale in full: smoothing plus news-cycle time structure; the trade-off between smoothing and induced autocorrelation; and the selection — loss-function assessment across candidate windows produced an optimal interval, from which the natural trading-week length was picked.</a:t>
            </a:r>
            <a:endParaRPr/>
          </a:p>
        </p:txBody>
      </p:sp>
      <p:sp>
        <p:nvSpPr>
          <p:cNvPr id="889" name="Google Shape;889;p4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0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4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2" name="Google Shape;912;p4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coefficients at the three key quantiles, side by side. Read the rotation: RV negative in the left tail, positive in the right (it widens the distribution); the dollar strongest at the median; GPR flips sign from negative (lower tail) to positive (upper tail). Significance stars: *** 1%, ** 5%.</a:t>
            </a:r>
            <a:endParaRPr/>
          </a:p>
        </p:txBody>
      </p:sp>
      <p:sp>
        <p:nvSpPr>
          <p:cNvPr id="913" name="Google Shape;913;p4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p4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8" name="Google Shape;928;p4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screening for multicollinearity: contemporaneous Pearson correlations over the estimation sample. Regressor-to-regressor correlations are tiny; the only sizable entry is USDI against the dependent variable itself, which is the effect we control for, not collinearity.</a:t>
            </a:r>
            <a:endParaRPr/>
          </a:p>
        </p:txBody>
      </p:sp>
      <p:sp>
        <p:nvSpPr>
          <p:cNvPr id="929" name="Google Shape;929;p4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4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0" name="Google Shape;940;p4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QR optimisation as in the thesis appendix: the absolute-value corner rules out closed-form FOCs; split residuals into positive parts to linearise; solve by Barrodale-Roberts simplex or Frisch-Newton interior point.</a:t>
            </a:r>
            <a:endParaRPr/>
          </a:p>
        </p:txBody>
      </p:sp>
      <p:sp>
        <p:nvSpPr>
          <p:cNvPr id="941" name="Google Shape;941;p4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2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5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64" name="Google Shape;964;p5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full coefficient dashboard for reference during questions: paths across all estimated quantiles with significance, controls, pseudo R-squared and residuals.</a:t>
            </a:r>
            <a:endParaRPr/>
          </a:p>
        </p:txBody>
      </p:sp>
      <p:sp>
        <p:nvSpPr>
          <p:cNvPr id="965" name="Google Shape;965;p5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4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p5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6" name="Google Shape;976;p5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four consistency hypotheses: linearity of the CQF, strict exogeneity at the quantile, no perfect collinearity, positive density near the quantile (sparsity governs precision).</a:t>
            </a:r>
            <a:endParaRPr/>
          </a:p>
        </p:txBody>
      </p:sp>
      <p:sp>
        <p:nvSpPr>
          <p:cNvPr id="977" name="Google Shape;977;p5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3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5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5" name="Google Shape;1005;p5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four in-sample diagnostics with their nulls and mechanics, ready for questions.</a:t>
            </a:r>
            <a:endParaRPr/>
          </a:p>
        </p:txBody>
      </p:sp>
      <p:sp>
        <p:nvSpPr>
          <p:cNvPr id="1006" name="Google Shape;1006;p5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4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5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6" name="Google Shape;1026;p5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no causal reading: QR gives conditional association; GPR is news-based and endogenous to markets and world events; identification would require IV-QR (Chernozhukov &amp; Hansen) or high-frequency instruments. The thesis is deliberately predictive.</a:t>
            </a:r>
            <a:endParaRPr/>
          </a:p>
        </p:txBody>
      </p:sp>
      <p:sp>
        <p:nvSpPr>
          <p:cNvPr id="1027" name="Google Shape;1027;p5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8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5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50" name="Google Shape;1050;p5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iteration fails: LIE holds for means, not quantiles; composing one-step quantile forecasts does not deliver the multi-step quantile. Direct forecasting targets each horizon explicitly.</a:t>
            </a:r>
            <a:endParaRPr/>
          </a:p>
        </p:txBody>
      </p:sp>
      <p:sp>
        <p:nvSpPr>
          <p:cNvPr id="1051" name="Google Shape;1051;p5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2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5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74" name="Google Shape;1074;p5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rigorous alternative to h=5: in direct forecasting the error grows through information decay, not variance compounding; the criterion is the loss-minimising horizon where regressor-target dynamics are best captured; the grid scatters 2-20, so the convention stands.</a:t>
            </a:r>
            <a:endParaRPr/>
          </a:p>
        </p:txBody>
      </p:sp>
      <p:sp>
        <p:nvSpPr>
          <p:cNvPr id="1075" name="Google Shape;1075;p5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6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5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8" name="Google Shape;1098;p5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Deductive chain: the 0.95 boundary is a convention; any threshold trades early detection against false alarms; the rigorous selection sweeps thresholds through a ROC curve, summarises with AUC, and picks the point matching the asymmetric cost of errors. This is exactly the proposed next step.</a:t>
            </a:r>
            <a:endParaRPr/>
          </a:p>
        </p:txBody>
      </p:sp>
      <p:sp>
        <p:nvSpPr>
          <p:cNvPr id="1099" name="Google Shape;1099;p5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5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22" name="Google Shape;1122;p5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disclaimer expanded: breach information decays fast, so the CAViaR-inspired models are strongest at very short horizons; at the operative h=5 they tie with the standard model.</a:t>
            </a:r>
            <a:endParaRPr/>
          </a:p>
        </p:txBody>
      </p:sp>
      <p:sp>
        <p:nvSpPr>
          <p:cNvPr id="1123" name="Google Shape;1123;p5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5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41" name="Google Shape;1141;p5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Kupiec: likelihood-ratio test on the breach frequency against the nominal rate; all three models pass. Only unconditional coverage by design — the overlap makes hits MA(h−1)-dependent, which distorts independence tests but leaves the count assessment intact.</a:t>
            </a:r>
            <a:endParaRPr/>
          </a:p>
        </p:txBody>
      </p:sp>
      <p:sp>
        <p:nvSpPr>
          <p:cNvPr id="1142" name="Google Shape;1142;p5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5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p5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7" name="Google Shape;1157;p5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per-quantile optimal horizons scatter (2 to 20). Evidence summary: all pass everything; average tick losses 0.2380 / 0.2290 / 0.3317 — the tie is the point.</a:t>
            </a:r>
            <a:endParaRPr/>
          </a:p>
        </p:txBody>
      </p:sp>
      <p:sp>
        <p:nvSpPr>
          <p:cNvPr id="1158" name="Google Shape;1158;p5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p6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3" name="Google Shape;1173;p6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per-quantile optimal horizons scatter (2 to 20). Evidence summary: all pass everything; average tick losses 0.2380 / 0.2290 / 0.3317 — the tie is the point.</a:t>
            </a:r>
            <a:endParaRPr/>
          </a:p>
        </p:txBody>
      </p:sp>
      <p:sp>
        <p:nvSpPr>
          <p:cNvPr id="1174" name="Google Shape;1174;p6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Google Shape;1182;p6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3" name="Google Shape;1183;p6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per-quantile optimal horizons scatter (2 to 20). Evidence summary: all pass everything; average tick losses 0.2380 / 0.2290 / 0.3317 — the tie is the point.</a:t>
            </a:r>
            <a:endParaRPr/>
          </a:p>
        </p:txBody>
      </p:sp>
      <p:sp>
        <p:nvSpPr>
          <p:cNvPr id="1184" name="Google Shape;1184;p6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2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Google Shape;1193;p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94" name="Google Shape;1194;p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DQ mechanics: centred hits, instrument projection, Wald form chi-squared. The motivation for the CAViaR augmentations is exactly the term this test interrogates.</a:t>
            </a:r>
            <a:endParaRPr/>
          </a:p>
        </p:txBody>
      </p:sp>
      <p:sp>
        <p:nvSpPr>
          <p:cNvPr id="1195" name="Google Shape;1195;p6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6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9" name="Google Shape;1209;p6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Coherence: full entropy correlates with each tail contemporaneously; the tails are mutually uncorrelated — independent information. The unconditional-JSU divergence series is also computed and shown here for completeness.</a:t>
            </a:r>
            <a:endParaRPr/>
          </a:p>
        </p:txBody>
      </p:sp>
      <p:sp>
        <p:nvSpPr>
          <p:cNvPr id="1210" name="Google Shape;1210;p6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3" name="Shape 1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Google Shape;1224;p6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25" name="Google Shape;1225;p6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6" name="Google Shape;1226;p6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0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p6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32" name="Google Shape;1232;p6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three in-sample diagnostics with their statistics: R1 as the QR pseudo-R-squared (T·V(τ)·R1 is asymptotically chi-squared); the Wald test on the stacked coefficient vector with block-bootstrap covariance (rejected — slopes differ across quantiles); the QAR unit-root auxiliary regression (H0 of a unit root rejected at every targeted tau).</a:t>
            </a:r>
            <a:endParaRPr/>
          </a:p>
        </p:txBody>
      </p:sp>
      <p:sp>
        <p:nvSpPr>
          <p:cNvPr id="1233" name="Google Shape;1233;p6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5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Google Shape;1246;p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7" name="Google Shape;1247;p6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Forecast evaluation statistics: the pinball loss (minimised only by the true conditional quantile); the DM statistic on the paired loss differential with HAC bandwidth h−1 matching the overlap-induced MA(h−1) autocorrelation; and Kupiec's likelihood ratio on the breach count, asymptotically chi-squared with one degree of freedom.</a:t>
            </a:r>
            <a:endParaRPr/>
          </a:p>
        </p:txBody>
      </p:sp>
      <p:sp>
        <p:nvSpPr>
          <p:cNvPr id="1248" name="Google Shape;1248;p6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0" name="Shape 1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6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2" name="Google Shape;1262;p6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Density evaluation: the PIT is Uniform(0,1) under correct specification; the KS statistic measures the supremum deviation of the empirical PIT CDF from the 45-degree line. How departures localise the failure: mass near 0 = thin left tail; near 1 = thin right tail; central hump = over-dispersed forecasts.</a:t>
            </a:r>
            <a:endParaRPr/>
          </a:p>
        </p:txBody>
      </p:sp>
      <p:sp>
        <p:nvSpPr>
          <p:cNvPr id="1263" name="Google Shape;1263;p6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5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p6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7" name="Google Shape;1277;p6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Density evaluation: the PIT is Uniform(0,1) under correct specification; the KS statistic measures the supremum deviation of the empirical PIT CDF from the 45-degree line. How departures localise the failure: mass near 0 = thin left tail; near 1 = thin right tail; central hump = over-dispersed forecasts.</a:t>
            </a:r>
            <a:endParaRPr/>
          </a:p>
        </p:txBody>
      </p:sp>
      <p:sp>
        <p:nvSpPr>
          <p:cNvPr id="1278" name="Google Shape;1278;p6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5" name="Shape 1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Google Shape;1286;p6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7" name="Google Shape;1287;p6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closed forms: VaR directly from the JSU quantile function (no root-finding); ES by numerical integration below the threshold on a 5,000-point grid; and the tail decomposition of the KL divergence — the integrals split at the tail mark, giving the left and right entropy components used in the EWS.</a:t>
            </a:r>
            <a:endParaRPr/>
          </a:p>
        </p:txBody>
      </p:sp>
      <p:sp>
        <p:nvSpPr>
          <p:cNvPr id="1288" name="Google Shape;1288;p6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0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p7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2" name="Google Shape;1302;p7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EWS test statistics: the CCF with Bartlett's band (valid under the iid null — treat as descriptive); the Granger nested regression with its F-statistic distributed F(p, T−2p−1) under the null, lag order by AIC with a ceiling of 30 days. Emphasise: forecasting causality, not structural.</a:t>
            </a:r>
            <a:endParaRPr/>
          </a:p>
        </p:txBody>
      </p:sp>
      <p:sp>
        <p:nvSpPr>
          <p:cNvPr id="1303" name="Google Shape;1303;p7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5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p7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7" name="Google Shape;1317;p7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DQ test: centred hits must be unpredictable from yesterday's information; the Wald projection statistic is asymptotically chi-squared. In this thesis it motivates the breach augmentations — which pass it by construction — rather than serving as evidence of superiority.</a:t>
            </a:r>
            <a:endParaRPr/>
          </a:p>
        </p:txBody>
      </p:sp>
      <p:sp>
        <p:nvSpPr>
          <p:cNvPr id="1318" name="Google Shape;1318;p7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Relationship Id="rId4" Type="http://schemas.openxmlformats.org/officeDocument/2006/relationships/image" Target="../media/image4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7.png"/><Relationship Id="rId4" Type="http://schemas.openxmlformats.org/officeDocument/2006/relationships/image" Target="../media/image18.png"/><Relationship Id="rId5" Type="http://schemas.openxmlformats.org/officeDocument/2006/relationships/image" Target="../media/image2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5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6.png"/><Relationship Id="rId4" Type="http://schemas.openxmlformats.org/officeDocument/2006/relationships/image" Target="../media/image14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7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4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9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7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5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1.png"/><Relationship Id="rId4" Type="http://schemas.openxmlformats.org/officeDocument/2006/relationships/image" Target="../media/image30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4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2.png"/><Relationship Id="rId4" Type="http://schemas.openxmlformats.org/officeDocument/2006/relationships/image" Target="../media/image33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3.png"/><Relationship Id="rId4" Type="http://schemas.openxmlformats.org/officeDocument/2006/relationships/image" Target="../media/image32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0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9.png"/><Relationship Id="rId4" Type="http://schemas.openxmlformats.org/officeDocument/2006/relationships/image" Target="../media/image46.png"/><Relationship Id="rId5" Type="http://schemas.openxmlformats.org/officeDocument/2006/relationships/image" Target="../media/image34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45.png"/><Relationship Id="rId4" Type="http://schemas.openxmlformats.org/officeDocument/2006/relationships/image" Target="../media/image41.png"/><Relationship Id="rId5" Type="http://schemas.openxmlformats.org/officeDocument/2006/relationships/image" Target="../media/image21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47.png"/><Relationship Id="rId4" Type="http://schemas.openxmlformats.org/officeDocument/2006/relationships/image" Target="../media/image36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37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35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48.png"/><Relationship Id="rId4" Type="http://schemas.openxmlformats.org/officeDocument/2006/relationships/image" Target="../media/image38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43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304D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"/>
          <p:cNvCxnSpPr/>
          <p:nvPr/>
        </p:nvCxnSpPr>
        <p:spPr>
          <a:xfrm>
            <a:off x="8229600" y="2057400"/>
            <a:ext cx="3931920" cy="1234440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" name="Google Shape;14;p1"/>
          <p:cNvCxnSpPr/>
          <p:nvPr/>
        </p:nvCxnSpPr>
        <p:spPr>
          <a:xfrm>
            <a:off x="8229600" y="2560320"/>
            <a:ext cx="3931920" cy="781812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" name="Google Shape;15;p1"/>
          <p:cNvCxnSpPr/>
          <p:nvPr/>
        </p:nvCxnSpPr>
        <p:spPr>
          <a:xfrm>
            <a:off x="8229600" y="3017520"/>
            <a:ext cx="3931920" cy="370332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" name="Google Shape;16;p1"/>
          <p:cNvCxnSpPr/>
          <p:nvPr/>
        </p:nvCxnSpPr>
        <p:spPr>
          <a:xfrm>
            <a:off x="8229600" y="3429000"/>
            <a:ext cx="3931920" cy="0"/>
          </a:xfrm>
          <a:prstGeom prst="straightConnector1">
            <a:avLst/>
          </a:prstGeom>
          <a:noFill/>
          <a:ln cap="flat" cmpd="sng" w="25400">
            <a:solidFill>
              <a:srgbClr val="F5F0E8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" name="Google Shape;17;p1"/>
          <p:cNvCxnSpPr/>
          <p:nvPr/>
        </p:nvCxnSpPr>
        <p:spPr>
          <a:xfrm>
            <a:off x="8229600" y="3840480"/>
            <a:ext cx="3931920" cy="0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" name="Google Shape;18;p1"/>
          <p:cNvCxnSpPr/>
          <p:nvPr/>
        </p:nvCxnSpPr>
        <p:spPr>
          <a:xfrm>
            <a:off x="8229600" y="4297680"/>
            <a:ext cx="3931920" cy="0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" name="Google Shape;19;p1"/>
          <p:cNvCxnSpPr/>
          <p:nvPr/>
        </p:nvCxnSpPr>
        <p:spPr>
          <a:xfrm>
            <a:off x="8229600" y="4800600"/>
            <a:ext cx="3931920" cy="0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" name="Google Shape;20;p1"/>
          <p:cNvSpPr/>
          <p:nvPr/>
        </p:nvSpPr>
        <p:spPr>
          <a:xfrm>
            <a:off x="566928" y="8229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87C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E8A87C"/>
                </a:solidFill>
                <a:latin typeface="Calibri"/>
                <a:ea typeface="Calibri"/>
                <a:cs typeface="Calibri"/>
                <a:sym typeface="Calibri"/>
              </a:rPr>
              <a:t>MASTER THESIS DEFENSE · MSC IN QUANTITATIVE ECONOMIC ANALYSIS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66928" y="1417320"/>
            <a:ext cx="107899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600"/>
              <a:buFont typeface="Cambria"/>
              <a:buNone/>
            </a:pPr>
            <a:r>
              <a:rPr b="1" lang="en-US" sz="6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Oil-at-Risk</a:t>
            </a:r>
            <a:endParaRPr sz="6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66928" y="274320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8E8"/>
              </a:buClr>
              <a:buSzPts val="2400"/>
              <a:buFont typeface="Cambria"/>
              <a:buNone/>
            </a:pPr>
            <a:r>
              <a:rPr i="1" lang="en-US" sz="2400">
                <a:solidFill>
                  <a:srgbClr val="C9D8E8"/>
                </a:solidFill>
                <a:latin typeface="Cambria"/>
                <a:ea typeface="Cambria"/>
                <a:cs typeface="Cambria"/>
                <a:sym typeface="Cambria"/>
              </a:rPr>
              <a:t>A Framework for Studying Oil Price Vulnerabilities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23;p1"/>
          <p:cNvCxnSpPr/>
          <p:nvPr/>
        </p:nvCxnSpPr>
        <p:spPr>
          <a:xfrm>
            <a:off x="566928" y="4617720"/>
            <a:ext cx="4572000" cy="0"/>
          </a:xfrm>
          <a:prstGeom prst="straightConnector1">
            <a:avLst/>
          </a:prstGeom>
          <a:noFill/>
          <a:ln cap="flat" cmpd="sng" w="12700">
            <a:solidFill>
              <a:srgbClr val="3A5A7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1"/>
          <p:cNvSpPr/>
          <p:nvPr/>
        </p:nvSpPr>
        <p:spPr>
          <a:xfrm>
            <a:off x="566928" y="4846320"/>
            <a:ext cx="8229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J. Alejandro Rodríguez Garrido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C9D8E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C9D8E8"/>
                </a:solidFill>
                <a:latin typeface="Calibri"/>
                <a:ea typeface="Calibri"/>
                <a:cs typeface="Calibri"/>
                <a:sym typeface="Calibri"/>
              </a:rPr>
              <a:t>Supervised by Pilar Poncela Blanco  ·  Diego Eduardo Fresoli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C9D8E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C9D8E8"/>
                </a:solidFill>
                <a:latin typeface="Calibri"/>
                <a:ea typeface="Calibri"/>
                <a:cs typeface="Calibri"/>
                <a:sym typeface="Calibri"/>
              </a:rPr>
              <a:t>Universidad Autónoma de Madrid  ·  June 2026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01 · MOTIVATION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Why oil prices?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66928" y="1508760"/>
            <a:ext cx="11027664" cy="1371600"/>
          </a:xfrm>
          <a:prstGeom prst="roundRect">
            <a:avLst>
              <a:gd fmla="val 466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822960" y="197510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822960" y="195681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1481328" y="163677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An old macroeconomic debate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481328" y="2020824"/>
            <a:ext cx="981151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Exogenous shocks that cause recessions — Hamilton (1983) shows oil shocks Granger-cause downturns — versus endogenous responses to global demand (Barsky &amp; Kilian, 2004).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566928" y="3017520"/>
            <a:ext cx="11027664" cy="1371600"/>
          </a:xfrm>
          <a:prstGeom prst="roundRect">
            <a:avLst>
              <a:gd fmla="val 466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822960" y="348386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822960" y="346557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1481328" y="314553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Either way, oil is first-order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1481328" y="3529584"/>
            <a:ext cx="981151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An essential input for strategic sectors and a primary driver of inflation: a concern for producers, investors and economists alike.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566928" y="4526280"/>
            <a:ext cx="11027664" cy="1371600"/>
          </a:xfrm>
          <a:prstGeom prst="roundRect">
            <a:avLst>
              <a:gd fmla="val 4667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822960" y="499262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822960" y="497433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481328" y="465429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And the spotlight is back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481328" y="5038344"/>
            <a:ext cx="981151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Recent tensions in the Middle East have once again made crude the barometer of global stress.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01 · MOTIVATION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900"/>
              <a:buFont typeface="Cambria"/>
              <a:buNone/>
            </a:pPr>
            <a:r>
              <a:rPr b="1" lang="en-US" sz="29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Why a new framework</a:t>
            </a:r>
            <a:endParaRPr sz="2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8" name="Google Shape;58;p3"/>
          <p:cNvGrpSpPr/>
          <p:nvPr/>
        </p:nvGrpSpPr>
        <p:grpSpPr>
          <a:xfrm>
            <a:off x="548640" y="1504597"/>
            <a:ext cx="11049058" cy="4424413"/>
            <a:chOff x="566928" y="1537475"/>
            <a:chExt cx="11049058" cy="4424413"/>
          </a:xfrm>
        </p:grpSpPr>
        <p:sp>
          <p:nvSpPr>
            <p:cNvPr id="59" name="Google Shape;59;p3"/>
            <p:cNvSpPr/>
            <p:nvPr/>
          </p:nvSpPr>
          <p:spPr>
            <a:xfrm>
              <a:off x="588322" y="1537475"/>
              <a:ext cx="11027664" cy="1298448"/>
            </a:xfrm>
            <a:prstGeom prst="roundRect">
              <a:avLst>
                <a:gd fmla="val 4930" name="adj"/>
              </a:avLst>
            </a:prstGeom>
            <a:solidFill>
              <a:srgbClr val="F4F7FA"/>
            </a:solidFill>
            <a:ln cap="flat" cmpd="sng" w="9525">
              <a:solidFill>
                <a:srgbClr val="D9E2E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60;p3"/>
            <p:cNvSpPr/>
            <p:nvPr/>
          </p:nvSpPr>
          <p:spPr>
            <a:xfrm>
              <a:off x="740664" y="1967243"/>
              <a:ext cx="438912" cy="438912"/>
            </a:xfrm>
            <a:prstGeom prst="ellipse">
              <a:avLst/>
            </a:prstGeom>
            <a:solidFill>
              <a:srgbClr val="14304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61;p3"/>
            <p:cNvSpPr/>
            <p:nvPr/>
          </p:nvSpPr>
          <p:spPr>
            <a:xfrm>
              <a:off x="740664" y="1948955"/>
              <a:ext cx="438912" cy="4389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500"/>
                <a:buFont typeface="Cambria"/>
                <a:buNone/>
              </a:pPr>
              <a:r>
                <a:rPr b="1" lang="en-US" sz="150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1</a:t>
              </a:r>
              <a:endPara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62;p3"/>
            <p:cNvSpPr/>
            <p:nvPr/>
          </p:nvSpPr>
          <p:spPr>
            <a:xfrm>
              <a:off x="1481328" y="1683779"/>
              <a:ext cx="9765792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4304D"/>
                  </a:solidFill>
                  <a:latin typeface="Calibri"/>
                  <a:ea typeface="Calibri"/>
                  <a:cs typeface="Calibri"/>
                  <a:sym typeface="Calibri"/>
                </a:rPr>
                <a:t>Asymmetries</a:t>
              </a:r>
              <a:endParaRPr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63;p3"/>
            <p:cNvSpPr/>
            <p:nvPr/>
          </p:nvSpPr>
          <p:spPr>
            <a:xfrm>
              <a:off x="1481328" y="2098548"/>
              <a:ext cx="8881872" cy="6583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F2937"/>
                  </a:solidFill>
                  <a:latin typeface="Calibri"/>
                  <a:ea typeface="Calibri"/>
                  <a:cs typeface="Calibri"/>
                  <a:sym typeface="Calibri"/>
                </a:rPr>
                <a:t>Vast literature shows the response to oil shocks is asymmetric and time varying (</a:t>
              </a:r>
              <a:r>
                <a:rPr i="1" lang="en-US" sz="1600">
                  <a:solidFill>
                    <a:srgbClr val="1F2937"/>
                  </a:solidFill>
                  <a:latin typeface="Calibri"/>
                  <a:ea typeface="Calibri"/>
                  <a:cs typeface="Calibri"/>
                  <a:sym typeface="Calibri"/>
                </a:rPr>
                <a:t>Brignone, Gambetti and Ricci, 2025</a:t>
              </a:r>
              <a:r>
                <a:rPr lang="en-US" sz="1600">
                  <a:solidFill>
                    <a:srgbClr val="1F2937"/>
                  </a:solidFill>
                  <a:latin typeface="Calibri"/>
                  <a:ea typeface="Calibri"/>
                  <a:cs typeface="Calibri"/>
                  <a:sym typeface="Calibri"/>
                </a:rPr>
                <a:t>)</a:t>
              </a:r>
              <a:endParaRPr/>
            </a:p>
          </p:txBody>
        </p:sp>
        <p:sp>
          <p:nvSpPr>
            <p:cNvPr id="64" name="Google Shape;64;p3"/>
            <p:cNvSpPr/>
            <p:nvPr/>
          </p:nvSpPr>
          <p:spPr>
            <a:xfrm>
              <a:off x="566928" y="3022092"/>
              <a:ext cx="11027664" cy="1298448"/>
            </a:xfrm>
            <a:prstGeom prst="roundRect">
              <a:avLst>
                <a:gd fmla="val 4930" name="adj"/>
              </a:avLst>
            </a:prstGeom>
            <a:solidFill>
              <a:srgbClr val="F4F7FA"/>
            </a:solidFill>
            <a:ln cap="flat" cmpd="sng" w="9525">
              <a:solidFill>
                <a:srgbClr val="D9E2E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65;p3"/>
            <p:cNvSpPr/>
            <p:nvPr/>
          </p:nvSpPr>
          <p:spPr>
            <a:xfrm>
              <a:off x="822960" y="3451860"/>
              <a:ext cx="438912" cy="438912"/>
            </a:xfrm>
            <a:prstGeom prst="ellipse">
              <a:avLst/>
            </a:prstGeom>
            <a:solidFill>
              <a:srgbClr val="14304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66;p3"/>
            <p:cNvSpPr/>
            <p:nvPr/>
          </p:nvSpPr>
          <p:spPr>
            <a:xfrm>
              <a:off x="1481328" y="3150108"/>
              <a:ext cx="9765900" cy="36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4304D"/>
                  </a:solidFill>
                  <a:latin typeface="Calibri"/>
                  <a:ea typeface="Calibri"/>
                  <a:cs typeface="Calibri"/>
                  <a:sym typeface="Calibri"/>
                </a:rPr>
                <a:t>Importance of the tails</a:t>
              </a:r>
              <a:endParaRPr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67;p3"/>
            <p:cNvSpPr/>
            <p:nvPr/>
          </p:nvSpPr>
          <p:spPr>
            <a:xfrm>
              <a:off x="1481328" y="3534156"/>
              <a:ext cx="9811512" cy="6583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F2937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US" sz="1600">
                  <a:solidFill>
                    <a:srgbClr val="1F2937"/>
                  </a:solidFill>
                  <a:latin typeface="Calibri"/>
                  <a:ea typeface="Calibri"/>
                  <a:cs typeface="Calibri"/>
                  <a:sym typeface="Calibri"/>
                </a:rPr>
                <a:t>olatility clustering, influential outliers and heavy tails distort linear estimates. The tails carry the signal.</a:t>
              </a:r>
              <a:endParaRPr/>
            </a:p>
          </p:txBody>
        </p:sp>
        <p:sp>
          <p:nvSpPr>
            <p:cNvPr id="68" name="Google Shape;68;p3"/>
            <p:cNvSpPr/>
            <p:nvPr/>
          </p:nvSpPr>
          <p:spPr>
            <a:xfrm>
              <a:off x="822960" y="3433572"/>
              <a:ext cx="438912" cy="4389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500"/>
                <a:buFont typeface="Cambria"/>
                <a:buNone/>
              </a:pPr>
              <a:r>
                <a:rPr b="1" lang="en-US" sz="150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2</a:t>
              </a:r>
              <a:endPara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3"/>
            <p:cNvSpPr/>
            <p:nvPr/>
          </p:nvSpPr>
          <p:spPr>
            <a:xfrm>
              <a:off x="566928" y="4541279"/>
              <a:ext cx="11027664" cy="1371600"/>
            </a:xfrm>
            <a:prstGeom prst="roundRect">
              <a:avLst>
                <a:gd fmla="val 4667" name="adj"/>
              </a:avLst>
            </a:prstGeom>
            <a:solidFill>
              <a:srgbClr val="FBEFE6"/>
            </a:solidFill>
            <a:ln cap="flat" cmpd="sng" w="9525">
              <a:solidFill>
                <a:srgbClr val="D9E2E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70;p3"/>
            <p:cNvSpPr/>
            <p:nvPr/>
          </p:nvSpPr>
          <p:spPr>
            <a:xfrm>
              <a:off x="822960" y="5007623"/>
              <a:ext cx="438912" cy="438912"/>
            </a:xfrm>
            <a:prstGeom prst="ellipse">
              <a:avLst/>
            </a:prstGeom>
            <a:solidFill>
              <a:srgbClr val="C2561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3"/>
            <p:cNvSpPr/>
            <p:nvPr/>
          </p:nvSpPr>
          <p:spPr>
            <a:xfrm>
              <a:off x="822960" y="4989335"/>
              <a:ext cx="438912" cy="4389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500"/>
                <a:buFont typeface="Cambria"/>
                <a:buNone/>
              </a:pPr>
              <a:r>
                <a:rPr b="1" lang="en-US" sz="150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3</a:t>
              </a:r>
              <a:endPara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72;p3"/>
            <p:cNvSpPr/>
            <p:nvPr/>
          </p:nvSpPr>
          <p:spPr>
            <a:xfrm>
              <a:off x="1481328" y="5230368"/>
              <a:ext cx="9811512" cy="731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F2937"/>
                  </a:solidFill>
                  <a:latin typeface="Calibri"/>
                  <a:ea typeface="Calibri"/>
                  <a:cs typeface="Calibri"/>
                  <a:sym typeface="Calibri"/>
                </a:rPr>
                <a:t>(Adrian et al., 2019) to study the vulnerability of daily oil prices</a:t>
              </a:r>
              <a:endPara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73;p3"/>
            <p:cNvSpPr/>
            <p:nvPr/>
          </p:nvSpPr>
          <p:spPr>
            <a:xfrm>
              <a:off x="1481328" y="4769879"/>
              <a:ext cx="9765792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rPr>
                <a:t>So, we adapt the Growth-at-Risk Framework</a:t>
              </a:r>
              <a:endParaRPr sz="17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02 · INTRODUCTION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framework, step by step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566928" y="1463040"/>
            <a:ext cx="11027664" cy="841248"/>
          </a:xfrm>
          <a:prstGeom prst="roundRect">
            <a:avLst>
              <a:gd fmla="val 7609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822960" y="1664208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822960" y="16459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1481328" y="1536192"/>
            <a:ext cx="34747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Quantile regression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5029200" y="1536192"/>
            <a:ext cx="63550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Define a specification for the quantile regression of Oil returns.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566928" y="2414016"/>
            <a:ext cx="11027664" cy="841248"/>
          </a:xfrm>
          <a:prstGeom prst="roundRect">
            <a:avLst>
              <a:gd fmla="val 7609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822960" y="261518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822960" y="25968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1481328" y="2487168"/>
            <a:ext cx="34747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Direct forecasting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5029200" y="2487168"/>
            <a:ext cx="63550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Forecast the quantiles of oil returns at a chosen horizon h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566928" y="3364992"/>
            <a:ext cx="11027664" cy="841248"/>
          </a:xfrm>
          <a:prstGeom prst="roundRect">
            <a:avLst>
              <a:gd fmla="val 7609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822960" y="3566160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822960" y="354787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1481328" y="3438144"/>
            <a:ext cx="34747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Distribution fitting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5029200" y="3438144"/>
            <a:ext cx="63550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Fit a parametric distribution to the discrete forecasts.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566928" y="4315968"/>
            <a:ext cx="11027664" cy="841248"/>
          </a:xfrm>
          <a:prstGeom prst="roundRect">
            <a:avLst>
              <a:gd fmla="val 7609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822960" y="4517136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822960" y="449884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1481328" y="4389120"/>
            <a:ext cx="34747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Vulnerability metrics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5029200" y="4389120"/>
            <a:ext cx="63550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Compute risk metrics from the fitted distribution.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566928" y="5266944"/>
            <a:ext cx="11027664" cy="841248"/>
          </a:xfrm>
          <a:prstGeom prst="roundRect">
            <a:avLst>
              <a:gd fmla="val 7609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822960" y="5468112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822960" y="544982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1481328" y="5340096"/>
            <a:ext cx="34747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Early warning test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5029200" y="5340096"/>
            <a:ext cx="63550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Test whether a selected risk metric carries predictive power over oil shocks.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Roadmap of the defense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566928" y="1737360"/>
            <a:ext cx="420624" cy="420624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566928" y="171907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lang="en-US" sz="2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1170432" y="1645920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400"/>
              <a:buFont typeface="Cambria"/>
              <a:buNone/>
            </a:pPr>
            <a:r>
              <a:rPr b="1" lang="en-US" sz="2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Literature review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1170432" y="1943581"/>
            <a:ext cx="3481779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800"/>
              <a:buFont typeface="Calibri"/>
              <a:buNone/>
            </a:pPr>
            <a:r>
              <a:rPr lang="en-US" sz="18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Where this thesis fit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6281928" y="1737360"/>
            <a:ext cx="420624" cy="420624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6281928" y="171907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lang="en-US" sz="2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6885432" y="1645920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400"/>
              <a:buFont typeface="Cambria"/>
              <a:buNone/>
            </a:pPr>
            <a:r>
              <a:rPr b="1" lang="en-US" sz="2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Contribution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6885432" y="20116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800"/>
              <a:buFont typeface="Calibri"/>
              <a:buNone/>
            </a:pPr>
            <a:r>
              <a:rPr lang="en-US" sz="18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One main contribution, five components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566928" y="2926080"/>
            <a:ext cx="420624" cy="420624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566928" y="29077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lang="en-US" sz="2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1170432" y="2834640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400"/>
              <a:buFont typeface="Cambria"/>
              <a:buNone/>
            </a:pPr>
            <a:r>
              <a:rPr b="1" lang="en-US" sz="2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Data &amp; specification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1170432" y="320040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800"/>
              <a:buFont typeface="Calibri"/>
              <a:buNone/>
            </a:pPr>
            <a:r>
              <a:rPr lang="en-US" sz="18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Regressors as sources of risk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6281928" y="2926080"/>
            <a:ext cx="420624" cy="420624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6281928" y="29077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lang="en-US" sz="2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6885432" y="2834640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400"/>
              <a:buFont typeface="Cambria"/>
              <a:buNone/>
            </a:pPr>
            <a:r>
              <a:rPr b="1" lang="en-US" sz="2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Direct forecasting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6885432" y="320040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800"/>
              <a:buFont typeface="Calibri"/>
              <a:buNone/>
            </a:pPr>
            <a:r>
              <a:rPr lang="en-US" sz="18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Setting, breach indicators, competing models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566928" y="4114800"/>
            <a:ext cx="420624" cy="420624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566928" y="409651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lang="en-US" sz="2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1170432" y="4023360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400"/>
              <a:buFont typeface="Cambria"/>
              <a:buNone/>
            </a:pPr>
            <a:r>
              <a:rPr b="1" lang="en-US" sz="2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Distribution fitting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1170432" y="438912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800"/>
              <a:buFont typeface="Calibri"/>
              <a:buNone/>
            </a:pPr>
            <a:r>
              <a:rPr lang="en-US" sz="18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The Johnson SU, MDE, and diagnostics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6281928" y="4114800"/>
            <a:ext cx="420624" cy="420624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6281928" y="409651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lang="en-US" sz="2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6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6885432" y="4023360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400"/>
              <a:buFont typeface="Cambria"/>
              <a:buNone/>
            </a:pPr>
            <a:r>
              <a:rPr b="1" lang="en-US" sz="2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Risk metrics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6885432" y="438912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800"/>
              <a:buFont typeface="Calibri"/>
              <a:buNone/>
            </a:pPr>
            <a:r>
              <a:rPr lang="en-US" sz="18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VaR, ES, skewness — and relative entropy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566928" y="5303520"/>
            <a:ext cx="420624" cy="420624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566928" y="528523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lang="en-US" sz="2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7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1170432" y="5212080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mbria"/>
              <a:buNone/>
            </a:pPr>
            <a:r>
              <a:rPr b="1" lang="en-US" sz="2400">
                <a:solidFill>
                  <a:srgbClr val="002060"/>
                </a:solidFill>
                <a:latin typeface="Cambria"/>
                <a:ea typeface="Cambria"/>
                <a:cs typeface="Cambria"/>
                <a:sym typeface="Cambria"/>
              </a:rPr>
              <a:t>Early warning system</a:t>
            </a:r>
            <a:endParaRPr sz="24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170432" y="557784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800"/>
              <a:buFont typeface="Calibri"/>
              <a:buNone/>
            </a:pPr>
            <a:r>
              <a:rPr lang="en-US" sz="18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Hypothesis, tests, Iran War eve case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6281928" y="5303520"/>
            <a:ext cx="420624" cy="420624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6281928" y="528523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lang="en-US" sz="2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8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6885432" y="5212080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400"/>
              <a:buFont typeface="Cambria"/>
              <a:buNone/>
            </a:pPr>
            <a:r>
              <a:rPr b="1" lang="en-US" sz="2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Conclusions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6885432" y="557784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800"/>
              <a:buFont typeface="Calibri"/>
              <a:buNone/>
            </a:pPr>
            <a:r>
              <a:rPr lang="en-US" sz="18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And the open-source module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03 · LITERATURE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Growth-at-Risk paradigm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/>
          <p:nvPr/>
        </p:nvSpPr>
        <p:spPr>
          <a:xfrm>
            <a:off x="566928" y="1417320"/>
            <a:ext cx="11027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350"/>
              <a:buFont typeface="Calibri"/>
              <a:buNone/>
            </a:pPr>
            <a:r>
              <a:rPr i="1" lang="en-US" sz="13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Adrian, Boyarchenko &amp; Giannone (2019), American Economic Review — “Vulnerable Growth”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566928" y="1874520"/>
            <a:ext cx="11027664" cy="1298448"/>
          </a:xfrm>
          <a:prstGeom prst="roundRect">
            <a:avLst>
              <a:gd fmla="val 4930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822960" y="2304288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1481328" y="200253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finding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1481328" y="2386584"/>
            <a:ext cx="9811512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conditional distribution of GDP growth depends on financial conditions: adverse conditions greatly deteriorate the lower quantiles while the upper quantiles barely move.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566928" y="3310128"/>
            <a:ext cx="11027664" cy="1298448"/>
          </a:xfrm>
          <a:prstGeom prst="roundRect">
            <a:avLst>
              <a:gd fmla="val 4930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822960" y="3739896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822960" y="372160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1481328" y="3438144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original architecture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1481328" y="3822192"/>
            <a:ext cx="9811512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Quantile regression at 5 distinct quantiles → a skewed-t distribution fitted to those quantiles → risk metrics extracted from the density to study vulnerability.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566928" y="4745736"/>
            <a:ext cx="11027664" cy="1298448"/>
          </a:xfrm>
          <a:prstGeom prst="roundRect">
            <a:avLst>
              <a:gd fmla="val 4930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822960" y="517550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822960" y="515721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1481328" y="4873752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Our adaptation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1481328" y="5257800"/>
            <a:ext cx="9811512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original setup was meant for quarterly data and well-known macro indicators. We adapt it to exploit high-frequency financial data — and a familiar but different problem.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03 · LITERATURE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five pillars of the adapted methodology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566928" y="1463040"/>
            <a:ext cx="11027664" cy="804672"/>
          </a:xfrm>
          <a:prstGeom prst="roundRect">
            <a:avLst>
              <a:gd fmla="val 7955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804672" y="1463040"/>
            <a:ext cx="411480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4468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E4468"/>
                </a:solidFill>
                <a:latin typeface="Cambria"/>
                <a:ea typeface="Cambria"/>
                <a:cs typeface="Cambria"/>
                <a:sym typeface="Cambria"/>
              </a:rPr>
              <a:t>Koenker &amp; Bassett (1978)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5029200" y="1463040"/>
            <a:ext cx="6355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50"/>
              <a:buFont typeface="Calibri"/>
              <a:buNone/>
            </a:pPr>
            <a:r>
              <a:rPr lang="en-US" sz="14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Formalised quantile regression and its main diagnostic tools — the same QR core used by the original authors.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566928" y="2377440"/>
            <a:ext cx="11027664" cy="804672"/>
          </a:xfrm>
          <a:prstGeom prst="roundRect">
            <a:avLst>
              <a:gd fmla="val 7955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804672" y="2377440"/>
            <a:ext cx="411480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4468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E4468"/>
                </a:solidFill>
                <a:latin typeface="Cambria"/>
                <a:ea typeface="Cambria"/>
                <a:cs typeface="Cambria"/>
                <a:sym typeface="Cambria"/>
              </a:rPr>
              <a:t>Engle &amp; Manganelli (2004)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5029200" y="2377440"/>
            <a:ext cx="6355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50"/>
              <a:buFont typeface="Calibri"/>
              <a:buNone/>
            </a:pPr>
            <a:r>
              <a:rPr lang="en-US" sz="14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CAViaR: formalised the contestant models proposed in this thesis — alternative specifications for the QR.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566928" y="3291840"/>
            <a:ext cx="11027664" cy="804672"/>
          </a:xfrm>
          <a:prstGeom prst="roundRect">
            <a:avLst>
              <a:gd fmla="val 7955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804672" y="3291840"/>
            <a:ext cx="411480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4468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E4468"/>
                </a:solidFill>
                <a:latin typeface="Cambria"/>
                <a:ea typeface="Cambria"/>
                <a:cs typeface="Cambria"/>
                <a:sym typeface="Cambria"/>
              </a:rPr>
              <a:t>Johnson (1949)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5029200" y="3291840"/>
            <a:ext cx="6355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50"/>
              <a:buFont typeface="Calibri"/>
              <a:buNone/>
            </a:pPr>
            <a:r>
              <a:rPr lang="en-US" sz="14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SU family: a flexible transformation of the Gaussian capturing skewness and heavy tails — our departure from the skewed-t.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566928" y="4206240"/>
            <a:ext cx="11027664" cy="804672"/>
          </a:xfrm>
          <a:prstGeom prst="roundRect">
            <a:avLst>
              <a:gd fmla="val 7955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804672" y="4206240"/>
            <a:ext cx="411480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4468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E4468"/>
                </a:solidFill>
                <a:latin typeface="Cambria"/>
                <a:ea typeface="Cambria"/>
                <a:cs typeface="Cambria"/>
                <a:sym typeface="Cambria"/>
              </a:rPr>
              <a:t>Kullback &amp; Leibler (1951)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5029200" y="4206240"/>
            <a:ext cx="6355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50"/>
              <a:buFont typeface="Calibri"/>
              <a:buNone/>
            </a:pPr>
            <a:r>
              <a:rPr lang="en-US" sz="14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Relative entropy: the divergence measure behind the main vulnerability metric of this thesis.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566928" y="5120640"/>
            <a:ext cx="11027664" cy="804672"/>
          </a:xfrm>
          <a:prstGeom prst="roundRect">
            <a:avLst>
              <a:gd fmla="val 7955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804672" y="5120640"/>
            <a:ext cx="411480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4468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E4468"/>
                </a:solidFill>
                <a:latin typeface="Cambria"/>
                <a:ea typeface="Cambria"/>
                <a:cs typeface="Cambria"/>
                <a:sym typeface="Cambria"/>
              </a:rPr>
              <a:t>Diebold &amp; Mariano (1995) · Diebold, Gunther &amp; Tay (1998)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5029200" y="5120640"/>
            <a:ext cx="6355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50"/>
              <a:buFont typeface="Calibri"/>
              <a:buNone/>
            </a:pPr>
            <a:r>
              <a:rPr lang="en-US" sz="14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backtesting toolkit used to compare forecasts and assess the calibration of the fitted densities.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04 · CONTRIBUTION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contribution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566928" y="1463040"/>
            <a:ext cx="11027664" cy="960120"/>
          </a:xfrm>
          <a:prstGeom prst="roundRect">
            <a:avLst>
              <a:gd fmla="val 7619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868680" y="1554480"/>
            <a:ext cx="10424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87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E8A87C"/>
                </a:solidFill>
                <a:latin typeface="Calibri"/>
                <a:ea typeface="Calibri"/>
                <a:cs typeface="Calibri"/>
                <a:sym typeface="Calibri"/>
              </a:rPr>
              <a:t>MAIN CONTRIBUTION   </a:t>
            </a: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Adapting a novel methodology to study the vulnerabilities of oil prices, this which includes: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777240" y="2697480"/>
            <a:ext cx="402336" cy="402336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777240" y="267919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1371600" y="2651760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Familiar quantile models inside the architecture: the CAViaR-inspired contestants.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777240" y="3355848"/>
            <a:ext cx="402336" cy="402336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777240" y="333756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1371600" y="3310128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departure from the canonical skewed-t to a financial-friendly density: the Johnson SU.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777240" y="4014216"/>
            <a:ext cx="402336" cy="402336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777240" y="3995928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An early warning system built on one of the risk metrics.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777240" y="4654296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1371600" y="4626864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831944" y="4626864"/>
            <a:ext cx="402336" cy="402336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831944" y="4608576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1426304" y="4581144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An open-source Python module to replicate the full pipeline or extend it to other research.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539496" y="5490972"/>
            <a:ext cx="1102766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i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Beyond the application itself: this presentation also aims to explain the framework, in case you find it useful for studying other phenomena — as other authors have done.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05 · DATA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A specification built on risk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566928" y="1463040"/>
            <a:ext cx="11027664" cy="1463040"/>
          </a:xfrm>
          <a:prstGeom prst="roundRect">
            <a:avLst>
              <a:gd fmla="val 4375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We want to study vulnerabilities related to specific risk sources.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566928" y="3154680"/>
            <a:ext cx="11027664" cy="1298448"/>
          </a:xfrm>
          <a:prstGeom prst="roundRect">
            <a:avLst>
              <a:gd fmla="val 4930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822960" y="3584448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822960" y="35661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481328" y="328269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Risk moves oil prices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481328" y="3666744"/>
            <a:ext cx="9811512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Kilian (2009): precautionary demand, the fear of future supply disruptions drives agents to buy early, altering prices before any physical shortfall.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566928" y="4608576"/>
            <a:ext cx="11027664" cy="1298448"/>
          </a:xfrm>
          <a:prstGeom prst="roundRect">
            <a:avLst>
              <a:gd fmla="val 4930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822960" y="5020056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822960" y="500176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1481328" y="4718304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And it moves them asymmetrically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1481328" y="5102352"/>
            <a:ext cx="9811512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Brignone, Gambetti &amp; Ricci (2025): geopolitical shocks in the oil market are highly asymmetrical, motivating a flexible, distribution-aware framework.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05 · DATA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dependent variable: Brent crude log-returns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1554480" y="1463040"/>
            <a:ext cx="6998824" cy="4160520"/>
          </a:xfrm>
          <a:prstGeom prst="roundRect">
            <a:avLst>
              <a:gd fmla="val 1319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Brent crude evolution. Structural Analysis of supply and demand shock.png" id="255" name="Google Shape;25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2496" y="1591056"/>
            <a:ext cx="6742792" cy="3593592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10"/>
          <p:cNvSpPr/>
          <p:nvPr/>
        </p:nvSpPr>
        <p:spPr>
          <a:xfrm>
            <a:off x="1682496" y="5202936"/>
            <a:ext cx="6742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Brent spot price, 1990–2026, with its structural supply and demand episodes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1463040" y="5806440"/>
            <a:ext cx="70902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Daily frequency, January 1990 to April 2026, via FRED (EIA). We work with the log-returns of the spot price.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05 · DATA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Why Brent and not WTI?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566928" y="1508760"/>
            <a:ext cx="5404104" cy="1965960"/>
          </a:xfrm>
          <a:prstGeom prst="roundRect">
            <a:avLst>
              <a:gd fmla="val 3256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786384" y="1655064"/>
            <a:ext cx="49651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Preferred in the literature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786384" y="2057400"/>
            <a:ext cx="4965192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Brent is the standard choice for studying world oil prices: it better reflects international market conditions. WTI is too tied to U.S. domestic conditions.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6190488" y="1508760"/>
            <a:ext cx="5404104" cy="1965960"/>
          </a:xfrm>
          <a:prstGeom prst="roundRect">
            <a:avLst>
              <a:gd fmla="val 3256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6409944" y="1655064"/>
            <a:ext cx="49651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Waterborne, not landlocked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6409944" y="2057400"/>
            <a:ext cx="4965192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Extracted in the North Sea and loaded directly onto ships: tradable across Europe, Asia, Africa and the Americas.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566928" y="3703320"/>
            <a:ext cx="5404104" cy="1965960"/>
          </a:xfrm>
          <a:prstGeom prst="roundRect">
            <a:avLst>
              <a:gd fmla="val 3256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786384" y="3849624"/>
            <a:ext cx="49651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Global market dominance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786384" y="4251960"/>
            <a:ext cx="4965192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Roughly two-thirds of globally traded crude is priced relative to Brent — the benchmark for Europe, Africa and the Middle East.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6190488" y="3703320"/>
            <a:ext cx="5404104" cy="1965960"/>
          </a:xfrm>
          <a:prstGeom prst="roundRect">
            <a:avLst>
              <a:gd fmla="val 3256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6409944" y="3849624"/>
            <a:ext cx="49651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Sensitivity to global geopolitics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6409944" y="4251960"/>
            <a:ext cx="4965192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As a maritime crude, Brent reacts immediately to chokepoint disruptions — Hormuz, the Red Sea — OPEC+ decisions, and tensions across three continents.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566928" y="5806440"/>
            <a:ext cx="110276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500"/>
              <a:buFont typeface="Cambria"/>
              <a:buNone/>
            </a:pPr>
            <a:r>
              <a:rPr i="1" lang="en-US" sz="15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WTI is technically lighter and sweeter — but in a global benchmark, logistics and liquidity beat chemistry.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2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05 · DATA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2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regressors: three sources of risk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2"/>
          <p:cNvSpPr/>
          <p:nvPr/>
        </p:nvSpPr>
        <p:spPr>
          <a:xfrm>
            <a:off x="566928" y="1508760"/>
            <a:ext cx="3529584" cy="4480560"/>
          </a:xfrm>
          <a:prstGeom prst="roundRect">
            <a:avLst>
              <a:gd fmla="val 1813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2"/>
          <p:cNvSpPr/>
          <p:nvPr/>
        </p:nvSpPr>
        <p:spPr>
          <a:xfrm>
            <a:off x="768096" y="1691640"/>
            <a:ext cx="31272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GEOPOLITICAL RISK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2"/>
          <p:cNvSpPr/>
          <p:nvPr/>
        </p:nvSpPr>
        <p:spPr>
          <a:xfrm>
            <a:off x="768096" y="2011680"/>
            <a:ext cx="312724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Geopolitical Risk Index (MA-7)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2"/>
          <p:cNvSpPr/>
          <p:nvPr/>
        </p:nvSpPr>
        <p:spPr>
          <a:xfrm>
            <a:off x="768096" y="2651760"/>
            <a:ext cx="31272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200"/>
              <a:buFont typeface="Calibri"/>
              <a:buNone/>
            </a:pPr>
            <a:r>
              <a:rPr i="1" lang="en-US" sz="12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Caldara &amp; Iacoviello (2022)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2"/>
          <p:cNvSpPr/>
          <p:nvPr/>
        </p:nvSpPr>
        <p:spPr>
          <a:xfrm>
            <a:off x="768096" y="2999232"/>
            <a:ext cx="3127248" cy="28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Seven-day moving average of the daily GPR index: geopolitical risk as perceived by the media. The main regressor and the main source of risk in this thesis.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2"/>
          <p:cNvSpPr/>
          <p:nvPr/>
        </p:nvSpPr>
        <p:spPr>
          <a:xfrm>
            <a:off x="4315968" y="1508760"/>
            <a:ext cx="3529584" cy="4480560"/>
          </a:xfrm>
          <a:prstGeom prst="roundRect">
            <a:avLst>
              <a:gd fmla="val 1813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4517136" y="1691640"/>
            <a:ext cx="31272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EXCHANGE RISK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4517136" y="2011680"/>
            <a:ext cx="312724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U.S. Dollar Index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2"/>
          <p:cNvSpPr/>
          <p:nvPr/>
        </p:nvSpPr>
        <p:spPr>
          <a:xfrm>
            <a:off x="4517136" y="2651760"/>
            <a:ext cx="31272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200"/>
              <a:buFont typeface="Calibri"/>
              <a:buNone/>
            </a:pPr>
            <a:r>
              <a:rPr i="1" lang="en-US" sz="12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Chen, Rogoff &amp; Rossi (2010)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2"/>
          <p:cNvSpPr/>
          <p:nvPr/>
        </p:nvSpPr>
        <p:spPr>
          <a:xfrm>
            <a:off x="4517136" y="2999232"/>
            <a:ext cx="3127248" cy="28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Oil is traded mostly in dollars: the index captures the exchange-rate component of price movements — and exchange rates have been shown to forecast commodity prices.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8065008" y="1508760"/>
            <a:ext cx="3529584" cy="4480560"/>
          </a:xfrm>
          <a:prstGeom prst="roundRect">
            <a:avLst>
              <a:gd fmla="val 1813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8266176" y="1691640"/>
            <a:ext cx="31272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LOGISTICAL RISK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2"/>
          <p:cNvSpPr/>
          <p:nvPr/>
        </p:nvSpPr>
        <p:spPr>
          <a:xfrm>
            <a:off x="8266176" y="2011680"/>
            <a:ext cx="312724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Baltic Dry Index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8266176" y="2651760"/>
            <a:ext cx="31272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200"/>
              <a:buFont typeface="Calibri"/>
              <a:buNone/>
            </a:pPr>
            <a:r>
              <a:rPr i="1" lang="en-US" sz="12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Bakshi, Panayotov &amp; Skoulakis (2011)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8266176" y="2999232"/>
            <a:ext cx="3127248" cy="28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Bulk-shipping freight rates: captures logistical disruptions in the oil distribution chain. The BDI predicts commodity returns and global economic activity.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05 · DATA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fourth source: realized volatility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566928" y="1371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SPECULATIVE / VOLATILITY RISK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"/>
          <p:cNvSpPr/>
          <p:nvPr/>
        </p:nvSpPr>
        <p:spPr>
          <a:xfrm>
            <a:off x="566928" y="1783080"/>
            <a:ext cx="5404104" cy="2834640"/>
          </a:xfrm>
          <a:prstGeom prst="roundRect">
            <a:avLst>
              <a:gd fmla="val 2258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3"/>
          <p:cNvSpPr/>
          <p:nvPr/>
        </p:nvSpPr>
        <p:spPr>
          <a:xfrm>
            <a:off x="786384" y="1965960"/>
            <a:ext cx="49651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What it captures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3"/>
          <p:cNvSpPr/>
          <p:nvPr/>
        </p:nvSpPr>
        <p:spPr>
          <a:xfrm>
            <a:off x="786384" y="2395728"/>
            <a:ext cx="4965192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Volatility clustering and sudden changes in speculation — the market-turbulence component of oil price risk, kept separate from the structural pricing of geopolitical threat.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6190488" y="1783080"/>
            <a:ext cx="5404104" cy="2834640"/>
          </a:xfrm>
          <a:prstGeom prst="roundRect">
            <a:avLst>
              <a:gd fmla="val 2258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6409944" y="1965960"/>
            <a:ext cx="49651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Why it adds predictive power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6409944" y="2395728"/>
            <a:ext cx="4965192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Cenesizoglu &amp; Timmermann: the distribution of returns is predictable using volatility-type state variables. Andersen, Bollerslev, Diebold &amp; Labys (2003): modelling realized volatility directly outperforms latent-variance models.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566928" y="4937760"/>
            <a:ext cx="1102766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500"/>
              <a:buFont typeface="Cambria"/>
              <a:buNone/>
            </a:pPr>
            <a:r>
              <a:rPr i="1" lang="en-US" sz="15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A model-free, observable measure — unlike the latent variance of GARCH-type models.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4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4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4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06 · SPECIFICATION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specification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566928" y="1554480"/>
            <a:ext cx="11027664" cy="1554480"/>
          </a:xfrm>
          <a:prstGeom prst="roundRect">
            <a:avLst>
              <a:gd fmla="val 4118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spec.png" id="331" name="Google Shape;33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874520"/>
            <a:ext cx="6903720" cy="34653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ssets/eq_controls.png" id="332" name="Google Shape;33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55280" y="1965960"/>
            <a:ext cx="3200400" cy="271356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4"/>
          <p:cNvSpPr/>
          <p:nvPr/>
        </p:nvSpPr>
        <p:spPr>
          <a:xfrm>
            <a:off x="822960" y="2606040"/>
            <a:ext cx="10424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τ ∈ {0.01, 0.05, 0.25, 0.50, 0.75, 0.95, 0.99} — one specification preserved across all quantiles, for simplicity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566928" y="3520440"/>
            <a:ext cx="11027664" cy="1463040"/>
          </a:xfrm>
          <a:prstGeom prst="roundRect">
            <a:avLst>
              <a:gd fmla="val 4375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822960" y="3657600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Why no more variables?  </a:t>
            </a: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To prevent multicollinearity and keep parsimony: a compact regressor set protects the tails from overfitting and keeps the quantiles comparable. (Correlation matrix of the regressors in the backup slides.)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5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5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07 · QUANTILE REGRESSION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5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quantile regression estimator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5"/>
          <p:cNvSpPr/>
          <p:nvPr/>
        </p:nvSpPr>
        <p:spPr>
          <a:xfrm>
            <a:off x="566928" y="1600200"/>
            <a:ext cx="11027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The conditional quantile function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cqf.png" id="346" name="Google Shape;34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8787" y="1938528"/>
            <a:ext cx="4363946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15"/>
          <p:cNvSpPr/>
          <p:nvPr/>
        </p:nvSpPr>
        <p:spPr>
          <a:xfrm>
            <a:off x="566928" y="2788920"/>
            <a:ext cx="11027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The asymmetric check loss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check.png" id="348" name="Google Shape;34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77143" y="3127248"/>
            <a:ext cx="4607235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15"/>
          <p:cNvSpPr/>
          <p:nvPr/>
        </p:nvSpPr>
        <p:spPr>
          <a:xfrm>
            <a:off x="566928" y="3977640"/>
            <a:ext cx="11027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The estimator (Koenker &amp; Bassett, 1978)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qr.png" id="350" name="Google Shape;350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235494" y="4343400"/>
            <a:ext cx="5690532" cy="11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6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07 · QUANTILE REGRESSION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6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In-sample estimates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6"/>
          <p:cNvSpPr/>
          <p:nvPr/>
        </p:nvSpPr>
        <p:spPr>
          <a:xfrm>
            <a:off x="1026695" y="1463040"/>
            <a:ext cx="10586185" cy="4713172"/>
          </a:xfrm>
          <a:prstGeom prst="roundRect">
            <a:avLst>
              <a:gd fmla="val 2207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forecasted scatters.png" id="361" name="Google Shape;36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6344" y="1523327"/>
            <a:ext cx="9206885" cy="3811346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16"/>
          <p:cNvSpPr/>
          <p:nvPr/>
        </p:nvSpPr>
        <p:spPr>
          <a:xfrm>
            <a:off x="1475502" y="5414691"/>
            <a:ext cx="10032142" cy="465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2000"/>
              <a:buFont typeface="Calibri"/>
              <a:buNone/>
            </a:pPr>
            <a:r>
              <a:rPr i="1" lang="en-US" sz="20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Fitted quantiles against realised returns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7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7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07 · QUANTILE REGRESSION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7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What the estimates say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7"/>
          <p:cNvSpPr/>
          <p:nvPr/>
        </p:nvSpPr>
        <p:spPr>
          <a:xfrm>
            <a:off x="566928" y="1600200"/>
            <a:ext cx="11027664" cy="1389888"/>
          </a:xfrm>
          <a:prstGeom prst="roundRect">
            <a:avLst>
              <a:gd fmla="val 460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7"/>
          <p:cNvSpPr/>
          <p:nvPr/>
        </p:nvSpPr>
        <p:spPr>
          <a:xfrm>
            <a:off x="822960" y="2075688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7"/>
          <p:cNvSpPr/>
          <p:nvPr/>
        </p:nvSpPr>
        <p:spPr>
          <a:xfrm>
            <a:off x="822960" y="20574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7"/>
          <p:cNvSpPr/>
          <p:nvPr/>
        </p:nvSpPr>
        <p:spPr>
          <a:xfrm>
            <a:off x="1481328" y="172821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Great explanatory power in the tails, little at the median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7"/>
          <p:cNvSpPr/>
          <p:nvPr/>
        </p:nvSpPr>
        <p:spPr>
          <a:xfrm>
            <a:off x="1481328" y="2112264"/>
            <a:ext cx="9811512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R¹ ≈ 0.53 and 0.56 at the 5th and 95th percentiles against 0.03 at the median. Expected, since the median daily return carries almost no signal.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7"/>
          <p:cNvSpPr/>
          <p:nvPr/>
        </p:nvSpPr>
        <p:spPr>
          <a:xfrm>
            <a:off x="566928" y="3127248"/>
            <a:ext cx="11027664" cy="1389888"/>
          </a:xfrm>
          <a:prstGeom prst="roundRect">
            <a:avLst>
              <a:gd fmla="val 460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7"/>
          <p:cNvSpPr/>
          <p:nvPr/>
        </p:nvSpPr>
        <p:spPr>
          <a:xfrm>
            <a:off x="822960" y="3602736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7"/>
          <p:cNvSpPr/>
          <p:nvPr/>
        </p:nvSpPr>
        <p:spPr>
          <a:xfrm>
            <a:off x="822960" y="358444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7"/>
          <p:cNvSpPr/>
          <p:nvPr/>
        </p:nvSpPr>
        <p:spPr>
          <a:xfrm>
            <a:off x="1481328" y="3255264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Asymmetric GPR effect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7"/>
          <p:cNvSpPr/>
          <p:nvPr/>
        </p:nvSpPr>
        <p:spPr>
          <a:xfrm>
            <a:off x="1481328" y="3639312"/>
            <a:ext cx="9811512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sign of the GPR coefficient flips between the lower and the upper tail: geopolitical stress deepens downside risk and stretches the upside simultaneously.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7"/>
          <p:cNvSpPr/>
          <p:nvPr/>
        </p:nvSpPr>
        <p:spPr>
          <a:xfrm>
            <a:off x="566928" y="4654296"/>
            <a:ext cx="11027664" cy="1389888"/>
          </a:xfrm>
          <a:prstGeom prst="roundRect">
            <a:avLst>
              <a:gd fmla="val 4605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7"/>
          <p:cNvSpPr/>
          <p:nvPr/>
        </p:nvSpPr>
        <p:spPr>
          <a:xfrm>
            <a:off x="822960" y="512978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7"/>
          <p:cNvSpPr/>
          <p:nvPr/>
        </p:nvSpPr>
        <p:spPr>
          <a:xfrm>
            <a:off x="822960" y="51114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7"/>
          <p:cNvSpPr/>
          <p:nvPr/>
        </p:nvSpPr>
        <p:spPr>
          <a:xfrm>
            <a:off x="1481328" y="4782312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But no causal conclusions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7"/>
          <p:cNvSpPr/>
          <p:nvPr/>
        </p:nvSpPr>
        <p:spPr>
          <a:xfrm>
            <a:off x="1481328" y="5166360"/>
            <a:ext cx="9811512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quantile regression alone does not identify causal effects — that requires pairing it with valid techniques such as instrumental-variable QR (Chernozhukov &amp; Hansen).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8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8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08 · DIRECT FORECASTING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8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direct forecasting problem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8"/>
          <p:cNvSpPr/>
          <p:nvPr/>
        </p:nvSpPr>
        <p:spPr>
          <a:xfrm>
            <a:off x="566928" y="1417320"/>
            <a:ext cx="11027664" cy="1280160"/>
          </a:xfrm>
          <a:prstGeom prst="roundRect">
            <a:avLst>
              <a:gd fmla="val 5000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8"/>
          <p:cNvSpPr/>
          <p:nvPr/>
        </p:nvSpPr>
        <p:spPr>
          <a:xfrm>
            <a:off x="822960" y="15544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We cannot iterate the expected value </a:t>
            </a: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as in other well-known time-series models: conditional quantiles obey no law of iterated expectations. Each forecast horizon therefore gets its own dedicated regression.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direct.png" id="398" name="Google Shape;39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41973" y="3017520"/>
            <a:ext cx="9077574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18"/>
          <p:cNvSpPr/>
          <p:nvPr/>
        </p:nvSpPr>
        <p:spPr>
          <a:xfrm>
            <a:off x="566928" y="4572000"/>
            <a:ext cx="5404104" cy="1463040"/>
          </a:xfrm>
          <a:prstGeom prst="roundRect">
            <a:avLst>
              <a:gd fmla="val 4375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8"/>
          <p:cNvSpPr/>
          <p:nvPr/>
        </p:nvSpPr>
        <p:spPr>
          <a:xfrm>
            <a:off x="786384" y="4700016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650"/>
              <a:buFont typeface="Cambria"/>
              <a:buNone/>
            </a:pPr>
            <a:r>
              <a:rPr b="1" lang="en-US" sz="165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Training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8"/>
          <p:cNvSpPr/>
          <p:nvPr/>
        </p:nvSpPr>
        <p:spPr>
          <a:xfrm>
            <a:off x="786384" y="5074920"/>
            <a:ext cx="4983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1,000-observation rolling window — around 4 years of trading data.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8"/>
          <p:cNvSpPr/>
          <p:nvPr/>
        </p:nvSpPr>
        <p:spPr>
          <a:xfrm>
            <a:off x="6190488" y="4572000"/>
            <a:ext cx="5404104" cy="1463040"/>
          </a:xfrm>
          <a:prstGeom prst="roundRect">
            <a:avLst>
              <a:gd fmla="val 4375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8"/>
          <p:cNvSpPr/>
          <p:nvPr/>
        </p:nvSpPr>
        <p:spPr>
          <a:xfrm>
            <a:off x="6409944" y="4700016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650"/>
              <a:buFont typeface="Cambria"/>
              <a:buNone/>
            </a:pPr>
            <a:r>
              <a:rPr b="1" lang="en-US" sz="165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Evaluation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8"/>
          <p:cNvSpPr/>
          <p:nvPr/>
        </p:nvSpPr>
        <p:spPr>
          <a:xfrm>
            <a:off x="6409944" y="5074920"/>
            <a:ext cx="4983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Independently evaluated on the last 3 years of data, through recursive out-of-sample estimation.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1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9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9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08 · DIRECT FORECASTING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9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horizon: h = 5 trading days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9"/>
          <p:cNvSpPr/>
          <p:nvPr/>
        </p:nvSpPr>
        <p:spPr>
          <a:xfrm>
            <a:off x="566928" y="1600200"/>
            <a:ext cx="11027664" cy="1298448"/>
          </a:xfrm>
          <a:prstGeom prst="roundRect">
            <a:avLst>
              <a:gd fmla="val 4930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9"/>
          <p:cNvSpPr/>
          <p:nvPr/>
        </p:nvSpPr>
        <p:spPr>
          <a:xfrm>
            <a:off x="822960" y="2029968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9"/>
          <p:cNvSpPr/>
          <p:nvPr/>
        </p:nvSpPr>
        <p:spPr>
          <a:xfrm>
            <a:off x="822960" y="201168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9"/>
          <p:cNvSpPr/>
          <p:nvPr/>
        </p:nvSpPr>
        <p:spPr>
          <a:xfrm>
            <a:off x="1481328" y="172821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One trading week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9"/>
          <p:cNvSpPr/>
          <p:nvPr/>
        </p:nvSpPr>
        <p:spPr>
          <a:xfrm>
            <a:off x="1481328" y="2112264"/>
            <a:ext cx="9811512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Not too short, not too long: the natural cadence for hedge and margin decisions, and short enough for the quantile signal to stay sharp.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9"/>
          <p:cNvSpPr/>
          <p:nvPr/>
        </p:nvSpPr>
        <p:spPr>
          <a:xfrm>
            <a:off x="566928" y="3035808"/>
            <a:ext cx="11027664" cy="1298448"/>
          </a:xfrm>
          <a:prstGeom prst="roundRect">
            <a:avLst>
              <a:gd fmla="val 4930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9"/>
          <p:cNvSpPr/>
          <p:nvPr/>
        </p:nvSpPr>
        <p:spPr>
          <a:xfrm>
            <a:off x="822960" y="3465576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9"/>
          <p:cNvSpPr/>
          <p:nvPr/>
        </p:nvSpPr>
        <p:spPr>
          <a:xfrm>
            <a:off x="822960" y="344728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9"/>
          <p:cNvSpPr/>
          <p:nvPr/>
        </p:nvSpPr>
        <p:spPr>
          <a:xfrm>
            <a:off x="1481328" y="3163824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One horizon for the whole pipeline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9"/>
          <p:cNvSpPr/>
          <p:nvPr/>
        </p:nvSpPr>
        <p:spPr>
          <a:xfrm>
            <a:off x="1481328" y="3547872"/>
            <a:ext cx="9811512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Applied consistently across forecasting, risk metrics and the early-warning step, so every output speaks about the same object.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9"/>
          <p:cNvSpPr/>
          <p:nvPr/>
        </p:nvSpPr>
        <p:spPr>
          <a:xfrm>
            <a:off x="566928" y="4471416"/>
            <a:ext cx="11027664" cy="1481328"/>
          </a:xfrm>
          <a:prstGeom prst="roundRect">
            <a:avLst>
              <a:gd fmla="val 4321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9"/>
          <p:cNvSpPr/>
          <p:nvPr/>
        </p:nvSpPr>
        <p:spPr>
          <a:xfrm>
            <a:off x="822960" y="499262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9"/>
          <p:cNvSpPr/>
          <p:nvPr/>
        </p:nvSpPr>
        <p:spPr>
          <a:xfrm>
            <a:off x="822960" y="497433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9"/>
          <p:cNvSpPr/>
          <p:nvPr/>
        </p:nvSpPr>
        <p:spPr>
          <a:xfrm>
            <a:off x="1481328" y="4599432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A convention, stated openly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9"/>
          <p:cNvSpPr/>
          <p:nvPr/>
        </p:nvSpPr>
        <p:spPr>
          <a:xfrm>
            <a:off x="1481328" y="4983480"/>
            <a:ext cx="9811512" cy="8412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Other horizons may be tried, and in a more rigorous approach, the model may be calibrated. 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0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08 · DIRECT FORECASTING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0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Focusing on the tails: the breach indicator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0"/>
          <p:cNvSpPr/>
          <p:nvPr/>
        </p:nvSpPr>
        <p:spPr>
          <a:xfrm>
            <a:off x="548640" y="1851660"/>
            <a:ext cx="10972801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We want a model that captures extreme tail events, so we build a proper diagnostic tool. 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breach.png" id="439" name="Google Shape;43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19011" y="2472434"/>
            <a:ext cx="4953978" cy="450092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20"/>
          <p:cNvSpPr/>
          <p:nvPr/>
        </p:nvSpPr>
        <p:spPr>
          <a:xfrm>
            <a:off x="1101766" y="2954763"/>
            <a:ext cx="9664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450"/>
              <a:buFont typeface="Calibri"/>
              <a:buNone/>
            </a:pPr>
            <a:r>
              <a:rPr i="1" lang="en-US" sz="14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One flag for upside breaches, one for downside — asymmetric effects stay visible.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0"/>
          <p:cNvSpPr/>
          <p:nvPr/>
        </p:nvSpPr>
        <p:spPr>
          <a:xfrm>
            <a:off x="630936" y="4135115"/>
            <a:ext cx="11027664" cy="960120"/>
          </a:xfrm>
          <a:prstGeom prst="roundRect">
            <a:avLst>
              <a:gd fmla="val 7619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0"/>
          <p:cNvSpPr/>
          <p:nvPr/>
        </p:nvSpPr>
        <p:spPr>
          <a:xfrm>
            <a:off x="932688" y="4226555"/>
            <a:ext cx="10424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Breaches cluster around market shakes: </a:t>
            </a:r>
            <a:r>
              <a:rPr i="1" lang="en-US" sz="1500">
                <a:solidFill>
                  <a:srgbClr val="E8A87C"/>
                </a:solidFill>
                <a:latin typeface="Calibri"/>
                <a:ea typeface="Calibri"/>
                <a:cs typeface="Calibri"/>
                <a:sym typeface="Calibri"/>
              </a:rPr>
              <a:t>the standard model systematically fails to capture tail events exactly when it matters.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1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08 · DIRECT FORECASTING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1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Focusing on the tails: the breach indicator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1"/>
          <p:cNvSpPr/>
          <p:nvPr/>
        </p:nvSpPr>
        <p:spPr>
          <a:xfrm>
            <a:off x="3045125" y="1357021"/>
            <a:ext cx="6754483" cy="4994349"/>
          </a:xfrm>
          <a:prstGeom prst="roundRect">
            <a:avLst>
              <a:gd fmla="val 1506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1"/>
          <p:cNvSpPr/>
          <p:nvPr/>
        </p:nvSpPr>
        <p:spPr>
          <a:xfrm>
            <a:off x="4307513" y="5938851"/>
            <a:ext cx="43159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Breaches of the standard model across the evaluation window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4" name="Google Shape;45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63439" y="1603909"/>
            <a:ext cx="6004117" cy="42793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2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2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08 · DIRECT FORECASTING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2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fix: giving the model memory of its failures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2"/>
          <p:cNvSpPr/>
          <p:nvPr/>
        </p:nvSpPr>
        <p:spPr>
          <a:xfrm>
            <a:off x="566928" y="1417320"/>
            <a:ext cx="11027664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We import the CAViaR models of Engle &amp; Manganelli (2004) — originally built for Value-at-Risk — into our framework: </a:t>
            </a:r>
            <a:r>
              <a:rPr b="1" lang="en-US" sz="16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two contestants that include the breach indicator among their regressors, so they can react to extreme events.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2"/>
          <p:cNvSpPr/>
          <p:nvPr/>
        </p:nvSpPr>
        <p:spPr>
          <a:xfrm>
            <a:off x="566928" y="2377440"/>
            <a:ext cx="5404104" cy="3657600"/>
          </a:xfrm>
          <a:prstGeom prst="roundRect">
            <a:avLst>
              <a:gd fmla="val 1750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2"/>
          <p:cNvSpPr/>
          <p:nvPr/>
        </p:nvSpPr>
        <p:spPr>
          <a:xfrm>
            <a:off x="786384" y="254203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Model 2 · binary indicator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2"/>
          <p:cNvSpPr/>
          <p:nvPr/>
        </p:nvSpPr>
        <p:spPr>
          <a:xfrm>
            <a:off x="786384" y="2944368"/>
            <a:ext cx="49834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breach enters as a binary variable: one flag for upside, one for downside, to control for asymmetric effects. Any breach weighs the same: size is not considered.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breach.png" id="468" name="Google Shape;46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6384" y="4754880"/>
            <a:ext cx="4983480" cy="389365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22"/>
          <p:cNvSpPr/>
          <p:nvPr/>
        </p:nvSpPr>
        <p:spPr>
          <a:xfrm>
            <a:off x="6190488" y="2377440"/>
            <a:ext cx="5404104" cy="3657600"/>
          </a:xfrm>
          <a:prstGeom prst="roundRect">
            <a:avLst>
              <a:gd fmla="val 1750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22"/>
          <p:cNvSpPr/>
          <p:nvPr/>
        </p:nvSpPr>
        <p:spPr>
          <a:xfrm>
            <a:off x="6409944" y="254203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Model 3 · breach severity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2"/>
          <p:cNvSpPr/>
          <p:nvPr/>
        </p:nvSpPr>
        <p:spPr>
          <a:xfrm>
            <a:off x="6409944" y="2944368"/>
            <a:ext cx="49834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breach enters as a continuous variable: the distance from the realised value to the closest quantile. Larger breaches get larger weight: the model adjusts for size.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sev.png" id="472" name="Google Shape;472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9944" y="4800600"/>
            <a:ext cx="4983480" cy="2949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2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3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23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08 · DIRECT FORECASTING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3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fallout audit: the contestants react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3"/>
          <p:cNvSpPr/>
          <p:nvPr/>
        </p:nvSpPr>
        <p:spPr>
          <a:xfrm>
            <a:off x="777240" y="1463040"/>
            <a:ext cx="4464045" cy="3566160"/>
          </a:xfrm>
          <a:prstGeom prst="roundRect">
            <a:avLst>
              <a:gd fmla="val 1538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caviar_i breaches and fallouts.png" id="483" name="Google Shape;48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5256" y="1591056"/>
            <a:ext cx="4208013" cy="2999232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23"/>
          <p:cNvSpPr/>
          <p:nvPr/>
        </p:nvSpPr>
        <p:spPr>
          <a:xfrm>
            <a:off x="905256" y="4608576"/>
            <a:ext cx="42080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CAViaR indicator: breaches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3"/>
          <p:cNvSpPr/>
          <p:nvPr/>
        </p:nvSpPr>
        <p:spPr>
          <a:xfrm>
            <a:off x="6309360" y="1463040"/>
            <a:ext cx="4467075" cy="3566160"/>
          </a:xfrm>
          <a:prstGeom prst="roundRect">
            <a:avLst>
              <a:gd fmla="val 1538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caviar_s breaches and fallouts.png" id="486" name="Google Shape;486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37376" y="1591056"/>
            <a:ext cx="4211043" cy="2999232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23"/>
          <p:cNvSpPr/>
          <p:nvPr/>
        </p:nvSpPr>
        <p:spPr>
          <a:xfrm>
            <a:off x="6437376" y="4608576"/>
            <a:ext cx="42110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CAViaR severity: breaches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3"/>
          <p:cNvSpPr/>
          <p:nvPr/>
        </p:nvSpPr>
        <p:spPr>
          <a:xfrm>
            <a:off x="777240" y="5296943"/>
            <a:ext cx="8503920" cy="960120"/>
          </a:xfrm>
          <a:prstGeom prst="roundRect">
            <a:avLst>
              <a:gd fmla="val 7619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3"/>
          <p:cNvSpPr/>
          <p:nvPr/>
        </p:nvSpPr>
        <p:spPr>
          <a:xfrm>
            <a:off x="1078992" y="5388383"/>
            <a:ext cx="79552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augmented models cut the number of breaches more than twice: </a:t>
            </a:r>
            <a:r>
              <a:rPr i="1" lang="en-US" sz="1500">
                <a:solidFill>
                  <a:srgbClr val="E8A87C"/>
                </a:solidFill>
                <a:latin typeface="Calibri"/>
                <a:ea typeface="Calibri"/>
                <a:cs typeface="Calibri"/>
                <a:sym typeface="Calibri"/>
              </a:rPr>
              <a:t>they capture tail events far better.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3"/>
          <p:cNvSpPr/>
          <p:nvPr/>
        </p:nvSpPr>
        <p:spPr>
          <a:xfrm>
            <a:off x="9281160" y="5320204"/>
            <a:ext cx="2103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4000"/>
              <a:buFont typeface="Cambria"/>
              <a:buNone/>
            </a:pPr>
            <a:r>
              <a:rPr b="1" i="1" lang="en-US" sz="40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But…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24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4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24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08 · DIRECT FORECASTING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4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comparison: does memory add predictive power?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4"/>
          <p:cNvSpPr/>
          <p:nvPr/>
        </p:nvSpPr>
        <p:spPr>
          <a:xfrm>
            <a:off x="566928" y="1696774"/>
            <a:ext cx="5852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Diebold–Mariano on the tick loss (τ = 0.95, h = 5)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01" name="Google Shape;501;p24"/>
          <p:cNvGraphicFramePr/>
          <p:nvPr/>
        </p:nvGraphicFramePr>
        <p:xfrm>
          <a:off x="566928" y="211627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{0585064E-28E5-438A-B72F-EB41A304CEDD}</a:tableStyleId>
              </a:tblPr>
              <a:tblGrid>
                <a:gridCol w="5235975"/>
                <a:gridCol w="2094400"/>
                <a:gridCol w="3316125"/>
              </a:tblGrid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p-value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Verdict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Standard vs CAViaR-i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0.364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difference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Standard vs CAViaR-s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0.280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difference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CAViaR-i vs CAViaR-s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0.237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difference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2" name="Google Shape;502;p24"/>
          <p:cNvSpPr/>
          <p:nvPr/>
        </p:nvSpPr>
        <p:spPr>
          <a:xfrm>
            <a:off x="566928" y="4480560"/>
            <a:ext cx="10646504" cy="1234440"/>
          </a:xfrm>
          <a:prstGeom prst="roundRect">
            <a:avLst>
              <a:gd fmla="val 5333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4"/>
          <p:cNvSpPr/>
          <p:nvPr/>
        </p:nvSpPr>
        <p:spPr>
          <a:xfrm>
            <a:off x="978568" y="4596785"/>
            <a:ext cx="10234864" cy="50099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At this horizon and quantile, the breach indicator adds no significant predictive power: the signal probably arrives too late.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4"/>
          <p:cNvSpPr/>
          <p:nvPr/>
        </p:nvSpPr>
        <p:spPr>
          <a:xfrm>
            <a:off x="978567" y="5017809"/>
            <a:ext cx="9785685" cy="476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450"/>
              <a:buFont typeface="Cambria"/>
              <a:buNone/>
            </a:pPr>
            <a:r>
              <a:rPr i="1" lang="en-US" sz="145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Disclaimer: at shorter horizons, these models may improve predictive power significantly. Pending for future steps.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2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5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25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09 · DISTRIBUTION FITTING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25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Johnson SU distribution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25"/>
          <p:cNvSpPr/>
          <p:nvPr/>
        </p:nvSpPr>
        <p:spPr>
          <a:xfrm>
            <a:off x="566928" y="1463040"/>
            <a:ext cx="110276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flexible transformation of the standard normal (this is the reduce expression):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jsu.png" id="515" name="Google Shape;51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8855" y="1920240"/>
            <a:ext cx="8783810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25"/>
          <p:cNvSpPr/>
          <p:nvPr/>
        </p:nvSpPr>
        <p:spPr>
          <a:xfrm>
            <a:off x="566928" y="3154680"/>
            <a:ext cx="2670048" cy="2377440"/>
          </a:xfrm>
          <a:prstGeom prst="roundRect">
            <a:avLst>
              <a:gd fmla="val 2692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25"/>
          <p:cNvSpPr/>
          <p:nvPr/>
        </p:nvSpPr>
        <p:spPr>
          <a:xfrm>
            <a:off x="566928" y="3337560"/>
            <a:ext cx="26700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ξ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5"/>
          <p:cNvSpPr/>
          <p:nvPr/>
        </p:nvSpPr>
        <p:spPr>
          <a:xfrm>
            <a:off x="566928" y="3977640"/>
            <a:ext cx="267004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50"/>
              <a:buFont typeface="Cambria"/>
              <a:buNone/>
            </a:pPr>
            <a:r>
              <a:rPr b="1" lang="en-US" sz="1550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Location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25"/>
          <p:cNvSpPr/>
          <p:nvPr/>
        </p:nvSpPr>
        <p:spPr>
          <a:xfrm>
            <a:off x="749808" y="4343400"/>
            <a:ext cx="230428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Centres the distribution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5"/>
          <p:cNvSpPr/>
          <p:nvPr/>
        </p:nvSpPr>
        <p:spPr>
          <a:xfrm>
            <a:off x="3355848" y="3154680"/>
            <a:ext cx="2670048" cy="2377440"/>
          </a:xfrm>
          <a:prstGeom prst="roundRect">
            <a:avLst>
              <a:gd fmla="val 2692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5"/>
          <p:cNvSpPr/>
          <p:nvPr/>
        </p:nvSpPr>
        <p:spPr>
          <a:xfrm>
            <a:off x="3355848" y="3337560"/>
            <a:ext cx="26700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λ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5"/>
          <p:cNvSpPr/>
          <p:nvPr/>
        </p:nvSpPr>
        <p:spPr>
          <a:xfrm>
            <a:off x="3355848" y="3977640"/>
            <a:ext cx="267004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50"/>
              <a:buFont typeface="Cambria"/>
              <a:buNone/>
            </a:pPr>
            <a:r>
              <a:rPr b="1" lang="en-US" sz="1550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Scale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5"/>
          <p:cNvSpPr/>
          <p:nvPr/>
        </p:nvSpPr>
        <p:spPr>
          <a:xfrm>
            <a:off x="3538728" y="4343400"/>
            <a:ext cx="230428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Stretches the distribution (proxy for std.)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5"/>
          <p:cNvSpPr/>
          <p:nvPr/>
        </p:nvSpPr>
        <p:spPr>
          <a:xfrm>
            <a:off x="6144768" y="3154680"/>
            <a:ext cx="2670048" cy="2377440"/>
          </a:xfrm>
          <a:prstGeom prst="roundRect">
            <a:avLst>
              <a:gd fmla="val 2692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5"/>
          <p:cNvSpPr/>
          <p:nvPr/>
        </p:nvSpPr>
        <p:spPr>
          <a:xfrm>
            <a:off x="6144768" y="3337560"/>
            <a:ext cx="26700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γ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5"/>
          <p:cNvSpPr/>
          <p:nvPr/>
        </p:nvSpPr>
        <p:spPr>
          <a:xfrm>
            <a:off x="6144768" y="3977640"/>
            <a:ext cx="267004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50"/>
              <a:buFont typeface="Cambria"/>
              <a:buNone/>
            </a:pPr>
            <a:r>
              <a:rPr b="1" lang="en-US" sz="1550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Skewness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25"/>
          <p:cNvSpPr/>
          <p:nvPr/>
        </p:nvSpPr>
        <p:spPr>
          <a:xfrm>
            <a:off x="6327648" y="4343400"/>
            <a:ext cx="230428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Tilts the distribution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5"/>
          <p:cNvSpPr/>
          <p:nvPr/>
        </p:nvSpPr>
        <p:spPr>
          <a:xfrm>
            <a:off x="8933688" y="3154680"/>
            <a:ext cx="2670048" cy="2377440"/>
          </a:xfrm>
          <a:prstGeom prst="roundRect">
            <a:avLst>
              <a:gd fmla="val 2692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5"/>
          <p:cNvSpPr/>
          <p:nvPr/>
        </p:nvSpPr>
        <p:spPr>
          <a:xfrm>
            <a:off x="8933688" y="3337560"/>
            <a:ext cx="26700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δ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5"/>
          <p:cNvSpPr/>
          <p:nvPr/>
        </p:nvSpPr>
        <p:spPr>
          <a:xfrm>
            <a:off x="8933688" y="3977640"/>
            <a:ext cx="267004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50"/>
              <a:buFont typeface="Cambria"/>
              <a:buNone/>
            </a:pPr>
            <a:r>
              <a:rPr b="1" lang="en-US" sz="1550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Tail weight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5"/>
          <p:cNvSpPr/>
          <p:nvPr/>
        </p:nvSpPr>
        <p:spPr>
          <a:xfrm>
            <a:off x="9116568" y="4343400"/>
            <a:ext cx="230428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Governs the heaviness of the tails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2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6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09 · DISTRIBUTION FITTING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6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Why the Johnson SU?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6"/>
          <p:cNvSpPr/>
          <p:nvPr/>
        </p:nvSpPr>
        <p:spPr>
          <a:xfrm>
            <a:off x="566928" y="1691640"/>
            <a:ext cx="11027664" cy="1600200"/>
          </a:xfrm>
          <a:prstGeom prst="roundRect">
            <a:avLst>
              <a:gd fmla="val 4000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6"/>
          <p:cNvSpPr/>
          <p:nvPr/>
        </p:nvSpPr>
        <p:spPr>
          <a:xfrm>
            <a:off x="822960" y="227228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6"/>
          <p:cNvSpPr/>
          <p:nvPr/>
        </p:nvSpPr>
        <p:spPr>
          <a:xfrm>
            <a:off x="822960" y="22539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26"/>
          <p:cNvSpPr/>
          <p:nvPr/>
        </p:nvSpPr>
        <p:spPr>
          <a:xfrm>
            <a:off x="1481328" y="181965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Independent shape control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6"/>
          <p:cNvSpPr/>
          <p:nvPr/>
        </p:nvSpPr>
        <p:spPr>
          <a:xfrm>
            <a:off x="1481328" y="2203704"/>
            <a:ext cx="9811512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γ drives skewness and δ drives tail weight, independently: the family tracks the asymmetric tail rotations of oil — right tail fattening under supply threats, left under demand collapses — and nests the Gaussian as a limit.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6"/>
          <p:cNvSpPr/>
          <p:nvPr/>
        </p:nvSpPr>
        <p:spPr>
          <a:xfrm>
            <a:off x="566928" y="3520440"/>
            <a:ext cx="11027664" cy="1600200"/>
          </a:xfrm>
          <a:prstGeom prst="roundRect">
            <a:avLst>
              <a:gd fmla="val 4000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26"/>
          <p:cNvSpPr/>
          <p:nvPr/>
        </p:nvSpPr>
        <p:spPr>
          <a:xfrm>
            <a:off x="822960" y="410108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6"/>
          <p:cNvSpPr/>
          <p:nvPr/>
        </p:nvSpPr>
        <p:spPr>
          <a:xfrm>
            <a:off x="822960" y="40827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6"/>
          <p:cNvSpPr/>
          <p:nvPr/>
        </p:nvSpPr>
        <p:spPr>
          <a:xfrm>
            <a:off x="1481328" y="364845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Versatile and field-tested for asset returns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26"/>
          <p:cNvSpPr/>
          <p:nvPr/>
        </p:nvSpPr>
        <p:spPr>
          <a:xfrm>
            <a:off x="1481328" y="4032504"/>
            <a:ext cx="9811512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One of the most used distributions for modelling financial returns, precisely because it accounts for skewness and tail weight. The canonical skewed-t is not estimated here — no head-to-head is claimed.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7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7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09 · DISTRIBUTION FITTING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27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Fitting with seven points: Minimum Distance Estimation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7"/>
          <p:cNvSpPr/>
          <p:nvPr/>
        </p:nvSpPr>
        <p:spPr>
          <a:xfrm>
            <a:off x="566928" y="1417320"/>
            <a:ext cx="11027664" cy="1280160"/>
          </a:xfrm>
          <a:prstGeom prst="roundRect">
            <a:avLst>
              <a:gd fmla="val 5000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27"/>
          <p:cNvSpPr/>
          <p:nvPr/>
        </p:nvSpPr>
        <p:spPr>
          <a:xfrm>
            <a:off x="822960" y="15544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Why not Maximum Likelihood?  </a:t>
            </a: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At each origin we observe only K = 7 predicted quantiles — not a sample of future returns. MDE fits the theoretical quantile function to that forecast skeleton instead.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mde.png" id="562" name="Google Shape;56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30486" y="2971800"/>
            <a:ext cx="5700547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27"/>
          <p:cNvSpPr/>
          <p:nvPr/>
        </p:nvSpPr>
        <p:spPr>
          <a:xfrm>
            <a:off x="566928" y="4251960"/>
            <a:ext cx="5404104" cy="1737360"/>
          </a:xfrm>
          <a:prstGeom prst="roundRect">
            <a:avLst>
              <a:gd fmla="val 3684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7"/>
          <p:cNvSpPr/>
          <p:nvPr/>
        </p:nvSpPr>
        <p:spPr>
          <a:xfrm>
            <a:off x="786384" y="4379976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650"/>
              <a:buFont typeface="Cambria"/>
              <a:buNone/>
            </a:pPr>
            <a:r>
              <a:rPr b="1" lang="en-US" sz="165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Configuration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7"/>
          <p:cNvSpPr/>
          <p:nvPr/>
        </p:nvSpPr>
        <p:spPr>
          <a:xfrm>
            <a:off x="786384" y="4754880"/>
            <a:ext cx="49834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lang="en-US" sz="15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ξ starts at the median forecast, λ at the IQR, γ = 0, δ = 1 — a symmetric prior the optimiser refines. Equal weights; tolerance 10⁻¹⁰.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7"/>
          <p:cNvSpPr/>
          <p:nvPr/>
        </p:nvSpPr>
        <p:spPr>
          <a:xfrm>
            <a:off x="6190488" y="4251960"/>
            <a:ext cx="5404104" cy="1737360"/>
          </a:xfrm>
          <a:prstGeom prst="roundRect">
            <a:avLst>
              <a:gd fmla="val 3684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7"/>
          <p:cNvSpPr/>
          <p:nvPr/>
        </p:nvSpPr>
        <p:spPr>
          <a:xfrm>
            <a:off x="6409944" y="4379976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650"/>
              <a:buFont typeface="Cambria"/>
              <a:buNone/>
            </a:pPr>
            <a:r>
              <a:rPr b="1" lang="en-US" sz="165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Training &amp; refresh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7"/>
          <p:cNvSpPr/>
          <p:nvPr/>
        </p:nvSpPr>
        <p:spPr>
          <a:xfrm>
            <a:off x="6409944" y="4754880"/>
            <a:ext cx="49834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lang="en-US" sz="15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Same 1,000-day rolling training window as the forecasting step; the quantile coefficients are retrained every 30 out-of-sample days.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2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8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29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8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09 · DISTRIBUTION FITTING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8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Is the fit any good? The PIT test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pit.png" id="578" name="Google Shape;57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41659" y="1417320"/>
            <a:ext cx="8478203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79" name="Google Shape;579;p28"/>
          <p:cNvSpPr/>
          <p:nvPr/>
        </p:nvSpPr>
        <p:spPr>
          <a:xfrm>
            <a:off x="841248" y="2057400"/>
            <a:ext cx="10515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PIT measures where each realised return lands within the forecast distribution (Diebold, Gunther &amp; Tay, 1998). Under a perfectly calibrated model, the PIT sequence behaves as a Uniform(0,1) — tested with a Kolmogorov–Smirnov test on the out-of-sample PITs.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28"/>
          <p:cNvSpPr/>
          <p:nvPr/>
        </p:nvSpPr>
        <p:spPr>
          <a:xfrm>
            <a:off x="1600200" y="2971800"/>
            <a:ext cx="4709160" cy="3362030"/>
          </a:xfrm>
          <a:prstGeom prst="roundRect">
            <a:avLst>
              <a:gd fmla="val 1632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pit U(0,1) test.png" id="581" name="Google Shape;58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28216" y="3099816"/>
            <a:ext cx="4453128" cy="2795102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28"/>
          <p:cNvSpPr/>
          <p:nvPr/>
        </p:nvSpPr>
        <p:spPr>
          <a:xfrm>
            <a:off x="1728216" y="5913206"/>
            <a:ext cx="44531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PIT histogram vs U(0,1)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28"/>
          <p:cNvSpPr/>
          <p:nvPr/>
        </p:nvSpPr>
        <p:spPr>
          <a:xfrm>
            <a:off x="6903720" y="2971800"/>
            <a:ext cx="3042830" cy="3401568"/>
          </a:xfrm>
          <a:prstGeom prst="roundRect">
            <a:avLst>
              <a:gd fmla="val 1803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pit diagonal test.png" id="584" name="Google Shape;584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31736" y="3099816"/>
            <a:ext cx="2786798" cy="2834640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28"/>
          <p:cNvSpPr/>
          <p:nvPr/>
        </p:nvSpPr>
        <p:spPr>
          <a:xfrm>
            <a:off x="7031736" y="5952744"/>
            <a:ext cx="27867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Empirical vs theoretical CDF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29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29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09 · DISTRIBUTION FITTING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29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result: a full forecasted density, every day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9"/>
          <p:cNvSpPr/>
          <p:nvPr/>
        </p:nvSpPr>
        <p:spPr>
          <a:xfrm>
            <a:off x="3520440" y="1417320"/>
            <a:ext cx="4330374" cy="4572000"/>
          </a:xfrm>
          <a:prstGeom prst="roundRect">
            <a:avLst>
              <a:gd fmla="val 1267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in sample predicted distribution at 5 step aheads.png" id="596" name="Google Shape;59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48456" y="1545336"/>
            <a:ext cx="4074342" cy="4005072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29"/>
          <p:cNvSpPr/>
          <p:nvPr/>
        </p:nvSpPr>
        <p:spPr>
          <a:xfrm>
            <a:off x="3648456" y="5568696"/>
            <a:ext cx="40743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Twenty years of daily conditional densities for Brent returns at h = 5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3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30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31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3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10 · RISK METRICS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30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Reading risk off the density: VaR, ES, skewness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30"/>
          <p:cNvSpPr/>
          <p:nvPr/>
        </p:nvSpPr>
        <p:spPr>
          <a:xfrm>
            <a:off x="566928" y="1508760"/>
            <a:ext cx="3529584" cy="4114800"/>
          </a:xfrm>
          <a:prstGeom prst="roundRect">
            <a:avLst>
              <a:gd fmla="val 1813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30"/>
          <p:cNvSpPr/>
          <p:nvPr/>
        </p:nvSpPr>
        <p:spPr>
          <a:xfrm>
            <a:off x="768096" y="1673352"/>
            <a:ext cx="31272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Value-at-Risk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30"/>
          <p:cNvSpPr/>
          <p:nvPr/>
        </p:nvSpPr>
        <p:spPr>
          <a:xfrm>
            <a:off x="768096" y="2130552"/>
            <a:ext cx="3127248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α-quantile of the fitted JSU, computed for both tails, they need not move together. Already an h-day VaR: no √t scaling.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var.png" id="610" name="Google Shape;61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8096" y="4572000"/>
            <a:ext cx="3127248" cy="42537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30"/>
          <p:cNvSpPr/>
          <p:nvPr/>
        </p:nvSpPr>
        <p:spPr>
          <a:xfrm>
            <a:off x="4315968" y="1508760"/>
            <a:ext cx="3529584" cy="4114800"/>
          </a:xfrm>
          <a:prstGeom prst="roundRect">
            <a:avLst>
              <a:gd fmla="val 1813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30"/>
          <p:cNvSpPr/>
          <p:nvPr/>
        </p:nvSpPr>
        <p:spPr>
          <a:xfrm>
            <a:off x="4517136" y="1673352"/>
            <a:ext cx="31272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Expected Shortfall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30"/>
          <p:cNvSpPr/>
          <p:nvPr/>
        </p:nvSpPr>
        <p:spPr>
          <a:xfrm>
            <a:off x="4517136" y="2130552"/>
            <a:ext cx="3127248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average loss beyond VaR, coherent (sub-additive) and the Basel III FRTB standard; quoted at 97.5% confidence.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es.png" id="614" name="Google Shape;614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7136" y="4572000"/>
            <a:ext cx="3127248" cy="211812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30"/>
          <p:cNvSpPr/>
          <p:nvPr/>
        </p:nvSpPr>
        <p:spPr>
          <a:xfrm>
            <a:off x="8065008" y="1508760"/>
            <a:ext cx="3529584" cy="4114800"/>
          </a:xfrm>
          <a:prstGeom prst="roundRect">
            <a:avLst>
              <a:gd fmla="val 1813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30"/>
          <p:cNvSpPr/>
          <p:nvPr/>
        </p:nvSpPr>
        <p:spPr>
          <a:xfrm>
            <a:off x="8266176" y="1673352"/>
            <a:ext cx="31272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Skewness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30"/>
          <p:cNvSpPr/>
          <p:nvPr/>
        </p:nvSpPr>
        <p:spPr>
          <a:xfrm>
            <a:off x="8266176" y="2130552"/>
            <a:ext cx="3127248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Closed-form Fisher skewness of the JSU: which way is the balance of risks tilted, supply-threat upside or demand-collapse downside?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30"/>
          <p:cNvSpPr/>
          <p:nvPr/>
        </p:nvSpPr>
        <p:spPr>
          <a:xfrm>
            <a:off x="566928" y="5852160"/>
            <a:ext cx="1102766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50"/>
              <a:buFont typeface="Cambria"/>
              <a:buNone/>
            </a:pPr>
            <a:r>
              <a:rPr i="1" lang="en-US" sz="145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Benchmarked against a rolling 1,000-day historical simulation: divergence means the model sees a shift that recent history has not yet absorbed.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3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3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32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31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10 · RISK METRICS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31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main metric: relative entropy (KL divergence)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31"/>
          <p:cNvSpPr/>
          <p:nvPr/>
        </p:nvSpPr>
        <p:spPr>
          <a:xfrm>
            <a:off x="566928" y="1417320"/>
            <a:ext cx="1102766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Kullback &amp; Leibler (1951): how far a density has moved from a reference state, the whole shape, not a single point on it.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kl.png" id="629" name="Google Shape;629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15984" y="1965960"/>
            <a:ext cx="7329552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31"/>
          <p:cNvSpPr/>
          <p:nvPr/>
        </p:nvSpPr>
        <p:spPr>
          <a:xfrm>
            <a:off x="566928" y="3246120"/>
            <a:ext cx="1102766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Computed over three regions of the distribution: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31"/>
          <p:cNvSpPr/>
          <p:nvPr/>
        </p:nvSpPr>
        <p:spPr>
          <a:xfrm>
            <a:off x="566928" y="3703320"/>
            <a:ext cx="3529584" cy="1874520"/>
          </a:xfrm>
          <a:prstGeom prst="roundRect">
            <a:avLst>
              <a:gd fmla="val 341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1"/>
          <p:cNvSpPr/>
          <p:nvPr/>
        </p:nvSpPr>
        <p:spPr>
          <a:xfrm>
            <a:off x="768096" y="3840480"/>
            <a:ext cx="31272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Full divergence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31"/>
          <p:cNvSpPr/>
          <p:nvPr/>
        </p:nvSpPr>
        <p:spPr>
          <a:xfrm>
            <a:off x="768096" y="4224528"/>
            <a:ext cx="3127248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entire distribution: the aggregate shift of the forecast density away from the reference.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31"/>
          <p:cNvSpPr/>
          <p:nvPr/>
        </p:nvSpPr>
        <p:spPr>
          <a:xfrm>
            <a:off x="4315968" y="3703320"/>
            <a:ext cx="3529584" cy="1874520"/>
          </a:xfrm>
          <a:prstGeom prst="roundRect">
            <a:avLst>
              <a:gd fmla="val 3415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31"/>
          <p:cNvSpPr/>
          <p:nvPr/>
        </p:nvSpPr>
        <p:spPr>
          <a:xfrm>
            <a:off x="4517136" y="3840480"/>
            <a:ext cx="31272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Right-tail divergence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31"/>
          <p:cNvSpPr/>
          <p:nvPr/>
        </p:nvSpPr>
        <p:spPr>
          <a:xfrm>
            <a:off x="4517136" y="4224528"/>
            <a:ext cx="3127248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Computed over the 0.90 – 0.99 quantile region: upside stress — supply threats and geopolitical escalation.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31"/>
          <p:cNvSpPr/>
          <p:nvPr/>
        </p:nvSpPr>
        <p:spPr>
          <a:xfrm>
            <a:off x="8065008" y="3703320"/>
            <a:ext cx="3529584" cy="1874520"/>
          </a:xfrm>
          <a:prstGeom prst="roundRect">
            <a:avLst>
              <a:gd fmla="val 3415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31"/>
          <p:cNvSpPr/>
          <p:nvPr/>
        </p:nvSpPr>
        <p:spPr>
          <a:xfrm>
            <a:off x="8266176" y="3840480"/>
            <a:ext cx="31272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Left-tail divergence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31"/>
          <p:cNvSpPr/>
          <p:nvPr/>
        </p:nvSpPr>
        <p:spPr>
          <a:xfrm>
            <a:off x="8266176" y="4224528"/>
            <a:ext cx="3127248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Computed over the 0.01 – 0.10 quantile region: downside stress — demand collapses and risk-off episodes.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31"/>
          <p:cNvSpPr/>
          <p:nvPr/>
        </p:nvSpPr>
        <p:spPr>
          <a:xfrm>
            <a:off x="566928" y="5760720"/>
            <a:ext cx="11027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50"/>
              <a:buFont typeface="Calibri"/>
              <a:buNone/>
            </a:pPr>
            <a:r>
              <a:rPr i="1" lang="en-US" sz="11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Disclaimer: the tail intervals are a convention — a more robust approach would test which intervals yield the best results.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3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32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33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32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10 · RISK METRICS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32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Two candidate reference states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32"/>
          <p:cNvSpPr/>
          <p:nvPr/>
        </p:nvSpPr>
        <p:spPr>
          <a:xfrm>
            <a:off x="566928" y="1600200"/>
            <a:ext cx="5404104" cy="3840480"/>
          </a:xfrm>
          <a:prstGeom prst="roundRect">
            <a:avLst>
              <a:gd fmla="val 166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32"/>
          <p:cNvSpPr/>
          <p:nvPr/>
        </p:nvSpPr>
        <p:spPr>
          <a:xfrm>
            <a:off x="786384" y="1783080"/>
            <a:ext cx="4937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800"/>
              <a:buFont typeface="Cambria"/>
              <a:buNone/>
            </a:pPr>
            <a:r>
              <a:rPr b="1" lang="en-US" sz="18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unconditional density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32"/>
          <p:cNvSpPr/>
          <p:nvPr/>
        </p:nvSpPr>
        <p:spPr>
          <a:xfrm>
            <a:off x="786384" y="2240280"/>
            <a:ext cx="49834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Johnson SU fitted by Maximum Likelihood to the historical returns in the rolling window: the market's long-run distribution, as the data describe it.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32"/>
          <p:cNvSpPr/>
          <p:nvPr/>
        </p:nvSpPr>
        <p:spPr>
          <a:xfrm>
            <a:off x="786384" y="4251960"/>
            <a:ext cx="4983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450"/>
              <a:buFont typeface="Calibri"/>
              <a:buNone/>
            </a:pPr>
            <a:r>
              <a:rPr i="1" lang="en-US" sz="14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Divergence reads as: how far are current conditions from the historical norm?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32"/>
          <p:cNvSpPr/>
          <p:nvPr/>
        </p:nvSpPr>
        <p:spPr>
          <a:xfrm>
            <a:off x="6190488" y="1600200"/>
            <a:ext cx="5404104" cy="3840480"/>
          </a:xfrm>
          <a:prstGeom prst="roundRect">
            <a:avLst>
              <a:gd fmla="val 1667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32"/>
          <p:cNvSpPr/>
          <p:nvPr/>
        </p:nvSpPr>
        <p:spPr>
          <a:xfrm>
            <a:off x="6409944" y="1783080"/>
            <a:ext cx="4937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800"/>
              <a:buFont typeface="Cambria"/>
              <a:buNone/>
            </a:pPr>
            <a:r>
              <a:rPr b="1" lang="en-US" sz="18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The Normal density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32"/>
          <p:cNvSpPr/>
          <p:nvPr/>
        </p:nvSpPr>
        <p:spPr>
          <a:xfrm>
            <a:off x="6409944" y="2240280"/>
            <a:ext cx="49834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distribution usually assumed to produce fan charts and density forecasts — and the JSU's own parent: the SU family collapses to the Gaussian in the limit.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32"/>
          <p:cNvSpPr/>
          <p:nvPr/>
        </p:nvSpPr>
        <p:spPr>
          <a:xfrm>
            <a:off x="6409944" y="4251960"/>
            <a:ext cx="4983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450"/>
              <a:buFont typeface="Calibri"/>
              <a:buNone/>
            </a:pPr>
            <a:r>
              <a:rPr i="1" lang="en-US" sz="14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Divergence reads as: how non-Gaussian — how fat-tailed and tilted — have the forecast densities become?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3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33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34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33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10 · RISK METRICS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33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What the unconditional distribution looks like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33"/>
          <p:cNvSpPr/>
          <p:nvPr/>
        </p:nvSpPr>
        <p:spPr>
          <a:xfrm>
            <a:off x="621792" y="1600200"/>
            <a:ext cx="5081611" cy="3749040"/>
          </a:xfrm>
          <a:prstGeom prst="roundRect">
            <a:avLst>
              <a:gd fmla="val 1463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historical fitted JSU through MLE.png" id="668" name="Google Shape;668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1728216"/>
            <a:ext cx="4825579" cy="3182112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33"/>
          <p:cNvSpPr/>
          <p:nvPr/>
        </p:nvSpPr>
        <p:spPr>
          <a:xfrm>
            <a:off x="749808" y="4928616"/>
            <a:ext cx="48255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The unconditional JSU, fitted by MLE: heavy-tailed, near-symmetric centre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33"/>
          <p:cNvSpPr/>
          <p:nvPr/>
        </p:nvSpPr>
        <p:spPr>
          <a:xfrm>
            <a:off x="6035040" y="1600200"/>
            <a:ext cx="5345946" cy="3749040"/>
          </a:xfrm>
          <a:prstGeom prst="roundRect">
            <a:avLst>
              <a:gd fmla="val 1463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skewness.png" id="671" name="Google Shape;671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056" y="1728216"/>
            <a:ext cx="5089914" cy="3182112"/>
          </a:xfrm>
          <a:prstGeom prst="rect">
            <a:avLst/>
          </a:prstGeom>
          <a:noFill/>
          <a:ln>
            <a:noFill/>
          </a:ln>
        </p:spPr>
      </p:pic>
      <p:sp>
        <p:nvSpPr>
          <p:cNvPr id="672" name="Google Shape;672;p33"/>
          <p:cNvSpPr/>
          <p:nvPr/>
        </p:nvSpPr>
        <p:spPr>
          <a:xfrm>
            <a:off x="6163056" y="4928616"/>
            <a:ext cx="508991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Rolling skewness of the unconditional JSU: negative and drifting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33"/>
          <p:cNvSpPr/>
          <p:nvPr/>
        </p:nvSpPr>
        <p:spPr>
          <a:xfrm>
            <a:off x="1463040" y="5943600"/>
            <a:ext cx="9235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unconditional fit is strongly heavy-tailed — and its skewness is not constant: it drifts with the market regime.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34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4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35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34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10 · RISK METRICS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34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verdict: use the Normal as baseline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34"/>
          <p:cNvSpPr/>
          <p:nvPr/>
        </p:nvSpPr>
        <p:spPr>
          <a:xfrm>
            <a:off x="566928" y="1600200"/>
            <a:ext cx="11027664" cy="1389888"/>
          </a:xfrm>
          <a:prstGeom prst="roundRect">
            <a:avLst>
              <a:gd fmla="val 460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34"/>
          <p:cNvSpPr/>
          <p:nvPr/>
        </p:nvSpPr>
        <p:spPr>
          <a:xfrm>
            <a:off x="822960" y="2075688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34"/>
          <p:cNvSpPr/>
          <p:nvPr/>
        </p:nvSpPr>
        <p:spPr>
          <a:xfrm>
            <a:off x="822960" y="20574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34"/>
          <p:cNvSpPr/>
          <p:nvPr/>
        </p:nvSpPr>
        <p:spPr>
          <a:xfrm>
            <a:off x="1481328" y="172821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natural baseline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34"/>
          <p:cNvSpPr/>
          <p:nvPr/>
        </p:nvSpPr>
        <p:spPr>
          <a:xfrm>
            <a:off x="1481328" y="2112264"/>
            <a:ext cx="9811512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Johnson SU nests the Normal, and the Normal is the distribution usually assumed when producing fan charts and density forecasts, a natural reference state.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34"/>
          <p:cNvSpPr/>
          <p:nvPr/>
        </p:nvSpPr>
        <p:spPr>
          <a:xfrm>
            <a:off x="566928" y="3127248"/>
            <a:ext cx="11027664" cy="1389888"/>
          </a:xfrm>
          <a:prstGeom prst="roundRect">
            <a:avLst>
              <a:gd fmla="val 460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4"/>
          <p:cNvSpPr/>
          <p:nvPr/>
        </p:nvSpPr>
        <p:spPr>
          <a:xfrm>
            <a:off x="822960" y="3602736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34"/>
          <p:cNvSpPr/>
          <p:nvPr/>
        </p:nvSpPr>
        <p:spPr>
          <a:xfrm>
            <a:off x="822960" y="358444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34"/>
          <p:cNvSpPr/>
          <p:nvPr/>
        </p:nvSpPr>
        <p:spPr>
          <a:xfrm>
            <a:off x="1481328" y="3255264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unconditional density embeds risk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34"/>
          <p:cNvSpPr/>
          <p:nvPr/>
        </p:nvSpPr>
        <p:spPr>
          <a:xfrm>
            <a:off x="1481328" y="3639312"/>
            <a:ext cx="9811512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It absorbs skewness and heavy tails, which are risks in themselves, so measuring divergence against it may understate the risk metrics.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34"/>
          <p:cNvSpPr/>
          <p:nvPr/>
        </p:nvSpPr>
        <p:spPr>
          <a:xfrm>
            <a:off x="566928" y="4654296"/>
            <a:ext cx="11027664" cy="1389888"/>
          </a:xfrm>
          <a:prstGeom prst="roundRect">
            <a:avLst>
              <a:gd fmla="val 4605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34"/>
          <p:cNvSpPr/>
          <p:nvPr/>
        </p:nvSpPr>
        <p:spPr>
          <a:xfrm>
            <a:off x="822960" y="512978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34"/>
          <p:cNvSpPr/>
          <p:nvPr/>
        </p:nvSpPr>
        <p:spPr>
          <a:xfrm>
            <a:off x="822960" y="51114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34"/>
          <p:cNvSpPr/>
          <p:nvPr/>
        </p:nvSpPr>
        <p:spPr>
          <a:xfrm>
            <a:off x="1481328" y="4782312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So divergence from the Normal reads cleanly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34"/>
          <p:cNvSpPr/>
          <p:nvPr/>
        </p:nvSpPr>
        <p:spPr>
          <a:xfrm>
            <a:off x="1481328" y="5166360"/>
            <a:ext cx="9811512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Tail fattening and tilt: exactly the risks a vulnerability metric should detect, not absorb into its reference.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3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35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36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35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11 · EARLY WARNING SYSTEM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35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Does the entropy predict? The hypothesis and the tests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35"/>
          <p:cNvSpPr/>
          <p:nvPr/>
        </p:nvSpPr>
        <p:spPr>
          <a:xfrm>
            <a:off x="566928" y="1508760"/>
            <a:ext cx="11027664" cy="1371600"/>
          </a:xfrm>
          <a:prstGeom prst="roundRect">
            <a:avLst>
              <a:gd fmla="val 5333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35"/>
          <p:cNvSpPr/>
          <p:nvPr/>
        </p:nvSpPr>
        <p:spPr>
          <a:xfrm>
            <a:off x="868680" y="1627632"/>
            <a:ext cx="1042416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A87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E8A87C"/>
                </a:solidFill>
                <a:latin typeface="Calibri"/>
                <a:ea typeface="Calibri"/>
                <a:cs typeface="Calibri"/>
                <a:sym typeface="Calibri"/>
              </a:rPr>
              <a:t>HYPOTHESIS   </a:t>
            </a:r>
            <a:r>
              <a:rPr i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entropy, computed from the forecasted distribution, carries predictive power over oil prices. Since we forecast five days ahead, we should expect at least five days of lead.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5"/>
          <p:cNvSpPr/>
          <p:nvPr/>
        </p:nvSpPr>
        <p:spPr>
          <a:xfrm>
            <a:off x="566928" y="3200400"/>
            <a:ext cx="5404104" cy="2651760"/>
          </a:xfrm>
          <a:prstGeom prst="roundRect">
            <a:avLst>
              <a:gd fmla="val 2414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35"/>
          <p:cNvSpPr/>
          <p:nvPr/>
        </p:nvSpPr>
        <p:spPr>
          <a:xfrm>
            <a:off x="786384" y="3383280"/>
            <a:ext cx="4937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Test 1 · Cross-Correlation Function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5"/>
          <p:cNvSpPr/>
          <p:nvPr/>
        </p:nvSpPr>
        <p:spPr>
          <a:xfrm>
            <a:off x="786384" y="3840480"/>
            <a:ext cx="49834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correlation between returns and the entropy — first-differenced to make it stationary. If the entropy warns early, it should correlate more with future returns than with the past or the present.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35"/>
          <p:cNvSpPr/>
          <p:nvPr/>
        </p:nvSpPr>
        <p:spPr>
          <a:xfrm>
            <a:off x="6190488" y="3200400"/>
            <a:ext cx="5404104" cy="2651760"/>
          </a:xfrm>
          <a:prstGeom prst="roundRect">
            <a:avLst>
              <a:gd fmla="val 2414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35"/>
          <p:cNvSpPr/>
          <p:nvPr/>
        </p:nvSpPr>
        <p:spPr>
          <a:xfrm>
            <a:off x="6409944" y="3383280"/>
            <a:ext cx="4937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Test 2 · Granger causality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35"/>
          <p:cNvSpPr/>
          <p:nvPr/>
        </p:nvSpPr>
        <p:spPr>
          <a:xfrm>
            <a:off x="6409944" y="3840480"/>
            <a:ext cx="49834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second opinion: does the entropy help predict oil returns beyond what their own history already provides?.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3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3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6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11 · EARLY WARNING SYSTEM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36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Results: the entropy leads Brent returns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36"/>
          <p:cNvSpPr/>
          <p:nvPr/>
        </p:nvSpPr>
        <p:spPr>
          <a:xfrm>
            <a:off x="566928" y="1508760"/>
            <a:ext cx="5259072" cy="4114800"/>
          </a:xfrm>
          <a:prstGeom prst="roundRect">
            <a:avLst>
              <a:gd fmla="val 1333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ccf.png" id="725" name="Google Shape;725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4944" y="1636776"/>
            <a:ext cx="5003040" cy="3547872"/>
          </a:xfrm>
          <a:prstGeom prst="rect">
            <a:avLst/>
          </a:prstGeom>
          <a:noFill/>
          <a:ln>
            <a:noFill/>
          </a:ln>
        </p:spPr>
      </p:pic>
      <p:sp>
        <p:nvSpPr>
          <p:cNvPr id="726" name="Google Shape;726;p36"/>
          <p:cNvSpPr/>
          <p:nvPr/>
        </p:nvSpPr>
        <p:spPr>
          <a:xfrm>
            <a:off x="694944" y="5202936"/>
            <a:ext cx="500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CCF: all peaks at strictly positive lags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27" name="Google Shape;727;p36"/>
          <p:cNvGraphicFramePr/>
          <p:nvPr/>
        </p:nvGraphicFramePr>
        <p:xfrm>
          <a:off x="6492240" y="160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{0585064E-28E5-438A-B72F-EB41A304CEDD}</a:tableStyleId>
              </a:tblPr>
              <a:tblGrid>
                <a:gridCol w="1554475"/>
                <a:gridCol w="914400"/>
                <a:gridCol w="914400"/>
                <a:gridCol w="914400"/>
                <a:gridCol w="822950"/>
              </a:tblGrid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Indicator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CCF peak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 at peak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Granger F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50"/>
                        <a:buFont typeface="Calibri"/>
                        <a:buNone/>
                      </a:pPr>
                      <a:r>
                        <a:rPr b="0" lang="en-US" sz="125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Right-tail entropy</a:t>
                      </a:r>
                      <a:endParaRPr b="0" sz="125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+6 days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−0.250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≈ 29.6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chemeClr val="accent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Full entropy</a:t>
                      </a:r>
                      <a:endParaRPr b="1" sz="1250" u="none" cap="none" strike="noStrike">
                        <a:solidFill>
                          <a:schemeClr val="accent2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+14 days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−0.229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≈ 29.4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Left-tail entropy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+16 days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−0.110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≈ 5.2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28" name="Google Shape;728;p36"/>
          <p:cNvSpPr/>
          <p:nvPr/>
        </p:nvSpPr>
        <p:spPr>
          <a:xfrm>
            <a:off x="6492240" y="3977640"/>
            <a:ext cx="5120640" cy="960120"/>
          </a:xfrm>
          <a:prstGeom prst="roundRect">
            <a:avLst>
              <a:gd fmla="val 6667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36"/>
          <p:cNvSpPr/>
          <p:nvPr/>
        </p:nvSpPr>
        <p:spPr>
          <a:xfrm>
            <a:off x="6693408" y="406908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entropy leads Brent returns by 6 to 16 days, depending on the metric; all Granger-significant at the 1% level.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6"/>
          <p:cNvSpPr/>
          <p:nvPr/>
        </p:nvSpPr>
        <p:spPr>
          <a:xfrm>
            <a:off x="6492240" y="5074920"/>
            <a:ext cx="5120640" cy="1051560"/>
          </a:xfrm>
          <a:prstGeom prst="roundRect">
            <a:avLst>
              <a:gd fmla="val 608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36"/>
          <p:cNvSpPr/>
          <p:nvPr/>
        </p:nvSpPr>
        <p:spPr>
          <a:xfrm>
            <a:off x="6693408" y="5166360"/>
            <a:ext cx="47548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Part of the lead is expected; the entropy comes from a 5-step-ahead forecast. But the lead exceeds it: the forecast is truly forecasting.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3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7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38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37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12 · CONCLUSIONS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7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Conclusions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7"/>
          <p:cNvSpPr/>
          <p:nvPr/>
        </p:nvSpPr>
        <p:spPr>
          <a:xfrm>
            <a:off x="566928" y="1554480"/>
            <a:ext cx="11027664" cy="1389888"/>
          </a:xfrm>
          <a:prstGeom prst="roundRect">
            <a:avLst>
              <a:gd fmla="val 460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7"/>
          <p:cNvSpPr/>
          <p:nvPr/>
        </p:nvSpPr>
        <p:spPr>
          <a:xfrm>
            <a:off x="822960" y="2029968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7"/>
          <p:cNvSpPr/>
          <p:nvPr/>
        </p:nvSpPr>
        <p:spPr>
          <a:xfrm>
            <a:off x="822960" y="201168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37"/>
          <p:cNvSpPr/>
          <p:nvPr/>
        </p:nvSpPr>
        <p:spPr>
          <a:xfrm>
            <a:off x="1481328" y="168249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methodology travels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7"/>
          <p:cNvSpPr/>
          <p:nvPr/>
        </p:nvSpPr>
        <p:spPr>
          <a:xfrm>
            <a:off x="1481328" y="2066544"/>
            <a:ext cx="9811512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It can measure the vulnerability of many indicators to different sources of risk, this thesis is one application, and within it many possibilities remain to be explored.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7"/>
          <p:cNvSpPr/>
          <p:nvPr/>
        </p:nvSpPr>
        <p:spPr>
          <a:xfrm>
            <a:off x="566928" y="3081528"/>
            <a:ext cx="11027664" cy="1389888"/>
          </a:xfrm>
          <a:prstGeom prst="roundRect">
            <a:avLst>
              <a:gd fmla="val 460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7"/>
          <p:cNvSpPr/>
          <p:nvPr/>
        </p:nvSpPr>
        <p:spPr>
          <a:xfrm>
            <a:off x="822960" y="3557016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7"/>
          <p:cNvSpPr/>
          <p:nvPr/>
        </p:nvSpPr>
        <p:spPr>
          <a:xfrm>
            <a:off x="822960" y="353872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7"/>
          <p:cNvSpPr/>
          <p:nvPr/>
        </p:nvSpPr>
        <p:spPr>
          <a:xfrm>
            <a:off x="1481328" y="3209544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Forecast-based</a:t>
            </a: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entropy carries predictive power</a:t>
            </a:r>
            <a:endParaRPr/>
          </a:p>
        </p:txBody>
      </p:sp>
      <p:sp>
        <p:nvSpPr>
          <p:cNvPr id="750" name="Google Shape;750;p37"/>
          <p:cNvSpPr/>
          <p:nvPr/>
        </p:nvSpPr>
        <p:spPr>
          <a:xfrm>
            <a:off x="1481328" y="3593592"/>
            <a:ext cx="9811512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KL divergence computed from forecasted quantiles leads the target variable — with a lead longer than the forecast horizon — even in high-frequency, volatile markets.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37"/>
          <p:cNvSpPr/>
          <p:nvPr/>
        </p:nvSpPr>
        <p:spPr>
          <a:xfrm>
            <a:off x="566928" y="4608576"/>
            <a:ext cx="11027664" cy="1389888"/>
          </a:xfrm>
          <a:prstGeom prst="roundRect">
            <a:avLst>
              <a:gd fmla="val 460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37"/>
          <p:cNvSpPr/>
          <p:nvPr/>
        </p:nvSpPr>
        <p:spPr>
          <a:xfrm>
            <a:off x="822960" y="508406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37"/>
          <p:cNvSpPr/>
          <p:nvPr/>
        </p:nvSpPr>
        <p:spPr>
          <a:xfrm>
            <a:off x="822960" y="506577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37"/>
          <p:cNvSpPr/>
          <p:nvPr/>
        </p:nvSpPr>
        <p:spPr>
          <a:xfrm>
            <a:off x="1481328" y="4736592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scope is bounded by the regressors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37"/>
          <p:cNvSpPr/>
          <p:nvPr/>
        </p:nvSpPr>
        <p:spPr>
          <a:xfrm>
            <a:off x="1481328" y="5120640"/>
            <a:ext cx="9811512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Ours capture geopolitical and market risks, so the entropy reacts early to those: it may have no predictive power over other kinds of events. Other risk sources can be added to the specification.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38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39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38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EXAMPLE 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38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quantile forecast at the eve of the Iran war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38"/>
          <p:cNvSpPr/>
          <p:nvPr/>
        </p:nvSpPr>
        <p:spPr>
          <a:xfrm>
            <a:off x="2423160" y="1463040"/>
            <a:ext cx="6892980" cy="4526280"/>
          </a:xfrm>
          <a:prstGeom prst="roundRect">
            <a:avLst>
              <a:gd fmla="val 1212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in sample direct forecasting - Iran Wars Eve.png" id="766" name="Google Shape;766;p38"/>
          <p:cNvPicPr preferRelativeResize="0"/>
          <p:nvPr/>
        </p:nvPicPr>
        <p:blipFill rotWithShape="1">
          <a:blip r:embed="rId3">
            <a:alphaModFix/>
          </a:blip>
          <a:srcRect b="0" l="3543" r="0" t="0"/>
          <a:stretch/>
        </p:blipFill>
        <p:spPr>
          <a:xfrm>
            <a:off x="2668754" y="1591056"/>
            <a:ext cx="6401792" cy="3959352"/>
          </a:xfrm>
          <a:prstGeom prst="rect">
            <a:avLst/>
          </a:prstGeom>
          <a:noFill/>
          <a:ln>
            <a:noFill/>
          </a:ln>
        </p:spPr>
      </p:pic>
      <p:sp>
        <p:nvSpPr>
          <p:cNvPr id="767" name="Google Shape;767;p38"/>
          <p:cNvSpPr/>
          <p:nvPr/>
        </p:nvSpPr>
        <p:spPr>
          <a:xfrm>
            <a:off x="2551176" y="5568696"/>
            <a:ext cx="66369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Realised Brent returns against the forecast quantile envelope around the escalation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3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39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40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39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EXAMPLE 2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39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KL divergence vs Brent at the eve of the Ukraine war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39"/>
          <p:cNvSpPr/>
          <p:nvPr/>
        </p:nvSpPr>
        <p:spPr>
          <a:xfrm>
            <a:off x="1978510" y="5487871"/>
            <a:ext cx="7223760" cy="4917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500"/>
              <a:buFont typeface="Calibri"/>
              <a:buNone/>
            </a:pPr>
            <a:r>
              <a:rPr lang="en-US" sz="15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KL divergence against Brent prices, zoomed on the eve of the Ukraine war (early 2022)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78" name="Google Shape;778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13191" y="1566384"/>
            <a:ext cx="8800299" cy="39214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40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41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4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13 · SOFTWARE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40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Python module: architecture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40"/>
          <p:cNvSpPr/>
          <p:nvPr/>
        </p:nvSpPr>
        <p:spPr>
          <a:xfrm>
            <a:off x="777240" y="1828800"/>
            <a:ext cx="3291840" cy="1234440"/>
          </a:xfrm>
          <a:prstGeom prst="roundRect">
            <a:avLst>
              <a:gd fmla="val 5185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40"/>
          <p:cNvSpPr/>
          <p:nvPr/>
        </p:nvSpPr>
        <p:spPr>
          <a:xfrm>
            <a:off x="914400" y="195681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data &amp; preprocessing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40"/>
          <p:cNvSpPr/>
          <p:nvPr/>
        </p:nvSpPr>
        <p:spPr>
          <a:xfrm>
            <a:off x="914400" y="2450592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E2EE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D6E2EE"/>
                </a:solidFill>
                <a:latin typeface="Calibri"/>
                <a:ea typeface="Calibri"/>
                <a:cs typeface="Calibri"/>
                <a:sym typeface="Calibri"/>
              </a:rPr>
              <a:t>alignment, returns, MA construction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40"/>
          <p:cNvSpPr/>
          <p:nvPr/>
        </p:nvSpPr>
        <p:spPr>
          <a:xfrm>
            <a:off x="4142232" y="2212848"/>
            <a:ext cx="365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40"/>
          <p:cNvSpPr/>
          <p:nvPr/>
        </p:nvSpPr>
        <p:spPr>
          <a:xfrm>
            <a:off x="4572000" y="1828800"/>
            <a:ext cx="3291840" cy="1234440"/>
          </a:xfrm>
          <a:prstGeom prst="roundRect">
            <a:avLst>
              <a:gd fmla="val 5185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40"/>
          <p:cNvSpPr/>
          <p:nvPr/>
        </p:nvSpPr>
        <p:spPr>
          <a:xfrm>
            <a:off x="4709160" y="195681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quantile engine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40"/>
          <p:cNvSpPr/>
          <p:nvPr/>
        </p:nvSpPr>
        <p:spPr>
          <a:xfrm>
            <a:off x="4709160" y="2450592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E2EE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D6E2EE"/>
                </a:solidFill>
                <a:latin typeface="Calibri"/>
                <a:ea typeface="Calibri"/>
                <a:cs typeface="Calibri"/>
                <a:sym typeface="Calibri"/>
              </a:rPr>
              <a:t>standard + CAViaR-augmented specifications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40"/>
          <p:cNvSpPr/>
          <p:nvPr/>
        </p:nvSpPr>
        <p:spPr>
          <a:xfrm>
            <a:off x="7936992" y="2212848"/>
            <a:ext cx="365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40"/>
          <p:cNvSpPr/>
          <p:nvPr/>
        </p:nvSpPr>
        <p:spPr>
          <a:xfrm>
            <a:off x="8366760" y="1828800"/>
            <a:ext cx="3291840" cy="1234440"/>
          </a:xfrm>
          <a:prstGeom prst="roundRect">
            <a:avLst>
              <a:gd fmla="val 5185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40"/>
          <p:cNvSpPr/>
          <p:nvPr/>
        </p:nvSpPr>
        <p:spPr>
          <a:xfrm>
            <a:off x="8503920" y="195681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direct forecasting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40"/>
          <p:cNvSpPr/>
          <p:nvPr/>
        </p:nvSpPr>
        <p:spPr>
          <a:xfrm>
            <a:off x="8503920" y="2450592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E2EE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D6E2EE"/>
                </a:solidFill>
                <a:latin typeface="Calibri"/>
                <a:ea typeface="Calibri"/>
                <a:cs typeface="Calibri"/>
                <a:sym typeface="Calibri"/>
              </a:rPr>
              <a:t>rolling windows, horizon grid, recursive OOS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40"/>
          <p:cNvSpPr/>
          <p:nvPr/>
        </p:nvSpPr>
        <p:spPr>
          <a:xfrm>
            <a:off x="777240" y="3566160"/>
            <a:ext cx="3291840" cy="1234440"/>
          </a:xfrm>
          <a:prstGeom prst="roundRect">
            <a:avLst>
              <a:gd fmla="val 5185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40"/>
          <p:cNvSpPr/>
          <p:nvPr/>
        </p:nvSpPr>
        <p:spPr>
          <a:xfrm>
            <a:off x="914400" y="369417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distribution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40"/>
          <p:cNvSpPr/>
          <p:nvPr/>
        </p:nvSpPr>
        <p:spPr>
          <a:xfrm>
            <a:off x="914400" y="4187952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E2EE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D6E2EE"/>
                </a:solidFill>
                <a:latin typeface="Calibri"/>
                <a:ea typeface="Calibri"/>
                <a:cs typeface="Calibri"/>
                <a:sym typeface="Calibri"/>
              </a:rPr>
              <a:t>Johnson SU fitting by MDE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40"/>
          <p:cNvSpPr/>
          <p:nvPr/>
        </p:nvSpPr>
        <p:spPr>
          <a:xfrm>
            <a:off x="4142232" y="3950208"/>
            <a:ext cx="365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40"/>
          <p:cNvSpPr/>
          <p:nvPr/>
        </p:nvSpPr>
        <p:spPr>
          <a:xfrm>
            <a:off x="4572000" y="3566160"/>
            <a:ext cx="3291840" cy="1234440"/>
          </a:xfrm>
          <a:prstGeom prst="roundRect">
            <a:avLst>
              <a:gd fmla="val 5185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40"/>
          <p:cNvSpPr/>
          <p:nvPr/>
        </p:nvSpPr>
        <p:spPr>
          <a:xfrm>
            <a:off x="4709160" y="369417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risk metrics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40"/>
          <p:cNvSpPr/>
          <p:nvPr/>
        </p:nvSpPr>
        <p:spPr>
          <a:xfrm>
            <a:off x="4709160" y="4187952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E2EE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D6E2EE"/>
                </a:solidFill>
                <a:latin typeface="Calibri"/>
                <a:ea typeface="Calibri"/>
                <a:cs typeface="Calibri"/>
                <a:sym typeface="Calibri"/>
              </a:rPr>
              <a:t>VaR · ES · skewness · KL divergence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40"/>
          <p:cNvSpPr/>
          <p:nvPr/>
        </p:nvSpPr>
        <p:spPr>
          <a:xfrm>
            <a:off x="7936992" y="3950208"/>
            <a:ext cx="365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40"/>
          <p:cNvSpPr/>
          <p:nvPr/>
        </p:nvSpPr>
        <p:spPr>
          <a:xfrm>
            <a:off x="8366760" y="3566160"/>
            <a:ext cx="3291840" cy="1234440"/>
          </a:xfrm>
          <a:prstGeom prst="roundRect">
            <a:avLst>
              <a:gd fmla="val 5185" name="adj"/>
            </a:avLst>
          </a:prstGeom>
          <a:solidFill>
            <a:srgbClr val="C2561F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40"/>
          <p:cNvSpPr/>
          <p:nvPr/>
        </p:nvSpPr>
        <p:spPr>
          <a:xfrm>
            <a:off x="8503920" y="369417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backtesting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40"/>
          <p:cNvSpPr/>
          <p:nvPr/>
        </p:nvSpPr>
        <p:spPr>
          <a:xfrm>
            <a:off x="8503920" y="4187952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E2EE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D6E2EE"/>
                </a:solidFill>
                <a:latin typeface="Calibri"/>
                <a:ea typeface="Calibri"/>
                <a:cs typeface="Calibri"/>
                <a:sym typeface="Calibri"/>
              </a:rPr>
              <a:t>Kupiec · DM · PIT · DQ · fallout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40"/>
          <p:cNvSpPr/>
          <p:nvPr/>
        </p:nvSpPr>
        <p:spPr>
          <a:xfrm>
            <a:off x="10241280" y="31546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40"/>
          <p:cNvSpPr/>
          <p:nvPr/>
        </p:nvSpPr>
        <p:spPr>
          <a:xfrm>
            <a:off x="566928" y="5212080"/>
            <a:ext cx="110276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500"/>
              <a:buFont typeface="Cambria"/>
              <a:buNone/>
            </a:pPr>
            <a:r>
              <a:rPr i="1" lang="en-US" sz="15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Six modules, one pipeline: each step consumes the previous step's output — and each can be swapped without touching the rest.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4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4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41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41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13 · SOFTWARE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41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Python module: architecture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1" name="Google Shape;821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27614" y="1234440"/>
            <a:ext cx="5936771" cy="51130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6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4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42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42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42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13 · SOFTWARE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42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Open source, ready to replicate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42"/>
          <p:cNvSpPr/>
          <p:nvPr/>
        </p:nvSpPr>
        <p:spPr>
          <a:xfrm>
            <a:off x="566928" y="1508760"/>
            <a:ext cx="7040880" cy="4480560"/>
          </a:xfrm>
          <a:prstGeom prst="roundRect">
            <a:avLst>
              <a:gd fmla="val 1429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42"/>
          <p:cNvSpPr/>
          <p:nvPr/>
        </p:nvSpPr>
        <p:spPr>
          <a:xfrm>
            <a:off x="822960" y="1737360"/>
            <a:ext cx="653796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Few ready-to-use tools existed for this pipeline — so most were designed from scratch for this thesis.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Char char="•"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Notebook-driven analysis on top of a tested package core (unit tests included).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Char char="•"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Every figure and table in the thesis is reproducible from the repository.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Char char="•"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Modular: swap the distribution family, the regressors, or the horizon grid without touching the evaluation layer.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Char char="•"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Available for replication — and for extending the framework to other research.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42"/>
          <p:cNvSpPr/>
          <p:nvPr/>
        </p:nvSpPr>
        <p:spPr>
          <a:xfrm>
            <a:off x="7955280" y="1508760"/>
            <a:ext cx="3657600" cy="4480560"/>
          </a:xfrm>
          <a:prstGeom prst="roundRect">
            <a:avLst>
              <a:gd fmla="val 2000" name="adj"/>
            </a:avLst>
          </a:prstGeom>
          <a:solidFill>
            <a:srgbClr val="14304D"/>
          </a:solidFill>
          <a:ln>
            <a:noFill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qr_github.png" id="834" name="Google Shape;834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41080" y="1874520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5" name="Google Shape;835;p42"/>
          <p:cNvSpPr/>
          <p:nvPr/>
        </p:nvSpPr>
        <p:spPr>
          <a:xfrm>
            <a:off x="8138160" y="44348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D8E8"/>
              </a:buClr>
              <a:buSzPts val="1150"/>
              <a:buFont typeface="Courier New"/>
              <a:buNone/>
            </a:pPr>
            <a:r>
              <a:rPr lang="en-US" sz="1150">
                <a:solidFill>
                  <a:srgbClr val="C9D8E8"/>
                </a:solidFill>
                <a:latin typeface="Courier New"/>
                <a:ea typeface="Courier New"/>
                <a:cs typeface="Courier New"/>
                <a:sym typeface="Courier New"/>
              </a:rPr>
              <a:t>github.com/Alejandro-bot-one/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42"/>
          <p:cNvSpPr/>
          <p:nvPr/>
        </p:nvSpPr>
        <p:spPr>
          <a:xfrm>
            <a:off x="8138160" y="47091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ourier New"/>
              <a:buNone/>
            </a:pPr>
            <a:r>
              <a:rPr b="1" lang="en-US" sz="16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Oil-at-Risk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42"/>
          <p:cNvSpPr/>
          <p:nvPr/>
        </p:nvSpPr>
        <p:spPr>
          <a:xfrm>
            <a:off x="8138160" y="512064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A8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E8A87C"/>
                </a:solidFill>
                <a:latin typeface="Calibri"/>
                <a:ea typeface="Calibri"/>
                <a:cs typeface="Calibri"/>
                <a:sym typeface="Calibri"/>
              </a:rPr>
              <a:t>scan to visit the repository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4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" name="Google Shape;844;p43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43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43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14 · NEXT STEPS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43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Where this goes next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43"/>
          <p:cNvSpPr/>
          <p:nvPr/>
        </p:nvSpPr>
        <p:spPr>
          <a:xfrm>
            <a:off x="566928" y="1600200"/>
            <a:ext cx="11027664" cy="1481328"/>
          </a:xfrm>
          <a:prstGeom prst="roundRect">
            <a:avLst>
              <a:gd fmla="val 4321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43"/>
          <p:cNvSpPr/>
          <p:nvPr/>
        </p:nvSpPr>
        <p:spPr>
          <a:xfrm>
            <a:off x="822960" y="2121408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43"/>
          <p:cNvSpPr/>
          <p:nvPr/>
        </p:nvSpPr>
        <p:spPr>
          <a:xfrm>
            <a:off x="822960" y="21031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43"/>
          <p:cNvSpPr/>
          <p:nvPr/>
        </p:nvSpPr>
        <p:spPr>
          <a:xfrm>
            <a:off x="1481328" y="172821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From predictive to causal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43"/>
          <p:cNvSpPr/>
          <p:nvPr/>
        </p:nvSpPr>
        <p:spPr>
          <a:xfrm>
            <a:off x="1481328" y="2112264"/>
            <a:ext cx="9811512" cy="8412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With some changes the framework can take a causal orientation — generalised quantile regression (Powell, 2020) or quantile local projections (Wojciechowski, 2025). A completely different thesis, deserving its own research.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43"/>
          <p:cNvSpPr/>
          <p:nvPr/>
        </p:nvSpPr>
        <p:spPr>
          <a:xfrm>
            <a:off x="566928" y="3218688"/>
            <a:ext cx="11027664" cy="1481328"/>
          </a:xfrm>
          <a:prstGeom prst="roundRect">
            <a:avLst>
              <a:gd fmla="val 4321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43"/>
          <p:cNvSpPr/>
          <p:nvPr/>
        </p:nvSpPr>
        <p:spPr>
          <a:xfrm>
            <a:off x="822960" y="3739896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43"/>
          <p:cNvSpPr/>
          <p:nvPr/>
        </p:nvSpPr>
        <p:spPr>
          <a:xfrm>
            <a:off x="822960" y="372160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43"/>
          <p:cNvSpPr/>
          <p:nvPr/>
        </p:nvSpPr>
        <p:spPr>
          <a:xfrm>
            <a:off x="1481328" y="3346704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More specifications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43"/>
          <p:cNvSpPr/>
          <p:nvPr/>
        </p:nvSpPr>
        <p:spPr>
          <a:xfrm>
            <a:off x="1481328" y="3730752"/>
            <a:ext cx="9811512" cy="8412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This is one of many configurations to try. The CAViaR models remain to be explored at shorter horizons — they may not forecast better, yet still yield a better early warning system.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43"/>
          <p:cNvSpPr/>
          <p:nvPr/>
        </p:nvSpPr>
        <p:spPr>
          <a:xfrm>
            <a:off x="566928" y="4837176"/>
            <a:ext cx="11027664" cy="1481328"/>
          </a:xfrm>
          <a:prstGeom prst="roundRect">
            <a:avLst>
              <a:gd fmla="val 4321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" name="Google Shape;858;p43"/>
          <p:cNvSpPr/>
          <p:nvPr/>
        </p:nvSpPr>
        <p:spPr>
          <a:xfrm>
            <a:off x="822960" y="535838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43"/>
          <p:cNvSpPr/>
          <p:nvPr/>
        </p:nvSpPr>
        <p:spPr>
          <a:xfrm>
            <a:off x="822960" y="53400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" name="Google Shape;860;p43"/>
          <p:cNvSpPr/>
          <p:nvPr/>
        </p:nvSpPr>
        <p:spPr>
          <a:xfrm>
            <a:off x="1481328" y="4965192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Calibration of arbitrary decisions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" name="Google Shape;861;p43"/>
          <p:cNvSpPr/>
          <p:nvPr/>
        </p:nvSpPr>
        <p:spPr>
          <a:xfrm>
            <a:off x="1481328" y="5349240"/>
            <a:ext cx="9811512" cy="8412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Choices such as the tail-entropy intervals or the 7-day moving-average window can be calibrated to obtain even better results.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304D"/>
        </a:solidFill>
      </p:bgPr>
    </p:bg>
    <p:spTree>
      <p:nvGrpSpPr>
        <p:cNvPr id="866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44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68" name="Google Shape;868;p44"/>
          <p:cNvCxnSpPr/>
          <p:nvPr/>
        </p:nvCxnSpPr>
        <p:spPr>
          <a:xfrm>
            <a:off x="640080" y="2606040"/>
            <a:ext cx="3291840" cy="1028700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p44"/>
          <p:cNvCxnSpPr/>
          <p:nvPr/>
        </p:nvCxnSpPr>
        <p:spPr>
          <a:xfrm>
            <a:off x="640080" y="2958084"/>
            <a:ext cx="3291840" cy="651510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p44"/>
          <p:cNvCxnSpPr/>
          <p:nvPr/>
        </p:nvCxnSpPr>
        <p:spPr>
          <a:xfrm>
            <a:off x="640080" y="3278124"/>
            <a:ext cx="3291840" cy="308610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p44"/>
          <p:cNvCxnSpPr/>
          <p:nvPr/>
        </p:nvCxnSpPr>
        <p:spPr>
          <a:xfrm>
            <a:off x="640080" y="3566160"/>
            <a:ext cx="3291840" cy="0"/>
          </a:xfrm>
          <a:prstGeom prst="straightConnector1">
            <a:avLst/>
          </a:prstGeom>
          <a:noFill/>
          <a:ln cap="flat" cmpd="sng" w="25400">
            <a:solidFill>
              <a:srgbClr val="F5F0E8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72" name="Google Shape;872;p44"/>
          <p:cNvCxnSpPr/>
          <p:nvPr/>
        </p:nvCxnSpPr>
        <p:spPr>
          <a:xfrm>
            <a:off x="640080" y="3854196"/>
            <a:ext cx="3291840" cy="0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3" name="Google Shape;873;p44"/>
          <p:cNvCxnSpPr/>
          <p:nvPr/>
        </p:nvCxnSpPr>
        <p:spPr>
          <a:xfrm>
            <a:off x="640080" y="4174236"/>
            <a:ext cx="3291840" cy="0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4" name="Google Shape;874;p44"/>
          <p:cNvCxnSpPr/>
          <p:nvPr/>
        </p:nvCxnSpPr>
        <p:spPr>
          <a:xfrm>
            <a:off x="640080" y="4526280"/>
            <a:ext cx="3291840" cy="0"/>
          </a:xfrm>
          <a:prstGeom prst="straightConnector1">
            <a:avLst/>
          </a:prstGeom>
          <a:noFill/>
          <a:ln cap="flat" cmpd="sng" w="12700">
            <a:solidFill>
              <a:srgbClr val="3A5A7C">
                <a:alpha val="54901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875" name="Google Shape;875;p44"/>
          <p:cNvSpPr/>
          <p:nvPr/>
        </p:nvSpPr>
        <p:spPr>
          <a:xfrm>
            <a:off x="566928" y="123444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87C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E8A87C"/>
                </a:solidFill>
                <a:latin typeface="Calibri"/>
                <a:ea typeface="Calibri"/>
                <a:cs typeface="Calibri"/>
                <a:sym typeface="Calibri"/>
              </a:rPr>
              <a:t>OIL-AT-RISK · MASTER THESIS DEFENSE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44"/>
          <p:cNvSpPr/>
          <p:nvPr/>
        </p:nvSpPr>
        <p:spPr>
          <a:xfrm>
            <a:off x="566928" y="173736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Cambria"/>
              <a:buNone/>
            </a:pPr>
            <a:r>
              <a:rPr b="1" lang="en-US" sz="5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you.</a:t>
            </a:r>
            <a:endParaRPr sz="5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44"/>
          <p:cNvSpPr/>
          <p:nvPr/>
        </p:nvSpPr>
        <p:spPr>
          <a:xfrm>
            <a:off x="566928" y="29718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8E8"/>
              </a:buClr>
              <a:buSzPts val="1800"/>
              <a:buFont typeface="Cambria"/>
              <a:buNone/>
            </a:pPr>
            <a:r>
              <a:rPr i="1" lang="en-US" sz="1800">
                <a:solidFill>
                  <a:srgbClr val="C9D8E8"/>
                </a:solidFill>
                <a:latin typeface="Cambria"/>
                <a:ea typeface="Cambria"/>
                <a:cs typeface="Cambria"/>
                <a:sym typeface="Cambria"/>
              </a:rPr>
              <a:t>Any advice is more than welcome — and I will be really glad to hear your questions.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44"/>
          <p:cNvSpPr/>
          <p:nvPr/>
        </p:nvSpPr>
        <p:spPr>
          <a:xfrm>
            <a:off x="566928" y="4892040"/>
            <a:ext cx="8229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J. Alejandro Rodríguez Garrido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Clr>
                <a:srgbClr val="C9D8E8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C9D8E8"/>
                </a:solidFill>
                <a:latin typeface="Calibri"/>
                <a:ea typeface="Calibri"/>
                <a:cs typeface="Calibri"/>
                <a:sym typeface="Calibri"/>
              </a:rPr>
              <a:t>Universidad Autónoma de Madrid · MSc in Quantitative Economic Analysis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Clr>
                <a:srgbClr val="E8A87C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E8A87C"/>
                </a:solidFill>
                <a:latin typeface="Calibri"/>
                <a:ea typeface="Calibri"/>
                <a:cs typeface="Calibri"/>
                <a:sym typeface="Calibri"/>
              </a:rPr>
              <a:t>github.com/Alejandro-bot-one/Oil-at-Risk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883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45"/>
          <p:cNvSpPr/>
          <p:nvPr/>
        </p:nvSpPr>
        <p:spPr>
          <a:xfrm>
            <a:off x="566928" y="265176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4400"/>
              <a:buFont typeface="Cambria"/>
              <a:buNone/>
            </a:pPr>
            <a:r>
              <a:rPr b="1" lang="en-US" sz="4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Backup slides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45"/>
          <p:cNvSpPr/>
          <p:nvPr/>
        </p:nvSpPr>
        <p:spPr>
          <a:xfrm>
            <a:off x="1097280" y="3657600"/>
            <a:ext cx="9966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The MA-7 window · collinearity · QR optimisation, hypotheses &amp; diagnostics · causality · iteration &amp; horizons · thresholds and ROC · breach-model disclaimer · Kupiec · DQ · entropy internals — followed by the math annex with every test statistic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4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" name="Google Shape;892;p4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46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46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THE MA-7 WINDOW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46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7-day moving average, in detail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46"/>
          <p:cNvSpPr/>
          <p:nvPr/>
        </p:nvSpPr>
        <p:spPr>
          <a:xfrm>
            <a:off x="566928" y="1554480"/>
            <a:ext cx="11027664" cy="1188720"/>
          </a:xfrm>
          <a:prstGeom prst="roundRect">
            <a:avLst>
              <a:gd fmla="val 538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" name="Google Shape;896;p46"/>
          <p:cNvSpPr/>
          <p:nvPr/>
        </p:nvSpPr>
        <p:spPr>
          <a:xfrm>
            <a:off x="822960" y="192938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46"/>
          <p:cNvSpPr/>
          <p:nvPr/>
        </p:nvSpPr>
        <p:spPr>
          <a:xfrm>
            <a:off x="822960" y="19110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" name="Google Shape;898;p46"/>
          <p:cNvSpPr/>
          <p:nvPr/>
        </p:nvSpPr>
        <p:spPr>
          <a:xfrm>
            <a:off x="1481328" y="168249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Two goals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46"/>
          <p:cNvSpPr/>
          <p:nvPr/>
        </p:nvSpPr>
        <p:spPr>
          <a:xfrm>
            <a:off x="1481328" y="2066544"/>
            <a:ext cx="981151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Smooth the raw daily indicator, and capture the time structure of risk transmission through the news cycle — stress builds over days, not in one session.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Google Shape;900;p46"/>
          <p:cNvSpPr/>
          <p:nvPr/>
        </p:nvSpPr>
        <p:spPr>
          <a:xfrm>
            <a:off x="566928" y="2880360"/>
            <a:ext cx="11027664" cy="1325880"/>
          </a:xfrm>
          <a:prstGeom prst="roundRect">
            <a:avLst>
              <a:gd fmla="val 4828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Google Shape;901;p46"/>
          <p:cNvSpPr/>
          <p:nvPr/>
        </p:nvSpPr>
        <p:spPr>
          <a:xfrm>
            <a:off x="822960" y="332384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46"/>
          <p:cNvSpPr/>
          <p:nvPr/>
        </p:nvSpPr>
        <p:spPr>
          <a:xfrm>
            <a:off x="822960" y="330555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46"/>
          <p:cNvSpPr/>
          <p:nvPr/>
        </p:nvSpPr>
        <p:spPr>
          <a:xfrm>
            <a:off x="1481328" y="300837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window trade-off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46"/>
          <p:cNvSpPr/>
          <p:nvPr/>
        </p:nvSpPr>
        <p:spPr>
          <a:xfrm>
            <a:off x="1481328" y="3392424"/>
            <a:ext cx="9811512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Large enough to smooth the indicator; short enough not to induce excessive autocorrelation — we do not want to carry too much memory into the future in such a volatile index.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46"/>
          <p:cNvSpPr/>
          <p:nvPr/>
        </p:nvSpPr>
        <p:spPr>
          <a:xfrm>
            <a:off x="566928" y="4343400"/>
            <a:ext cx="11027664" cy="1463040"/>
          </a:xfrm>
          <a:prstGeom prst="roundRect">
            <a:avLst>
              <a:gd fmla="val 4375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46"/>
          <p:cNvSpPr/>
          <p:nvPr/>
        </p:nvSpPr>
        <p:spPr>
          <a:xfrm>
            <a:off x="822960" y="485546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46"/>
          <p:cNvSpPr/>
          <p:nvPr/>
        </p:nvSpPr>
        <p:spPr>
          <a:xfrm>
            <a:off x="822960" y="483717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46"/>
          <p:cNvSpPr/>
          <p:nvPr/>
        </p:nvSpPr>
        <p:spPr>
          <a:xfrm>
            <a:off x="1481328" y="447141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How the length was chosen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" name="Google Shape;909;p46"/>
          <p:cNvSpPr/>
          <p:nvPr/>
        </p:nvSpPr>
        <p:spPr>
          <a:xfrm>
            <a:off x="1481328" y="4855464"/>
            <a:ext cx="98115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Candidate windows were assessed through the loss function at the operative horizon, giving an interval of near-optimal lengths. Among them, we chose the one matching a natural trading week — 7 calendar days ≈ 5 trading days.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4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4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47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47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07 · QUANTILE REGRESSION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p47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coefficients across quantiles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47"/>
          <p:cNvSpPr/>
          <p:nvPr/>
        </p:nvSpPr>
        <p:spPr>
          <a:xfrm>
            <a:off x="566928" y="1600200"/>
            <a:ext cx="352958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550"/>
              <a:buFont typeface="Cambria"/>
              <a:buNone/>
            </a:pPr>
            <a:r>
              <a:rPr b="1" lang="en-US" sz="155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τ = 0.05   ·   R¹ = 0.531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20" name="Google Shape;920;p47"/>
          <p:cNvGraphicFramePr/>
          <p:nvPr/>
        </p:nvGraphicFramePr>
        <p:xfrm>
          <a:off x="566928" y="20116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{0585064E-28E5-438A-B72F-EB41A304CEDD}</a:tableStyleId>
              </a:tblPr>
              <a:tblGrid>
                <a:gridCol w="1554475"/>
                <a:gridCol w="1371600"/>
                <a:gridCol w="603500"/>
              </a:tblGrid>
              <a:tr h="475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Regressor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Coefficient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GPRD_MA7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−0.00028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561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C2561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***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Realized Vol.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−0.18722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561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C2561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***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BDI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+0.00126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561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C2561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*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USD Index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−0.09284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561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C2561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***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1" name="Google Shape;921;p47"/>
          <p:cNvSpPr/>
          <p:nvPr/>
        </p:nvSpPr>
        <p:spPr>
          <a:xfrm>
            <a:off x="4315968" y="1600200"/>
            <a:ext cx="352958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550"/>
              <a:buFont typeface="Cambria"/>
              <a:buNone/>
            </a:pPr>
            <a:r>
              <a:rPr b="1" lang="en-US" sz="1550">
                <a:solidFill>
                  <a:srgbClr val="5B6B7C"/>
                </a:solidFill>
                <a:latin typeface="Cambria"/>
                <a:ea typeface="Cambria"/>
                <a:cs typeface="Cambria"/>
                <a:sym typeface="Cambria"/>
              </a:rPr>
              <a:t>τ = 0.50   ·   R¹ = 0.034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22" name="Google Shape;922;p47"/>
          <p:cNvGraphicFramePr/>
          <p:nvPr/>
        </p:nvGraphicFramePr>
        <p:xfrm>
          <a:off x="4315968" y="20116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{0585064E-28E5-438A-B72F-EB41A304CEDD}</a:tableStyleId>
              </a:tblPr>
              <a:tblGrid>
                <a:gridCol w="1554475"/>
                <a:gridCol w="1371600"/>
                <a:gridCol w="603500"/>
              </a:tblGrid>
              <a:tr h="475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Regressor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Coefficient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GPRD_MA7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−0.00020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50"/>
                        <a:buFont typeface="Calibri"/>
                        <a:buNone/>
                      </a:pPr>
                      <a:r>
                        <a:t/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Realized Vol.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+0.01963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561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C2561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***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BDI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+0.01535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50"/>
                        <a:buFont typeface="Calibri"/>
                        <a:buNone/>
                      </a:pPr>
                      <a:r>
                        <a:t/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USD Index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−1.67430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561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C2561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***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Google Shape;923;p47"/>
          <p:cNvSpPr/>
          <p:nvPr/>
        </p:nvSpPr>
        <p:spPr>
          <a:xfrm>
            <a:off x="8065008" y="1600200"/>
            <a:ext cx="352958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550"/>
              <a:buFont typeface="Cambria"/>
              <a:buNone/>
            </a:pPr>
            <a:r>
              <a:rPr b="1" lang="en-US" sz="155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τ = 0.95   ·   R¹ = 0.559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24" name="Google Shape;924;p47"/>
          <p:cNvGraphicFramePr/>
          <p:nvPr/>
        </p:nvGraphicFramePr>
        <p:xfrm>
          <a:off x="8065008" y="20116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{0585064E-28E5-438A-B72F-EB41A304CEDD}</a:tableStyleId>
              </a:tblPr>
              <a:tblGrid>
                <a:gridCol w="1554475"/>
                <a:gridCol w="1371600"/>
                <a:gridCol w="603500"/>
              </a:tblGrid>
              <a:tr h="475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Regressor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Coefficient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GPRD_MA7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+0.00016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561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C2561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***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Realized Vol.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+0.18713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561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C2561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***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BDI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+0.00010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561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C2561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**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USD Index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−0.06602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561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C2561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**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5" name="Google Shape;925;p47"/>
          <p:cNvSpPr/>
          <p:nvPr/>
        </p:nvSpPr>
        <p:spPr>
          <a:xfrm>
            <a:off x="566928" y="5120640"/>
            <a:ext cx="11027664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Signs flip and magnitudes rotate across the distribution: volatility loads negatively on the left tail and positively on the right; the dollar bites hardest at the median; GPR reverses sign between the tails.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4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48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47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48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COLLINEARITY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48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Correlation matrix of the regressors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35" name="Google Shape;935;p48"/>
          <p:cNvGraphicFramePr/>
          <p:nvPr/>
        </p:nvGraphicFramePr>
        <p:xfrm>
          <a:off x="219456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{0585064E-28E5-438A-B72F-EB41A304CEDD}</a:tableStyleId>
              </a:tblPr>
              <a:tblGrid>
                <a:gridCol w="1554475"/>
                <a:gridCol w="1554475"/>
                <a:gridCol w="1554475"/>
                <a:gridCol w="1554475"/>
                <a:gridCol w="1554475"/>
              </a:tblGrid>
              <a:tr h="566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Calibri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USDI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RV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BDI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Brent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USDI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0.015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−0.013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−0.229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RV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0.015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−0.018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0.082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BDI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−0.013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−0.018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0.012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 Brent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−0.229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0.082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0.012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36" name="Google Shape;936;p48"/>
          <p:cNvSpPr/>
          <p:nvPr/>
        </p:nvSpPr>
        <p:spPr>
          <a:xfrm>
            <a:off x="2194560" y="4846320"/>
            <a:ext cx="7772400" cy="1097280"/>
          </a:xfrm>
          <a:prstGeom prst="roundRect">
            <a:avLst>
              <a:gd fmla="val 5833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48"/>
          <p:cNvSpPr/>
          <p:nvPr/>
        </p:nvSpPr>
        <p:spPr>
          <a:xfrm>
            <a:off x="2423160" y="4983480"/>
            <a:ext cx="7315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All pairwise correlations among the regressors are below 0.02 in absolute value — no evidence of problematic multicollinearity in the retained set.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4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49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49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QR OPTIMISATION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49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How the quantile regression is solved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49"/>
          <p:cNvSpPr/>
          <p:nvPr/>
        </p:nvSpPr>
        <p:spPr>
          <a:xfrm>
            <a:off x="566928" y="1554480"/>
            <a:ext cx="11027664" cy="1325880"/>
          </a:xfrm>
          <a:prstGeom prst="roundRect">
            <a:avLst>
              <a:gd fmla="val 4828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49"/>
          <p:cNvSpPr/>
          <p:nvPr/>
        </p:nvSpPr>
        <p:spPr>
          <a:xfrm>
            <a:off x="822960" y="199796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49"/>
          <p:cNvSpPr/>
          <p:nvPr/>
        </p:nvSpPr>
        <p:spPr>
          <a:xfrm>
            <a:off x="822960" y="197967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49"/>
          <p:cNvSpPr/>
          <p:nvPr/>
        </p:nvSpPr>
        <p:spPr>
          <a:xfrm>
            <a:off x="1481328" y="168249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problem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49"/>
          <p:cNvSpPr/>
          <p:nvPr/>
        </p:nvSpPr>
        <p:spPr>
          <a:xfrm>
            <a:off x="1481328" y="2066544"/>
            <a:ext cx="9811512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check function has a non-differentiable corner at zero: standard first-order conditions do not apply, so the optimisation becomes problematic. Solution: LP transformation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49"/>
          <p:cNvSpPr/>
          <p:nvPr/>
        </p:nvSpPr>
        <p:spPr>
          <a:xfrm>
            <a:off x="566928" y="3017520"/>
            <a:ext cx="11027664" cy="1417320"/>
          </a:xfrm>
          <a:prstGeom prst="roundRect">
            <a:avLst>
              <a:gd fmla="val 4516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49"/>
          <p:cNvSpPr/>
          <p:nvPr/>
        </p:nvSpPr>
        <p:spPr>
          <a:xfrm>
            <a:off x="822960" y="350672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49"/>
          <p:cNvSpPr/>
          <p:nvPr/>
        </p:nvSpPr>
        <p:spPr>
          <a:xfrm>
            <a:off x="822960" y="348843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49"/>
          <p:cNvSpPr/>
          <p:nvPr/>
        </p:nvSpPr>
        <p:spPr>
          <a:xfrm>
            <a:off x="1481328" y="314553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transformation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p49"/>
          <p:cNvSpPr/>
          <p:nvPr/>
        </p:nvSpPr>
        <p:spPr>
          <a:xfrm>
            <a:off x="1481328" y="3529584"/>
            <a:ext cx="9811512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Each residual is split into two non-negative buckets, u⁺ (under-prediction) and u⁻ (over-prediction), with u = u⁺ − u⁻. The objective becomes min Σ [τ·u⁺ + (1−τ)·u⁻] subject to x′β + u⁺ − u⁻ = y.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49"/>
          <p:cNvSpPr/>
          <p:nvPr/>
        </p:nvSpPr>
        <p:spPr>
          <a:xfrm>
            <a:off x="566928" y="4572000"/>
            <a:ext cx="11027664" cy="1325880"/>
          </a:xfrm>
          <a:prstGeom prst="roundRect">
            <a:avLst>
              <a:gd fmla="val 4828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49"/>
          <p:cNvSpPr/>
          <p:nvPr/>
        </p:nvSpPr>
        <p:spPr>
          <a:xfrm>
            <a:off x="822960" y="501548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" name="Google Shape;959;p49"/>
          <p:cNvSpPr/>
          <p:nvPr/>
        </p:nvSpPr>
        <p:spPr>
          <a:xfrm>
            <a:off x="822960" y="49971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Google Shape;960;p49"/>
          <p:cNvSpPr/>
          <p:nvPr/>
        </p:nvSpPr>
        <p:spPr>
          <a:xfrm>
            <a:off x="1481328" y="470001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The algorithms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" name="Google Shape;961;p49"/>
          <p:cNvSpPr/>
          <p:nvPr/>
        </p:nvSpPr>
        <p:spPr>
          <a:xfrm>
            <a:off x="1481328" y="5084064"/>
            <a:ext cx="9811512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Barrodale–Roberts modified simplex for smaller datasets — searching along the geometric edges of the data — or Frisch–Newton interior-point methods for large ones.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6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5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" name="Google Shape;968;p50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49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5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ESTIMATES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" name="Google Shape;970;p50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estimated coefficients, in full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50"/>
          <p:cNvSpPr/>
          <p:nvPr/>
        </p:nvSpPr>
        <p:spPr>
          <a:xfrm>
            <a:off x="2926080" y="1417320"/>
            <a:ext cx="5995708" cy="4846320"/>
          </a:xfrm>
          <a:prstGeom prst="roundRect">
            <a:avLst>
              <a:gd fmla="val 1132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2" name="Google Shape;972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55908" y="1545336"/>
            <a:ext cx="5736052" cy="4279392"/>
          </a:xfrm>
          <a:prstGeom prst="rect">
            <a:avLst/>
          </a:prstGeom>
          <a:noFill/>
          <a:ln>
            <a:noFill/>
          </a:ln>
        </p:spPr>
      </p:pic>
      <p:sp>
        <p:nvSpPr>
          <p:cNvPr id="973" name="Google Shape;973;p50"/>
          <p:cNvSpPr/>
          <p:nvPr/>
        </p:nvSpPr>
        <p:spPr>
          <a:xfrm>
            <a:off x="3054096" y="5843016"/>
            <a:ext cx="57396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Coefficient paths across all quantiles, with significance marks and the OLS benchmark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8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5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5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51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HYPOTHESES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" name="Google Shape;982;p51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What the estimator requires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51"/>
          <p:cNvSpPr/>
          <p:nvPr/>
        </p:nvSpPr>
        <p:spPr>
          <a:xfrm>
            <a:off x="566928" y="1554480"/>
            <a:ext cx="11027664" cy="1051560"/>
          </a:xfrm>
          <a:prstGeom prst="roundRect">
            <a:avLst>
              <a:gd fmla="val 608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51"/>
          <p:cNvSpPr/>
          <p:nvPr/>
        </p:nvSpPr>
        <p:spPr>
          <a:xfrm>
            <a:off x="822960" y="186080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51"/>
          <p:cNvSpPr/>
          <p:nvPr/>
        </p:nvSpPr>
        <p:spPr>
          <a:xfrm>
            <a:off x="822960" y="184251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p51"/>
          <p:cNvSpPr/>
          <p:nvPr/>
        </p:nvSpPr>
        <p:spPr>
          <a:xfrm>
            <a:off x="1481328" y="168249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Linearity of conditional quantiles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51"/>
          <p:cNvSpPr/>
          <p:nvPr/>
        </p:nvSpPr>
        <p:spPr>
          <a:xfrm>
            <a:off x="1481328" y="2066544"/>
            <a:ext cx="981151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Q_τ(Y | X) = X′β(τ): each targeted quantile is a linear function of the regressors.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51"/>
          <p:cNvSpPr/>
          <p:nvPr/>
        </p:nvSpPr>
        <p:spPr>
          <a:xfrm>
            <a:off x="566928" y="2743200"/>
            <a:ext cx="11027664" cy="1051560"/>
          </a:xfrm>
          <a:prstGeom prst="roundRect">
            <a:avLst>
              <a:gd fmla="val 608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51"/>
          <p:cNvSpPr/>
          <p:nvPr/>
        </p:nvSpPr>
        <p:spPr>
          <a:xfrm>
            <a:off x="822960" y="304952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51"/>
          <p:cNvSpPr/>
          <p:nvPr/>
        </p:nvSpPr>
        <p:spPr>
          <a:xfrm>
            <a:off x="822960" y="303123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51"/>
          <p:cNvSpPr/>
          <p:nvPr/>
        </p:nvSpPr>
        <p:spPr>
          <a:xfrm>
            <a:off x="1481328" y="287121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Strict quantile exogeneity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51"/>
          <p:cNvSpPr/>
          <p:nvPr/>
        </p:nvSpPr>
        <p:spPr>
          <a:xfrm>
            <a:off x="1481328" y="3255264"/>
            <a:ext cx="981151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conditional τ-quantile of the error, given X, is zero: Q_τ(u | X) = 0.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51"/>
          <p:cNvSpPr/>
          <p:nvPr/>
        </p:nvSpPr>
        <p:spPr>
          <a:xfrm>
            <a:off x="566928" y="3931920"/>
            <a:ext cx="11027664" cy="1051560"/>
          </a:xfrm>
          <a:prstGeom prst="roundRect">
            <a:avLst>
              <a:gd fmla="val 608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51"/>
          <p:cNvSpPr/>
          <p:nvPr/>
        </p:nvSpPr>
        <p:spPr>
          <a:xfrm>
            <a:off x="822960" y="423824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51"/>
          <p:cNvSpPr/>
          <p:nvPr/>
        </p:nvSpPr>
        <p:spPr>
          <a:xfrm>
            <a:off x="822960" y="421995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" name="Google Shape;996;p51"/>
          <p:cNvSpPr/>
          <p:nvPr/>
        </p:nvSpPr>
        <p:spPr>
          <a:xfrm>
            <a:off x="1481328" y="405993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No perfect multicollinearity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51"/>
          <p:cNvSpPr/>
          <p:nvPr/>
        </p:nvSpPr>
        <p:spPr>
          <a:xfrm>
            <a:off x="1481328" y="4443984"/>
            <a:ext cx="981151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E[XX′] finite, positive-definite and invertible — checked via the correlation matrix.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51"/>
          <p:cNvSpPr/>
          <p:nvPr/>
        </p:nvSpPr>
        <p:spPr>
          <a:xfrm>
            <a:off x="566928" y="5120640"/>
            <a:ext cx="11027664" cy="1325880"/>
          </a:xfrm>
          <a:prstGeom prst="roundRect">
            <a:avLst>
              <a:gd fmla="val 4828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51"/>
          <p:cNvSpPr/>
          <p:nvPr/>
        </p:nvSpPr>
        <p:spPr>
          <a:xfrm>
            <a:off x="822960" y="556412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51"/>
          <p:cNvSpPr/>
          <p:nvPr/>
        </p:nvSpPr>
        <p:spPr>
          <a:xfrm>
            <a:off x="822960" y="554583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51"/>
          <p:cNvSpPr/>
          <p:nvPr/>
        </p:nvSpPr>
        <p:spPr>
          <a:xfrm>
            <a:off x="1481328" y="524865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Positive density at the quantile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51"/>
          <p:cNvSpPr/>
          <p:nvPr/>
        </p:nvSpPr>
        <p:spPr>
          <a:xfrm>
            <a:off x="1481328" y="5632704"/>
            <a:ext cx="9811512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error density around the fitted quantile must be strictly positive: precision depends on how dense the data are near the quantile — tails are estimated with more noise.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7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5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" name="Google Shape;1009;p52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52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DIAGNOSTICS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" name="Google Shape;1011;p52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Quantile-regression diagnostic battery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52"/>
          <p:cNvSpPr/>
          <p:nvPr/>
        </p:nvSpPr>
        <p:spPr>
          <a:xfrm>
            <a:off x="566928" y="1554480"/>
            <a:ext cx="5440680" cy="2103120"/>
          </a:xfrm>
          <a:prstGeom prst="roundRect">
            <a:avLst>
              <a:gd fmla="val 3043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52"/>
          <p:cNvSpPr/>
          <p:nvPr/>
        </p:nvSpPr>
        <p:spPr>
          <a:xfrm>
            <a:off x="768096" y="1700784"/>
            <a:ext cx="503834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350"/>
              <a:buFont typeface="Cambria"/>
              <a:buNone/>
            </a:pPr>
            <a:r>
              <a:rPr b="1" lang="en-US" sz="135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Koenker–Machado R¹(τ)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" name="Google Shape;1014;p52"/>
          <p:cNvSpPr/>
          <p:nvPr/>
        </p:nvSpPr>
        <p:spPr>
          <a:xfrm>
            <a:off x="768096" y="2066544"/>
            <a:ext cx="5038344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Pseudo-R² as the proportional reduction in check loss vs the intercept-only model (the unconditional quantile). Explanatory power concentrates in the tails — expected: the median return carries no directional signal.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52"/>
          <p:cNvSpPr/>
          <p:nvPr/>
        </p:nvSpPr>
        <p:spPr>
          <a:xfrm>
            <a:off x="6236208" y="1554480"/>
            <a:ext cx="5440680" cy="2103120"/>
          </a:xfrm>
          <a:prstGeom prst="roundRect">
            <a:avLst>
              <a:gd fmla="val 3043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52"/>
          <p:cNvSpPr/>
          <p:nvPr/>
        </p:nvSpPr>
        <p:spPr>
          <a:xfrm>
            <a:off x="6437376" y="1700784"/>
            <a:ext cx="503834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350"/>
              <a:buFont typeface="Cambria"/>
              <a:buNone/>
            </a:pPr>
            <a:r>
              <a:rPr b="1" lang="en-US" sz="135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Wald slope-equality test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" name="Google Shape;1017;p52"/>
          <p:cNvSpPr/>
          <p:nvPr/>
        </p:nvSpPr>
        <p:spPr>
          <a:xfrm>
            <a:off x="6437376" y="2066544"/>
            <a:ext cx="5038344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H₀: identical slopes across all τ — under it, QR collapses to a shifted OLS. Rejected. Covariance of the stacked system estimated by moving-block bootstrap to preserve serial dependence.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52"/>
          <p:cNvSpPr/>
          <p:nvPr/>
        </p:nvSpPr>
        <p:spPr>
          <a:xfrm>
            <a:off x="566928" y="3886200"/>
            <a:ext cx="5440680" cy="2103120"/>
          </a:xfrm>
          <a:prstGeom prst="roundRect">
            <a:avLst>
              <a:gd fmla="val 3043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52"/>
          <p:cNvSpPr/>
          <p:nvPr/>
        </p:nvSpPr>
        <p:spPr>
          <a:xfrm>
            <a:off x="768096" y="4032504"/>
            <a:ext cx="503834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350"/>
              <a:buFont typeface="Cambria"/>
              <a:buNone/>
            </a:pPr>
            <a:r>
              <a:rPr b="1" lang="en-US" sz="135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QAR unit-root test (Koenker &amp; Xiao)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52"/>
          <p:cNvSpPr/>
          <p:nvPr/>
        </p:nvSpPr>
        <p:spPr>
          <a:xfrm>
            <a:off x="768096" y="4398264"/>
            <a:ext cx="5038344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Quantile-specific stationarity: H₀ of a unit root rejected at every targeted τ — Brent returns mean-revert throughout the conditional distribution. Simulated critical values.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52"/>
          <p:cNvSpPr/>
          <p:nvPr/>
        </p:nvSpPr>
        <p:spPr>
          <a:xfrm>
            <a:off x="6236208" y="3886200"/>
            <a:ext cx="5440680" cy="2103120"/>
          </a:xfrm>
          <a:prstGeom prst="roundRect">
            <a:avLst>
              <a:gd fmla="val 3043" name="adj"/>
            </a:avLst>
          </a:prstGeom>
          <a:solidFill>
            <a:srgbClr val="FFFFFF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" name="Google Shape;1022;p52"/>
          <p:cNvSpPr/>
          <p:nvPr/>
        </p:nvSpPr>
        <p:spPr>
          <a:xfrm>
            <a:off x="6437376" y="4032504"/>
            <a:ext cx="503834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350"/>
              <a:buFont typeface="Cambria"/>
              <a:buNone/>
            </a:pPr>
            <a:r>
              <a:rPr b="1" lang="en-US" sz="135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Quantile crossing inspection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52"/>
          <p:cNvSpPr/>
          <p:nvPr/>
        </p:nvSpPr>
        <p:spPr>
          <a:xfrm>
            <a:off x="6437376" y="4398264"/>
            <a:ext cx="5038344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Monotonicity of the fitted quantile function in τ checked at every observation: no crossings detected — a necessary condition for a valid conditional distribution.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8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p5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53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53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CAUSALITY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53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Why no causal conclusions from this regression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3" name="Google Shape;1033;p53"/>
          <p:cNvSpPr/>
          <p:nvPr/>
        </p:nvSpPr>
        <p:spPr>
          <a:xfrm>
            <a:off x="566928" y="1554480"/>
            <a:ext cx="11027664" cy="1325880"/>
          </a:xfrm>
          <a:prstGeom prst="roundRect">
            <a:avLst>
              <a:gd fmla="val 4828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" name="Google Shape;1034;p53"/>
          <p:cNvSpPr/>
          <p:nvPr/>
        </p:nvSpPr>
        <p:spPr>
          <a:xfrm>
            <a:off x="822960" y="199796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" name="Google Shape;1035;p53"/>
          <p:cNvSpPr/>
          <p:nvPr/>
        </p:nvSpPr>
        <p:spPr>
          <a:xfrm>
            <a:off x="822960" y="197967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6" name="Google Shape;1036;p53"/>
          <p:cNvSpPr/>
          <p:nvPr/>
        </p:nvSpPr>
        <p:spPr>
          <a:xfrm>
            <a:off x="1481328" y="168249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Quantile regression measures conditional association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" name="Google Shape;1037;p53"/>
          <p:cNvSpPr/>
          <p:nvPr/>
        </p:nvSpPr>
        <p:spPr>
          <a:xfrm>
            <a:off x="1481328" y="2066544"/>
            <a:ext cx="9811512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β₁(τ) describes how quantiles co-move with GPR given the controls — it does not identify what would happen to Brent if GPR were exogenously moved.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" name="Google Shape;1038;p53"/>
          <p:cNvSpPr/>
          <p:nvPr/>
        </p:nvSpPr>
        <p:spPr>
          <a:xfrm>
            <a:off x="566928" y="3017520"/>
            <a:ext cx="11027664" cy="1325880"/>
          </a:xfrm>
          <a:prstGeom prst="roundRect">
            <a:avLst>
              <a:gd fmla="val 4828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53"/>
          <p:cNvSpPr/>
          <p:nvPr/>
        </p:nvSpPr>
        <p:spPr>
          <a:xfrm>
            <a:off x="822960" y="346100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53"/>
          <p:cNvSpPr/>
          <p:nvPr/>
        </p:nvSpPr>
        <p:spPr>
          <a:xfrm>
            <a:off x="822960" y="344271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" name="Google Shape;1041;p53"/>
          <p:cNvSpPr/>
          <p:nvPr/>
        </p:nvSpPr>
        <p:spPr>
          <a:xfrm>
            <a:off x="1481328" y="314553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regressor is not 100% exogenous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" name="Google Shape;1042;p53"/>
          <p:cNvSpPr/>
          <p:nvPr/>
        </p:nvSpPr>
        <p:spPr>
          <a:xfrm>
            <a:off x="1481328" y="3529584"/>
            <a:ext cx="9811512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GPR is built from news coverage, and newspapers react to markets and to the same world events that move oil: reverse causality and common drivers are plausible.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53"/>
          <p:cNvSpPr/>
          <p:nvPr/>
        </p:nvSpPr>
        <p:spPr>
          <a:xfrm>
            <a:off x="566928" y="4480560"/>
            <a:ext cx="11027664" cy="1417320"/>
          </a:xfrm>
          <a:prstGeom prst="roundRect">
            <a:avLst>
              <a:gd fmla="val 4516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" name="Google Shape;1044;p53"/>
          <p:cNvSpPr/>
          <p:nvPr/>
        </p:nvSpPr>
        <p:spPr>
          <a:xfrm>
            <a:off x="822960" y="496976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53"/>
          <p:cNvSpPr/>
          <p:nvPr/>
        </p:nvSpPr>
        <p:spPr>
          <a:xfrm>
            <a:off x="822960" y="495147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Google Shape;1046;p53"/>
          <p:cNvSpPr/>
          <p:nvPr/>
        </p:nvSpPr>
        <p:spPr>
          <a:xfrm>
            <a:off x="1481328" y="460857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What identification would take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" name="Google Shape;1047;p53"/>
          <p:cNvSpPr/>
          <p:nvPr/>
        </p:nvSpPr>
        <p:spPr>
          <a:xfrm>
            <a:off x="1481328" y="4992624"/>
            <a:ext cx="9811512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Pairing QR with valid identification techniques — instrumental-variable quantile regression (Chernozhukov &amp; Hansen) or high-frequency instruments for geopolitical shocks.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2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Google Shape;1053;p54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4" name="Google Shape;1054;p54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54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DIRECT FORECASTING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" name="Google Shape;1056;p54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Why quantiles cannot be iterated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7" name="Google Shape;1057;p54"/>
          <p:cNvSpPr/>
          <p:nvPr/>
        </p:nvSpPr>
        <p:spPr>
          <a:xfrm>
            <a:off x="566928" y="1554480"/>
            <a:ext cx="11027664" cy="1371600"/>
          </a:xfrm>
          <a:prstGeom prst="roundRect">
            <a:avLst>
              <a:gd fmla="val 466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" name="Google Shape;1058;p54"/>
          <p:cNvSpPr/>
          <p:nvPr/>
        </p:nvSpPr>
        <p:spPr>
          <a:xfrm>
            <a:off x="822960" y="202082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" name="Google Shape;1059;p54"/>
          <p:cNvSpPr/>
          <p:nvPr/>
        </p:nvSpPr>
        <p:spPr>
          <a:xfrm>
            <a:off x="822960" y="200253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p54"/>
          <p:cNvSpPr/>
          <p:nvPr/>
        </p:nvSpPr>
        <p:spPr>
          <a:xfrm>
            <a:off x="1481328" y="168249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Means iterate; quantiles do not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54"/>
          <p:cNvSpPr/>
          <p:nvPr/>
        </p:nvSpPr>
        <p:spPr>
          <a:xfrm>
            <a:off x="1481328" y="2066544"/>
            <a:ext cx="981151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conditional mean obeys the law of iterated expectations: E[Y(t+2)|t] = E[E[Y(t+2)|t+1]|t], so one-step models can be chained forward. No analogous law exists for quantiles.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" name="Google Shape;1062;p54"/>
          <p:cNvSpPr/>
          <p:nvPr/>
        </p:nvSpPr>
        <p:spPr>
          <a:xfrm>
            <a:off x="566928" y="3063240"/>
            <a:ext cx="11027664" cy="1371600"/>
          </a:xfrm>
          <a:prstGeom prst="roundRect">
            <a:avLst>
              <a:gd fmla="val 466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" name="Google Shape;1063;p54"/>
          <p:cNvSpPr/>
          <p:nvPr/>
        </p:nvSpPr>
        <p:spPr>
          <a:xfrm>
            <a:off x="822960" y="352958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54"/>
          <p:cNvSpPr/>
          <p:nvPr/>
        </p:nvSpPr>
        <p:spPr>
          <a:xfrm>
            <a:off x="822960" y="3511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54"/>
          <p:cNvSpPr/>
          <p:nvPr/>
        </p:nvSpPr>
        <p:spPr>
          <a:xfrm>
            <a:off x="1481328" y="319125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quantile of a composition is not the composition of quantiles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54"/>
          <p:cNvSpPr/>
          <p:nvPr/>
        </p:nvSpPr>
        <p:spPr>
          <a:xfrm>
            <a:off x="1481328" y="3575304"/>
            <a:ext cx="981151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τ-quantile of Y(t+h) given today is not reachable by feeding the one-step τ-quantile into itself h times — quantiles are not linear operators, and each chaining step distorts the target probability.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54"/>
          <p:cNvSpPr/>
          <p:nvPr/>
        </p:nvSpPr>
        <p:spPr>
          <a:xfrm>
            <a:off x="566928" y="4572000"/>
            <a:ext cx="11027664" cy="1371600"/>
          </a:xfrm>
          <a:prstGeom prst="roundRect">
            <a:avLst>
              <a:gd fmla="val 4667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" name="Google Shape;1068;p54"/>
          <p:cNvSpPr/>
          <p:nvPr/>
        </p:nvSpPr>
        <p:spPr>
          <a:xfrm>
            <a:off x="822960" y="503834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54"/>
          <p:cNvSpPr/>
          <p:nvPr/>
        </p:nvSpPr>
        <p:spPr>
          <a:xfrm>
            <a:off x="822960" y="502005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" name="Google Shape;1070;p54"/>
          <p:cNvSpPr/>
          <p:nvPr/>
        </p:nvSpPr>
        <p:spPr>
          <a:xfrm>
            <a:off x="1481328" y="470001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Hence direct forecasting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54"/>
          <p:cNvSpPr/>
          <p:nvPr/>
        </p:nvSpPr>
        <p:spPr>
          <a:xfrm>
            <a:off x="1481328" y="5084064"/>
            <a:ext cx="981151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separate regression per horizon pairs today's information directly with the value realised h days ahead — targeting the h-step quantile without composition bias.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6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5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" name="Google Shape;1078;p55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55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HORIZON SELECTION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" name="Google Shape;1080;p55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A more rigorous horizon selection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55"/>
          <p:cNvSpPr/>
          <p:nvPr/>
        </p:nvSpPr>
        <p:spPr>
          <a:xfrm>
            <a:off x="566928" y="1554480"/>
            <a:ext cx="11027664" cy="1371600"/>
          </a:xfrm>
          <a:prstGeom prst="roundRect">
            <a:avLst>
              <a:gd fmla="val 466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" name="Google Shape;1082;p55"/>
          <p:cNvSpPr/>
          <p:nvPr/>
        </p:nvSpPr>
        <p:spPr>
          <a:xfrm>
            <a:off x="822960" y="202082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" name="Google Shape;1083;p55"/>
          <p:cNvSpPr/>
          <p:nvPr/>
        </p:nvSpPr>
        <p:spPr>
          <a:xfrm>
            <a:off x="822960" y="200253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55"/>
          <p:cNvSpPr/>
          <p:nvPr/>
        </p:nvSpPr>
        <p:spPr>
          <a:xfrm>
            <a:off x="1481328" y="168249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Error growth in direct forecasting is different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" name="Google Shape;1085;p55"/>
          <p:cNvSpPr/>
          <p:nvPr/>
        </p:nvSpPr>
        <p:spPr>
          <a:xfrm>
            <a:off x="1481328" y="2066544"/>
            <a:ext cx="981151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Because nothing is iterated, the variance is not recursively compounded over time as in traditional time-series models. The error grows instead because information decays: today's covariates say less and less about returns further away.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" name="Google Shape;1086;p55"/>
          <p:cNvSpPr/>
          <p:nvPr/>
        </p:nvSpPr>
        <p:spPr>
          <a:xfrm>
            <a:off x="566928" y="3063240"/>
            <a:ext cx="11027664" cy="1371600"/>
          </a:xfrm>
          <a:prstGeom prst="roundRect">
            <a:avLst>
              <a:gd fmla="val 466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" name="Google Shape;1087;p55"/>
          <p:cNvSpPr/>
          <p:nvPr/>
        </p:nvSpPr>
        <p:spPr>
          <a:xfrm>
            <a:off x="822960" y="352958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" name="Google Shape;1088;p55"/>
          <p:cNvSpPr/>
          <p:nvPr/>
        </p:nvSpPr>
        <p:spPr>
          <a:xfrm>
            <a:off x="822960" y="3511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" name="Google Shape;1089;p55"/>
          <p:cNvSpPr/>
          <p:nvPr/>
        </p:nvSpPr>
        <p:spPr>
          <a:xfrm>
            <a:off x="1481328" y="319125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rigorous criterion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" name="Google Shape;1090;p55"/>
          <p:cNvSpPr/>
          <p:nvPr/>
        </p:nvSpPr>
        <p:spPr>
          <a:xfrm>
            <a:off x="1481328" y="3575304"/>
            <a:ext cx="981151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Select the horizon at which the dynamics between the regressors and the dependent variable are best captured — the loss-minimising h, per model and per quantile.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" name="Google Shape;1091;p55"/>
          <p:cNvSpPr/>
          <p:nvPr/>
        </p:nvSpPr>
        <p:spPr>
          <a:xfrm>
            <a:off x="566928" y="4572000"/>
            <a:ext cx="11027664" cy="1371600"/>
          </a:xfrm>
          <a:prstGeom prst="roundRect">
            <a:avLst>
              <a:gd fmla="val 4667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55"/>
          <p:cNvSpPr/>
          <p:nvPr/>
        </p:nvSpPr>
        <p:spPr>
          <a:xfrm>
            <a:off x="822960" y="503834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" name="Google Shape;1093;p55"/>
          <p:cNvSpPr/>
          <p:nvPr/>
        </p:nvSpPr>
        <p:spPr>
          <a:xfrm>
            <a:off x="822960" y="502005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4" name="Google Shape;1094;p55"/>
          <p:cNvSpPr/>
          <p:nvPr/>
        </p:nvSpPr>
        <p:spPr>
          <a:xfrm>
            <a:off x="1481328" y="470001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What that grid shows here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" name="Google Shape;1095;p55"/>
          <p:cNvSpPr/>
          <p:nvPr/>
        </p:nvSpPr>
        <p:spPr>
          <a:xfrm>
            <a:off x="1481328" y="5084064"/>
            <a:ext cx="981151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Loss-minimising horizons scatter between h = 2 and h = 20 across models and quantiles: no single h dominates, which is why the transparent trading-week convention was retained.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0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p5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2" name="Google Shape;1102;p5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" name="Google Shape;1103;p56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THRESHOLDS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" name="Google Shape;1104;p56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0.95 boundary — and how it should be chosen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56"/>
          <p:cNvSpPr/>
          <p:nvPr/>
        </p:nvSpPr>
        <p:spPr>
          <a:xfrm>
            <a:off x="566928" y="1554480"/>
            <a:ext cx="11027664" cy="1188720"/>
          </a:xfrm>
          <a:prstGeom prst="roundRect">
            <a:avLst>
              <a:gd fmla="val 538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" name="Google Shape;1106;p56"/>
          <p:cNvSpPr/>
          <p:nvPr/>
        </p:nvSpPr>
        <p:spPr>
          <a:xfrm>
            <a:off x="822960" y="192938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" name="Google Shape;1107;p56"/>
          <p:cNvSpPr/>
          <p:nvPr/>
        </p:nvSpPr>
        <p:spPr>
          <a:xfrm>
            <a:off x="822960" y="19110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" name="Google Shape;1108;p56"/>
          <p:cNvSpPr/>
          <p:nvPr/>
        </p:nvSpPr>
        <p:spPr>
          <a:xfrm>
            <a:off x="1481328" y="168249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honest admission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9" name="Google Shape;1109;p56"/>
          <p:cNvSpPr/>
          <p:nvPr/>
        </p:nvSpPr>
        <p:spPr>
          <a:xfrm>
            <a:off x="1481328" y="2066544"/>
            <a:ext cx="981151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0.95 mark defining the breach boundary was chosen arbitrarily, as a conventional tail marker.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" name="Google Shape;1110;p56"/>
          <p:cNvSpPr/>
          <p:nvPr/>
        </p:nvSpPr>
        <p:spPr>
          <a:xfrm>
            <a:off x="566928" y="2880360"/>
            <a:ext cx="11027664" cy="1463040"/>
          </a:xfrm>
          <a:prstGeom prst="roundRect">
            <a:avLst>
              <a:gd fmla="val 437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" name="Google Shape;1111;p56"/>
          <p:cNvSpPr/>
          <p:nvPr/>
        </p:nvSpPr>
        <p:spPr>
          <a:xfrm>
            <a:off x="822960" y="339242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2" name="Google Shape;1112;p56"/>
          <p:cNvSpPr/>
          <p:nvPr/>
        </p:nvSpPr>
        <p:spPr>
          <a:xfrm>
            <a:off x="822960" y="337413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3" name="Google Shape;1113;p56"/>
          <p:cNvSpPr/>
          <p:nvPr/>
        </p:nvSpPr>
        <p:spPr>
          <a:xfrm>
            <a:off x="1481328" y="300837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Why a threshold is a trade-off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4" name="Google Shape;1114;p56"/>
          <p:cNvSpPr/>
          <p:nvPr/>
        </p:nvSpPr>
        <p:spPr>
          <a:xfrm>
            <a:off x="1481328" y="3392424"/>
            <a:ext cx="98115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Lower the boundary and breaches fire earlier and more often — more sensitivity, more false alarms. Raise it and alarms become rare but late — fewer false triggers, more missed events. Every threshold buys one error type with the other.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5" name="Google Shape;1115;p56"/>
          <p:cNvSpPr/>
          <p:nvPr/>
        </p:nvSpPr>
        <p:spPr>
          <a:xfrm>
            <a:off x="566928" y="4480560"/>
            <a:ext cx="11027664" cy="1463040"/>
          </a:xfrm>
          <a:prstGeom prst="roundRect">
            <a:avLst>
              <a:gd fmla="val 4375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6" name="Google Shape;1116;p56"/>
          <p:cNvSpPr/>
          <p:nvPr/>
        </p:nvSpPr>
        <p:spPr>
          <a:xfrm>
            <a:off x="822960" y="499262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7" name="Google Shape;1117;p56"/>
          <p:cNvSpPr/>
          <p:nvPr/>
        </p:nvSpPr>
        <p:spPr>
          <a:xfrm>
            <a:off x="822960" y="497433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" name="Google Shape;1118;p56"/>
          <p:cNvSpPr/>
          <p:nvPr/>
        </p:nvSpPr>
        <p:spPr>
          <a:xfrm>
            <a:off x="1481328" y="460857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The rigorous approach: ROC analysis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" name="Google Shape;1119;p56"/>
          <p:cNvSpPr/>
          <p:nvPr/>
        </p:nvSpPr>
        <p:spPr>
          <a:xfrm>
            <a:off x="1481328" y="4992624"/>
            <a:ext cx="98115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Sweep the threshold, plot the true-positive rate against the false-positive rate (ROC curve), summarise discrimination with the AUC, and pick the operating point matching the user's cost of a missed crisis versus a false alarm.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4" name="Shape 1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Google Shape;1125;p5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6" name="Google Shape;1126;p57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7" name="Google Shape;1127;p57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BREACH MODELS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8" name="Google Shape;1128;p57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When would the breach models win?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9" name="Google Shape;1129;p57"/>
          <p:cNvSpPr/>
          <p:nvPr/>
        </p:nvSpPr>
        <p:spPr>
          <a:xfrm>
            <a:off x="566928" y="1645920"/>
            <a:ext cx="11027664" cy="1463040"/>
          </a:xfrm>
          <a:prstGeom prst="roundRect">
            <a:avLst>
              <a:gd fmla="val 437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0" name="Google Shape;1130;p57"/>
          <p:cNvSpPr/>
          <p:nvPr/>
        </p:nvSpPr>
        <p:spPr>
          <a:xfrm>
            <a:off x="822960" y="2157984"/>
            <a:ext cx="438912" cy="438912"/>
          </a:xfrm>
          <a:prstGeom prst="ellipse">
            <a:avLst/>
          </a:prstGeom>
          <a:solidFill>
            <a:srgbClr val="14304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57"/>
          <p:cNvSpPr/>
          <p:nvPr/>
        </p:nvSpPr>
        <p:spPr>
          <a:xfrm>
            <a:off x="822960" y="21396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2" name="Google Shape;1132;p57"/>
          <p:cNvSpPr/>
          <p:nvPr/>
        </p:nvSpPr>
        <p:spPr>
          <a:xfrm>
            <a:off x="1481328" y="177393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breach signal is short-lived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57"/>
          <p:cNvSpPr/>
          <p:nvPr/>
        </p:nvSpPr>
        <p:spPr>
          <a:xfrm>
            <a:off x="1481328" y="2157984"/>
            <a:ext cx="98115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violation today says a lot about tomorrow and little about three weeks ahead: tail stress clusters at short range, so the information content of a breach decays quickly with the horizon.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4" name="Google Shape;1134;p57"/>
          <p:cNvSpPr/>
          <p:nvPr/>
        </p:nvSpPr>
        <p:spPr>
          <a:xfrm>
            <a:off x="566928" y="3246120"/>
            <a:ext cx="11027664" cy="1463040"/>
          </a:xfrm>
          <a:prstGeom prst="roundRect">
            <a:avLst>
              <a:gd fmla="val 4375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5" name="Google Shape;1135;p57"/>
          <p:cNvSpPr/>
          <p:nvPr/>
        </p:nvSpPr>
        <p:spPr>
          <a:xfrm>
            <a:off x="822960" y="3758184"/>
            <a:ext cx="438912" cy="438912"/>
          </a:xfrm>
          <a:prstGeom prst="ellipse">
            <a:avLst/>
          </a:prstGeom>
          <a:solidFill>
            <a:srgbClr val="C256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6" name="Google Shape;1136;p57"/>
          <p:cNvSpPr/>
          <p:nvPr/>
        </p:nvSpPr>
        <p:spPr>
          <a:xfrm>
            <a:off x="822960" y="37398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7" name="Google Shape;1137;p57"/>
          <p:cNvSpPr/>
          <p:nvPr/>
        </p:nvSpPr>
        <p:spPr>
          <a:xfrm>
            <a:off x="1481328" y="3374136"/>
            <a:ext cx="97657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C2561F"/>
                </a:solidFill>
                <a:latin typeface="Cambria"/>
                <a:ea typeface="Cambria"/>
                <a:cs typeface="Cambria"/>
                <a:sym typeface="Cambria"/>
              </a:rPr>
              <a:t>So the augmentations shine at short horizons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8" name="Google Shape;1138;p57"/>
          <p:cNvSpPr/>
          <p:nvPr/>
        </p:nvSpPr>
        <p:spPr>
          <a:xfrm>
            <a:off x="1481328" y="3758184"/>
            <a:ext cx="98115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At h = 5 the signal has already gone stale — which is what the Diebold–Mariano tie shows. At shorter horizons (h = 1–3) the breach regressors carry their sharpest information and may significantly improve predictive power.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5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5" name="Google Shape;1145;p58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6" name="Google Shape;1146;p58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COVERAGE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7" name="Google Shape;1147;p58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Kupiec coverage test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8" name="Google Shape;1148;p58"/>
          <p:cNvSpPr/>
          <p:nvPr/>
        </p:nvSpPr>
        <p:spPr>
          <a:xfrm>
            <a:off x="566928" y="1463040"/>
            <a:ext cx="110276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τ-quantile forecast promises breaches at rate 1−τ. Kupiec (1995) tests whether the realised breach frequency matches that promise: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kupiec.png" id="1149" name="Google Shape;1149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15506" y="2011680"/>
            <a:ext cx="7330507" cy="82296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150" name="Google Shape;1150;p58"/>
          <p:cNvGraphicFramePr/>
          <p:nvPr/>
        </p:nvGraphicFramePr>
        <p:xfrm>
          <a:off x="566928" y="31089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{0585064E-28E5-438A-B72F-EB41A304CEDD}</a:tableStyleId>
              </a:tblPr>
              <a:tblGrid>
                <a:gridCol w="2011675"/>
                <a:gridCol w="822950"/>
                <a:gridCol w="1188725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π̂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LR (p-value)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Standard QReg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0.9387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2.189 (0.139)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CAViaR-indicator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0.9381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1.437 (0.231)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CAViaR-severity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0.9342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2.471 (0.116)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1" name="Google Shape;1151;p58"/>
          <p:cNvSpPr/>
          <p:nvPr/>
        </p:nvSpPr>
        <p:spPr>
          <a:xfrm>
            <a:off x="6812280" y="2880360"/>
            <a:ext cx="4800600" cy="3080557"/>
          </a:xfrm>
          <a:prstGeom prst="roundRect">
            <a:avLst>
              <a:gd fmla="val 1781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kupiec and christofen coverage test - main model.png" id="1152" name="Google Shape;1152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940296" y="3008376"/>
            <a:ext cx="4544568" cy="2513629"/>
          </a:xfrm>
          <a:prstGeom prst="rect">
            <a:avLst/>
          </a:prstGeom>
          <a:noFill/>
          <a:ln>
            <a:noFill/>
          </a:ln>
        </p:spPr>
      </p:pic>
      <p:sp>
        <p:nvSpPr>
          <p:cNvPr id="1153" name="Google Shape;1153;p58"/>
          <p:cNvSpPr/>
          <p:nvPr/>
        </p:nvSpPr>
        <p:spPr>
          <a:xfrm>
            <a:off x="6940296" y="5540293"/>
            <a:ext cx="45445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Coverage convergence, main model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4" name="Google Shape;1154;p58"/>
          <p:cNvSpPr/>
          <p:nvPr/>
        </p:nvSpPr>
        <p:spPr>
          <a:xfrm>
            <a:off x="566928" y="5303520"/>
            <a:ext cx="5852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Only unconditional coverage is tested: overlapping h-step forecasts make hits serially dependent, distorting independence-based tests but not the breach count.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9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Google Shape;1160;p5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1" name="Google Shape;1161;p59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59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MODEL COMPARISON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3" name="Google Shape;1163;p59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Loss-minimising horizons and the evidence summary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59"/>
          <p:cNvSpPr/>
          <p:nvPr/>
        </p:nvSpPr>
        <p:spPr>
          <a:xfrm>
            <a:off x="566928" y="141732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300"/>
              <a:buFont typeface="Cambria"/>
              <a:buNone/>
            </a:pPr>
            <a:r>
              <a:rPr b="1" lang="en-US" sz="13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Loss-minimising horizon per model and quantile (h* → pinball loss)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65" name="Google Shape;1165;p59"/>
          <p:cNvGraphicFramePr/>
          <p:nvPr/>
        </p:nvGraphicFramePr>
        <p:xfrm>
          <a:off x="566928" y="17830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{0585064E-28E5-438A-B72F-EB41A304CEDD}</a:tableStyleId>
              </a:tblPr>
              <a:tblGrid>
                <a:gridCol w="1645925"/>
                <a:gridCol w="1371600"/>
                <a:gridCol w="1371600"/>
                <a:gridCol w="1371600"/>
              </a:tblGrid>
              <a:tr h="402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τ = 0.05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τ = 0.50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τ = 0.95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Standard QReg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 = 2 → 0.3017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 = 4 → 0.9375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 = 3 → 0.2856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CAViaR-indicator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 = 9 → 0.2960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 = 6 → 0.9742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 = 7 → 0.2806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CAViaR-severity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 = 20 → 0.3397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 = 6 → 0.9573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 = 16 → 0.3810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6" name="Google Shape;1166;p59"/>
          <p:cNvSpPr/>
          <p:nvPr/>
        </p:nvSpPr>
        <p:spPr>
          <a:xfrm>
            <a:off x="566928" y="388620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300"/>
              <a:buFont typeface="Cambria"/>
              <a:buNone/>
            </a:pPr>
            <a:r>
              <a:rPr b="1" lang="en-US" sz="13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Evidence summary across the three models (τ = 0.95, h = 5)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67" name="Google Shape;1167;p59"/>
          <p:cNvGraphicFramePr/>
          <p:nvPr/>
        </p:nvGraphicFramePr>
        <p:xfrm>
          <a:off x="566928" y="42519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{0585064E-28E5-438A-B72F-EB41A304CEDD}</a:tableStyleId>
              </a:tblPr>
              <a:tblGrid>
                <a:gridCol w="2194550"/>
                <a:gridCol w="1188725"/>
                <a:gridCol w="1188725"/>
                <a:gridCol w="118872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Standard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CAViaR-i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CAViaR-s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Pinball / generalisation gap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Pass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Pass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Pass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Fallout audit (inside tunnel)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97.83%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97.17%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97.26%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Kupiec PoF (p-value)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Pass (0.139)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Pass (0.231)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Pass (0.116)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Diebold–Mariano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n.s.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n.s.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8" name="Google Shape;1168;p59"/>
          <p:cNvSpPr/>
          <p:nvPr/>
        </p:nvSpPr>
        <p:spPr>
          <a:xfrm>
            <a:off x="6812280" y="1691640"/>
            <a:ext cx="4800600" cy="2448229"/>
          </a:xfrm>
          <a:prstGeom prst="roundRect">
            <a:avLst>
              <a:gd fmla="val 2241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forecasted scatters.png" id="1169" name="Google Shape;116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40296" y="1819656"/>
            <a:ext cx="4544568" cy="1881301"/>
          </a:xfrm>
          <a:prstGeom prst="rect">
            <a:avLst/>
          </a:prstGeom>
          <a:noFill/>
          <a:ln>
            <a:noFill/>
          </a:ln>
        </p:spPr>
      </p:pic>
      <p:sp>
        <p:nvSpPr>
          <p:cNvPr id="1170" name="Google Shape;1170;p59"/>
          <p:cNvSpPr/>
          <p:nvPr/>
        </p:nvSpPr>
        <p:spPr>
          <a:xfrm>
            <a:off x="6940296" y="3719245"/>
            <a:ext cx="45445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Realised returns vs the forecast quantile envelope, out-of-sample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Google Shape;1176;p6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7" name="Google Shape;1177;p60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8" name="Google Shape;1178;p6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MODEL COMPARISON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9" name="Google Shape;1179;p60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OOS Loss-function at different horizons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0" name="Google Shape;1180;p60"/>
          <p:cNvPicPr preferRelativeResize="0"/>
          <p:nvPr/>
        </p:nvPicPr>
        <p:blipFill rotWithShape="1">
          <a:blip r:embed="rId3">
            <a:alphaModFix/>
          </a:blip>
          <a:srcRect b="7623" l="0" r="0" t="0"/>
          <a:stretch/>
        </p:blipFill>
        <p:spPr>
          <a:xfrm>
            <a:off x="1959502" y="1472184"/>
            <a:ext cx="8187652" cy="46879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6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7" name="Google Shape;1187;p6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8" name="Google Shape;1188;p61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UNCONDITIONAL DISTRIBUTION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9" name="Google Shape;1189;p61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Unconditional distribution fitted through MLE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90" name="Google Shape;1190;p61"/>
          <p:cNvPicPr preferRelativeResize="0"/>
          <p:nvPr/>
        </p:nvPicPr>
        <p:blipFill rotWithShape="1">
          <a:blip r:embed="rId3">
            <a:alphaModFix/>
          </a:blip>
          <a:srcRect b="0" l="841" r="841" t="0"/>
          <a:stretch/>
        </p:blipFill>
        <p:spPr>
          <a:xfrm>
            <a:off x="548640" y="1403995"/>
            <a:ext cx="6764141" cy="46879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1" name="Google Shape;1191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72144" y="3747986"/>
            <a:ext cx="3467584" cy="23148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6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6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8" name="Google Shape;1198;p62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59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9" name="Google Shape;1199;p62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DYNAMIC QUANTILE TEST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0" name="Google Shape;1200;p62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DQ test — and why CAViaR passes it by construction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1" name="Google Shape;1201;p62"/>
          <p:cNvSpPr/>
          <p:nvPr/>
        </p:nvSpPr>
        <p:spPr>
          <a:xfrm>
            <a:off x="566928" y="1463040"/>
            <a:ext cx="110276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Centre the hit sequence; correct dynamic specification demands breaches be unpredictable from anything known yesterday (martingale difference):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hit.png" id="1202" name="Google Shape;120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84704" y="1965960"/>
            <a:ext cx="9392111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03" name="Google Shape;1203;p62"/>
          <p:cNvSpPr/>
          <p:nvPr/>
        </p:nvSpPr>
        <p:spPr>
          <a:xfrm>
            <a:off x="566928" y="2697480"/>
            <a:ext cx="11027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Project hits on a constant, L lagged hits and the lagged fitted quantile; test joint significance: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dq.png" id="1204" name="Google Shape;1204;p6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68558" y="3108960"/>
            <a:ext cx="5224405" cy="777240"/>
          </a:xfrm>
          <a:prstGeom prst="rect">
            <a:avLst/>
          </a:prstGeom>
          <a:noFill/>
          <a:ln>
            <a:noFill/>
          </a:ln>
        </p:spPr>
      </p:pic>
      <p:sp>
        <p:nvSpPr>
          <p:cNvPr id="1205" name="Google Shape;1205;p62"/>
          <p:cNvSpPr/>
          <p:nvPr/>
        </p:nvSpPr>
        <p:spPr>
          <a:xfrm>
            <a:off x="566928" y="4251960"/>
            <a:ext cx="11027664" cy="1691640"/>
          </a:xfrm>
          <a:prstGeom prst="roundRect">
            <a:avLst>
              <a:gd fmla="val 3784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6" name="Google Shape;1206;p62"/>
          <p:cNvSpPr/>
          <p:nvPr/>
        </p:nvSpPr>
        <p:spPr>
          <a:xfrm>
            <a:off x="822960" y="4434840"/>
            <a:ext cx="10515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Rejection = the violation process is still predictable — the model is caught off guard by clustered tail events.  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937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CAViaR augmentations feed the model's own lagged breach information back into the forecast: they internalise precisely the lagged-hit dependence the DQ statistic interrogates, so they pass the test by construction.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6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3" name="Google Shape;1213;p63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60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4" name="Google Shape;1214;p63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BACKUP · ENTROPY INTERNALS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5" name="Google Shape;1215;p63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Internal coherence and the unconditional benchmark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6" name="Google Shape;1216;p63"/>
          <p:cNvSpPr/>
          <p:nvPr/>
        </p:nvSpPr>
        <p:spPr>
          <a:xfrm>
            <a:off x="566928" y="14630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300"/>
              <a:buFont typeface="Cambria"/>
              <a:buNone/>
            </a:pPr>
            <a:r>
              <a:rPr b="1" lang="en-US" sz="13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Pairwise CCF among the entropy components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17" name="Google Shape;1217;p63"/>
          <p:cNvGraphicFramePr/>
          <p:nvPr/>
        </p:nvGraphicFramePr>
        <p:xfrm>
          <a:off x="566928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{0585064E-28E5-438A-B72F-EB41A304CEDD}</a:tableStyleId>
              </a:tblPr>
              <a:tblGrid>
                <a:gridCol w="1005850"/>
                <a:gridCol w="1005850"/>
                <a:gridCol w="822950"/>
                <a:gridCol w="1280150"/>
                <a:gridCol w="1371600"/>
              </a:tblGrid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h*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 at h*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Significant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304D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Full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Left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+0.748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Full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Right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+0.631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Left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Right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−0.036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6575" marB="36575" marR="36575" marL="36575" anchor="ctr">
                    <a:lnL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E2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8" name="Google Shape;1218;p63"/>
          <p:cNvSpPr/>
          <p:nvPr/>
        </p:nvSpPr>
        <p:spPr>
          <a:xfrm>
            <a:off x="566928" y="3749040"/>
            <a:ext cx="5486400" cy="2240280"/>
          </a:xfrm>
          <a:prstGeom prst="roundRect">
            <a:avLst>
              <a:gd fmla="val 285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9" name="Google Shape;1219;p63"/>
          <p:cNvSpPr/>
          <p:nvPr/>
        </p:nvSpPr>
        <p:spPr>
          <a:xfrm>
            <a:off x="804672" y="3931920"/>
            <a:ext cx="502920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180"/>
              <a:buFont typeface="Calibri"/>
              <a:buNone/>
            </a:pPr>
            <a:r>
              <a:rPr b="1" lang="en-US" sz="118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two tails are uncorrelated (r = −0.036, n.s.). </a:t>
            </a:r>
            <a:r>
              <a:rPr lang="en-US" sz="118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supply-disruption shock fattens the right tail without touching the left; a demand contraction does the reverse. The tail components carry largely independent information — monitoring both separately gives a richer warning profile than the aggregate alone.</a:t>
            </a:r>
            <a:endParaRPr sz="11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0" name="Google Shape;1220;p63"/>
          <p:cNvSpPr/>
          <p:nvPr/>
        </p:nvSpPr>
        <p:spPr>
          <a:xfrm>
            <a:off x="6446520" y="1554480"/>
            <a:ext cx="5166360" cy="3699074"/>
          </a:xfrm>
          <a:prstGeom prst="roundRect">
            <a:avLst>
              <a:gd fmla="val 1483" name="adj"/>
            </a:avLst>
          </a:prstGeom>
          <a:solidFill>
            <a:srgbClr val="FFFFFF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25400">
              <a:srgbClr val="1F2937">
                <a:alpha val="1411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rolling entropy vs unconditional dist.png" id="1221" name="Google Shape;1221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74536" y="1682496"/>
            <a:ext cx="4910328" cy="3132146"/>
          </a:xfrm>
          <a:prstGeom prst="rect">
            <a:avLst/>
          </a:prstGeom>
          <a:noFill/>
          <a:ln>
            <a:noFill/>
          </a:ln>
        </p:spPr>
      </p:pic>
      <p:sp>
        <p:nvSpPr>
          <p:cNvPr id="1222" name="Google Shape;1222;p63"/>
          <p:cNvSpPr/>
          <p:nvPr/>
        </p:nvSpPr>
        <p:spPr>
          <a:xfrm>
            <a:off x="6574536" y="4832930"/>
            <a:ext cx="49103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KL divergence vs the unconditional JSU (MLE): high divergence = genuine conditional shift, not mere non-normality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1227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64"/>
          <p:cNvSpPr/>
          <p:nvPr/>
        </p:nvSpPr>
        <p:spPr>
          <a:xfrm>
            <a:off x="566928" y="265176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4400"/>
              <a:buFont typeface="Cambria"/>
              <a:buNone/>
            </a:pPr>
            <a:r>
              <a:rPr b="1" lang="en-US" sz="4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Math annex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9" name="Google Shape;1229;p64"/>
          <p:cNvSpPr/>
          <p:nvPr/>
        </p:nvSpPr>
        <p:spPr>
          <a:xfrm>
            <a:off x="1371600" y="3657600"/>
            <a:ext cx="9418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Every test statistic used in the thesis, ordered by pipeline stage: in-sample diagnostics · forecast evaluation · density evaluation · risk metrics · early-warning tests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4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Google Shape;1235;p6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6" name="Google Shape;1236;p65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62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7" name="Google Shape;1237;p65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MATH ANNEX · IN-SAMPLE DIAGNOSTICS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8" name="Google Shape;1238;p65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Goodness of fit, slope equality, stationarity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9" name="Google Shape;1239;p65"/>
          <p:cNvSpPr/>
          <p:nvPr/>
        </p:nvSpPr>
        <p:spPr>
          <a:xfrm>
            <a:off x="566928" y="1463040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Koenker–Machado R¹(τ) — proportional reduction in check loss vs the intercept-only model (the unconditional quantile)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r1.png" id="1240" name="Google Shape;1240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27591" y="1792224"/>
            <a:ext cx="2706338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1241" name="Google Shape;1241;p65"/>
          <p:cNvSpPr/>
          <p:nvPr/>
        </p:nvSpPr>
        <p:spPr>
          <a:xfrm>
            <a:off x="566928" y="2980944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Wald test for slope equality across quantiles — H₀: identical slopes for every τ (moving-block bootstrap covariance)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wald.png" id="1242" name="Google Shape;1242;p6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14589" y="3310128"/>
            <a:ext cx="5732342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243" name="Google Shape;1243;p65"/>
          <p:cNvSpPr/>
          <p:nvPr/>
        </p:nvSpPr>
        <p:spPr>
          <a:xfrm>
            <a:off x="566928" y="4087368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QAR unit-root test (Koenker &amp; Xiao) — H₀: quantile-specific unit root; simulated critical values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qar.png" id="1244" name="Google Shape;1244;p6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12289" y="4416552"/>
            <a:ext cx="5336943" cy="566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9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6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1" name="Google Shape;1251;p6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63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2" name="Google Shape;1252;p66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MATH ANNEX · FORECAST EVALUATION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3" name="Google Shape;1253;p66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Pinball loss, Diebold–Mariano, Kupiec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4" name="Google Shape;1254;p66"/>
          <p:cNvSpPr/>
          <p:nvPr/>
        </p:nvSpPr>
        <p:spPr>
          <a:xfrm>
            <a:off x="566928" y="1463040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Pinball (tick) loss — the strictly proper scoring rule for quantile forecasts (Gneiting &amp; Raftery, 2007)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pinball.png" id="1255" name="Google Shape;1255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20620" y="1792224"/>
            <a:ext cx="732028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56" name="Google Shape;1256;p66"/>
          <p:cNvSpPr/>
          <p:nvPr/>
        </p:nvSpPr>
        <p:spPr>
          <a:xfrm>
            <a:off x="566928" y="2542032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Diebold–Mariano — H₀: equal predictive accuracy; HAC variance with bandwidth h−1 for the MA(h−1) overlap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dm.png" id="1257" name="Google Shape;1257;p6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70927" y="2871216"/>
            <a:ext cx="7219666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1258" name="Google Shape;1258;p66"/>
          <p:cNvSpPr/>
          <p:nvPr/>
        </p:nvSpPr>
        <p:spPr>
          <a:xfrm>
            <a:off x="566928" y="3849624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Kupiec proportion-of-failures — H₀: the breach frequency matches the nominal rate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kupiec.png" id="1259" name="Google Shape;1259;p6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19132" y="4178808"/>
            <a:ext cx="6923257" cy="7772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4" name="Shape 1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Google Shape;1265;p6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6" name="Google Shape;1266;p67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64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7" name="Google Shape;1267;p67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MATH ANNEX · DENSITY EVALUATION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8" name="Google Shape;1268;p67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PIT uniformity and the KS statistic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9" name="Google Shape;1269;p67"/>
          <p:cNvSpPr/>
          <p:nvPr/>
        </p:nvSpPr>
        <p:spPr>
          <a:xfrm>
            <a:off x="566928" y="1554480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Probability Integral Transform — Uniform(0,1) under a correctly specified forecast density (Diebold, Gunther &amp; Tay, 1998)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pit.png" id="1270" name="Google Shape;1270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41659" y="1883664"/>
            <a:ext cx="8478203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71" name="Google Shape;1271;p67"/>
          <p:cNvSpPr/>
          <p:nvPr/>
        </p:nvSpPr>
        <p:spPr>
          <a:xfrm>
            <a:off x="566928" y="2752344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Kolmogorov–Smirnov — supremum deviation of the empirical PIT CDF from the uniform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ks.png" id="1272" name="Google Shape;1272;p6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95079" y="3081528"/>
            <a:ext cx="2571362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273" name="Google Shape;1273;p67"/>
          <p:cNvSpPr/>
          <p:nvPr/>
        </p:nvSpPr>
        <p:spPr>
          <a:xfrm>
            <a:off x="566928" y="4087368"/>
            <a:ext cx="11027664" cy="1371600"/>
          </a:xfrm>
          <a:prstGeom prst="roundRect">
            <a:avLst>
              <a:gd fmla="val 4667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4" name="Google Shape;1274;p67"/>
          <p:cNvSpPr/>
          <p:nvPr/>
        </p:nvSpPr>
        <p:spPr>
          <a:xfrm>
            <a:off x="822960" y="4224528"/>
            <a:ext cx="10515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Reading departures: </a:t>
            </a:r>
            <a:r>
              <a:rPr lang="en-US" sz="13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PITs piling near 0 → left tail too thin (Expected Shortfall understated); piling near 1 → right tail too thin; a hump in the centre → forecast densities too wide. The evaluation spans every fitted density in the out-of-sample window simultaneously.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9" name="Shape 1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Google Shape;1280;p6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1" name="Google Shape;1281;p68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64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2" name="Google Shape;1282;p68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MATH ANNEX · DENSITY EVALUATION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3" name="Google Shape;1283;p68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JSU Distribution complete expression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4" name="Google Shape;1284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9813" y="1163052"/>
            <a:ext cx="8872374" cy="48467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89" name="Shape 1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" name="Google Shape;1290;p6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1" name="Google Shape;1291;p69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65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2" name="Google Shape;1292;p69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MATH ANNEX · RISK METRICS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3" name="Google Shape;1293;p69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Closed forms read from the fitted JSU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4" name="Google Shape;1294;p69"/>
          <p:cNvSpPr/>
          <p:nvPr/>
        </p:nvSpPr>
        <p:spPr>
          <a:xfrm>
            <a:off x="566928" y="1463040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Conditional VaR — the closed-form JSU quantile at confidence α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var.png" id="1295" name="Google Shape;1295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23712" y="1792224"/>
            <a:ext cx="5714096" cy="777240"/>
          </a:xfrm>
          <a:prstGeom prst="rect">
            <a:avLst/>
          </a:prstGeom>
          <a:noFill/>
          <a:ln>
            <a:noFill/>
          </a:ln>
        </p:spPr>
      </p:pic>
      <p:sp>
        <p:nvSpPr>
          <p:cNvPr id="1296" name="Google Shape;1296;p69"/>
          <p:cNvSpPr/>
          <p:nvPr/>
        </p:nvSpPr>
        <p:spPr>
          <a:xfrm>
            <a:off x="566928" y="2816352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Expected Shortfall — the conditional mean beyond the VaR threshold (numerical integration, 5,000-point grid)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es.png" id="1297" name="Google Shape;1297;p6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68133" y="3145536"/>
            <a:ext cx="7425255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98" name="Google Shape;1298;p69"/>
          <p:cNvSpPr/>
          <p:nvPr/>
        </p:nvSpPr>
        <p:spPr>
          <a:xfrm>
            <a:off x="566928" y="3895344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Tail-decomposed KL divergence — split at the tail mark q̄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kl_tails.png" id="1299" name="Google Shape;1299;p6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54788" y="4224528"/>
            <a:ext cx="6251944" cy="6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4" name="Shape 1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p7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6" name="Google Shape;1306;p70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66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7" name="Google Shape;1307;p7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MATH ANNEX · EARLY WARNING TESTS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8" name="Google Shape;1308;p70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CCF and the Granger causality test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9" name="Google Shape;1309;p70"/>
          <p:cNvSpPr/>
          <p:nvPr/>
        </p:nvSpPr>
        <p:spPr>
          <a:xfrm>
            <a:off x="566928" y="1463040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Cross-correlation function — h* &gt; 0 means the indicator leads the target; Bartlett band under the iid null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ccf.png" id="1310" name="Google Shape;1310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23959" y="1792224"/>
            <a:ext cx="8113602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311" name="Google Shape;1311;p70"/>
          <p:cNvSpPr/>
          <p:nvPr/>
        </p:nvSpPr>
        <p:spPr>
          <a:xfrm>
            <a:off x="566928" y="2615184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Granger causality — unrestricted model and null hypothesis; F-test on the nested comparison, lags by AIC (ceiling 30)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granger.png" id="1312" name="Google Shape;1312;p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01432" y="2944368"/>
            <a:ext cx="8158655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3" name="Google Shape;1313;p70"/>
          <p:cNvSpPr/>
          <p:nvPr/>
        </p:nvSpPr>
        <p:spPr>
          <a:xfrm>
            <a:off x="566928" y="4270248"/>
            <a:ext cx="11027664" cy="1463040"/>
          </a:xfrm>
          <a:prstGeom prst="roundRect">
            <a:avLst>
              <a:gd fmla="val 4375" name="adj"/>
            </a:avLst>
          </a:prstGeom>
          <a:solidFill>
            <a:srgbClr val="FBEFE6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4" name="Google Shape;1314;p70"/>
          <p:cNvSpPr/>
          <p:nvPr/>
        </p:nvSpPr>
        <p:spPr>
          <a:xfrm>
            <a:off x="822960" y="4407408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F-statistic: </a:t>
            </a:r>
            <a:r>
              <a:rPr lang="en-US" sz="13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 = [(RSS_r − RSS_ur)/p] / [RSS_ur/(T − 2p − 1)]  ~  F(p, T − 2p − 1) under H₀. Rejection means the entropy lags carry information beyond the returns' own autoregressive structure — forecasting-sense causality, not structural causation.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9" name="Shape 1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Google Shape;1320;p7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Oil-at-Risk</a:t>
            </a:r>
            <a:r>
              <a:rPr lang="en-US" sz="85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   ·   J. A. Rodríguez Garrido — UAM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1" name="Google Shape;1321;p7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C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B6B7C"/>
                </a:solidFill>
                <a:latin typeface="Calibri"/>
                <a:ea typeface="Calibri"/>
                <a:cs typeface="Calibri"/>
                <a:sym typeface="Calibri"/>
              </a:rPr>
              <a:t>67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2" name="Google Shape;1322;p71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561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2561F"/>
                </a:solidFill>
                <a:latin typeface="Calibri"/>
                <a:ea typeface="Calibri"/>
                <a:cs typeface="Calibri"/>
                <a:sym typeface="Calibri"/>
              </a:rPr>
              <a:t>MATH ANNEX · DYNAMIC QUANTILE TEST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3" name="Google Shape;1323;p71"/>
          <p:cNvSpPr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2600"/>
              <a:buFont typeface="Cambria"/>
              <a:buNone/>
            </a:pPr>
            <a:r>
              <a:rPr b="1" lang="en-US" sz="26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The DQ test of Engle &amp; Manganelli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4" name="Google Shape;1324;p71"/>
          <p:cNvSpPr/>
          <p:nvPr/>
        </p:nvSpPr>
        <p:spPr>
          <a:xfrm>
            <a:off x="566928" y="1554480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Centred hit sequence — mean zero under correct specification; H₀: hits are a martingale difference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hit.png" id="1325" name="Google Shape;1325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84704" y="1883664"/>
            <a:ext cx="9392111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326" name="Google Shape;1326;p71"/>
          <p:cNvSpPr/>
          <p:nvPr/>
        </p:nvSpPr>
        <p:spPr>
          <a:xfrm>
            <a:off x="566928" y="2752344"/>
            <a:ext cx="11027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14304D"/>
                </a:solidFill>
                <a:latin typeface="Cambria"/>
                <a:ea typeface="Cambria"/>
                <a:cs typeface="Cambria"/>
                <a:sym typeface="Cambria"/>
              </a:rPr>
              <a:t>DQ statistic — Wald form of the projection of hits on a constant, L lagged hits and the lagged fitted quantile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eq_dq.png" id="1327" name="Google Shape;1327;p7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68558" y="3081528"/>
            <a:ext cx="5224405" cy="777240"/>
          </a:xfrm>
          <a:prstGeom prst="rect">
            <a:avLst/>
          </a:prstGeom>
          <a:noFill/>
          <a:ln>
            <a:noFill/>
          </a:ln>
        </p:spPr>
      </p:pic>
      <p:sp>
        <p:nvSpPr>
          <p:cNvPr id="1328" name="Google Shape;1328;p71"/>
          <p:cNvSpPr/>
          <p:nvPr/>
        </p:nvSpPr>
        <p:spPr>
          <a:xfrm>
            <a:off x="566928" y="4315968"/>
            <a:ext cx="11027664" cy="1234440"/>
          </a:xfrm>
          <a:prstGeom prst="roundRect">
            <a:avLst>
              <a:gd fmla="val 5185" name="adj"/>
            </a:avLst>
          </a:prstGeom>
          <a:solidFill>
            <a:srgbClr val="F4F7FA"/>
          </a:solidFill>
          <a:ln cap="flat" cmpd="sng" w="9525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9" name="Google Shape;1329;p71"/>
          <p:cNvSpPr/>
          <p:nvPr/>
        </p:nvSpPr>
        <p:spPr>
          <a:xfrm>
            <a:off x="822960" y="4453128"/>
            <a:ext cx="105156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4304D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Role in this thesis: </a:t>
            </a:r>
            <a:r>
              <a:rPr lang="en-US" sz="13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DQ statistic names the dependence the CAViaR augmentations feed back into the model — they internalise the lagged-hit information the test interrogates, so they pass it by construction. It motivates the augmentation; it is not evidence of superiority.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2026-07-06T17:15:30Z</dcterms:created>
  <dc:creator>J. Alejandro Rodriguez Garrido</dc:creator>
</cp:coreProperties>
</file>