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57" r:id="rId6"/>
    <p:sldId id="258" r:id="rId7"/>
    <p:sldId id="259" r:id="rId8"/>
    <p:sldId id="264" r:id="rId9"/>
    <p:sldId id="265" r:id="rId10"/>
    <p:sldId id="266" r:id="rId11"/>
    <p:sldId id="270" r:id="rId12"/>
    <p:sldId id="267" r:id="rId13"/>
    <p:sldId id="268" r:id="rId14"/>
    <p:sldId id="269" r:id="rId15"/>
    <p:sldId id="262" r:id="rId16"/>
    <p:sldId id="261" r:id="rId17"/>
    <p:sldId id="260" r:id="rId18"/>
    <p:sldId id="263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0" d="100"/>
          <a:sy n="50" d="100"/>
        </p:scale>
        <p:origin x="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36053-328D-4734-8D30-CD50B53038A7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7860-F17C-43E6-98B5-8134C7E820C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43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36053-328D-4734-8D30-CD50B53038A7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7860-F17C-43E6-98B5-8134C7E8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6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36053-328D-4734-8D30-CD50B53038A7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7860-F17C-43E6-98B5-8134C7E820C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667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36053-328D-4734-8D30-CD50B53038A7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7860-F17C-43E6-98B5-8134C7E8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6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36053-328D-4734-8D30-CD50B53038A7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7860-F17C-43E6-98B5-8134C7E8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32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36053-328D-4734-8D30-CD50B53038A7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7860-F17C-43E6-98B5-8134C7E8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36053-328D-4734-8D30-CD50B53038A7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7860-F17C-43E6-98B5-8134C7E8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92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CD36053-328D-4734-8D30-CD50B53038A7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5BB7860-F17C-43E6-98B5-8134C7E8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1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36053-328D-4734-8D30-CD50B53038A7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7860-F17C-43E6-98B5-8134C7E8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36053-328D-4734-8D30-CD50B53038A7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7860-F17C-43E6-98B5-8134C7E8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32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36053-328D-4734-8D30-CD50B53038A7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7860-F17C-43E6-98B5-8134C7E8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2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CD36053-328D-4734-8D30-CD50B53038A7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5BB7860-F17C-43E6-98B5-8134C7E820C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832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16CD-41F3-6CDA-1469-B9DFF97C0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439947"/>
            <a:ext cx="10058400" cy="2924355"/>
          </a:xfrm>
        </p:spPr>
        <p:txBody>
          <a:bodyPr>
            <a:normAutofit fontScale="90000"/>
          </a:bodyPr>
          <a:lstStyle/>
          <a:p>
            <a:r>
              <a:rPr lang="en-GB" dirty="0"/>
              <a:t>Oil-at-Risk</a:t>
            </a:r>
            <a:br>
              <a:rPr lang="en-GB" dirty="0"/>
            </a:br>
            <a:br>
              <a:rPr lang="en-GB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1F8C9-C5BE-2A26-049E-8D485E6914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Directed by: Pilar Poncela Blanco and </a:t>
            </a:r>
            <a:r>
              <a:rPr lang="en-GB" dirty="0" err="1"/>
              <a:t>diego</a:t>
            </a:r>
            <a:r>
              <a:rPr lang="en-GB" dirty="0"/>
              <a:t> Eduardo </a:t>
            </a:r>
            <a:r>
              <a:rPr lang="en-GB" dirty="0" err="1"/>
              <a:t>fresoli</a:t>
            </a:r>
            <a:endParaRPr lang="en-GB" dirty="0"/>
          </a:p>
          <a:p>
            <a:r>
              <a:rPr lang="en-GB" dirty="0"/>
              <a:t>J. Alejandro Rodriguez Garrido.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B32C16-4541-BC7D-3728-4BC14AD68AAB}"/>
              </a:ext>
            </a:extLst>
          </p:cNvPr>
          <p:cNvSpPr txBox="1"/>
          <p:nvPr/>
        </p:nvSpPr>
        <p:spPr>
          <a:xfrm>
            <a:off x="1183976" y="1587108"/>
            <a:ext cx="67782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Universidad Autonoma de Madrid</a:t>
            </a:r>
            <a:br>
              <a:rPr lang="en-GB" sz="1800" dirty="0"/>
            </a:br>
            <a:r>
              <a:rPr lang="en-GB" sz="1800" dirty="0"/>
              <a:t>MSc in </a:t>
            </a:r>
            <a:r>
              <a:rPr lang="en-GB" sz="1800" dirty="0" err="1"/>
              <a:t>Quantitaive</a:t>
            </a:r>
            <a:r>
              <a:rPr lang="en-GB" sz="1800" dirty="0"/>
              <a:t> Economic Analysis</a:t>
            </a:r>
            <a:br>
              <a:rPr lang="en-GB" sz="1800" dirty="0"/>
            </a:br>
            <a:r>
              <a:rPr lang="en-GB" sz="1800" dirty="0"/>
              <a:t>Maste Thesis Proposal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36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2862D-3BC7-3E5C-F11D-872D15125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169BB-ACFF-C540-AB06-C6A32D99B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1. Briefing of everything we have done (without the conclusions), only an introductory synthesis of everything we have done.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330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424D-C3BE-78E6-348F-AB868FDCD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Literture</a:t>
            </a:r>
            <a:r>
              <a:rPr lang="en-GB" dirty="0"/>
              <a:t> review (background)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9DE9F-16C5-9A40-5549-C8BD2D999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Explain the main literature inspiring this thesis, that includes:</a:t>
            </a:r>
          </a:p>
          <a:p>
            <a:r>
              <a:rPr lang="en-GB" dirty="0"/>
              <a:t>01. Adrian et al. =&gt; Explain the methodology and they application they do.</a:t>
            </a:r>
          </a:p>
          <a:p>
            <a:r>
              <a:rPr lang="en-GB" dirty="0"/>
              <a:t>2. IMF Surveillance =&gt; Explain how this methodology is being used in economics to study vulnerabilities.</a:t>
            </a:r>
          </a:p>
          <a:p>
            <a:r>
              <a:rPr lang="en-GB" dirty="0"/>
              <a:t>3. Hamilton and </a:t>
            </a:r>
            <a:r>
              <a:rPr lang="en-GB" dirty="0" err="1"/>
              <a:t>Minesso</a:t>
            </a:r>
            <a:r>
              <a:rPr lang="en-GB" dirty="0"/>
              <a:t> =&gt; Why Oil matters and link to GPR</a:t>
            </a:r>
          </a:p>
          <a:p>
            <a:r>
              <a:rPr lang="en-GB" dirty="0"/>
              <a:t>4. Brignone, </a:t>
            </a:r>
            <a:r>
              <a:rPr lang="en-GB" dirty="0" err="1"/>
              <a:t>Gambettin</a:t>
            </a:r>
            <a:r>
              <a:rPr lang="en-GB" dirty="0"/>
              <a:t> and Ricci =&gt; non-linear </a:t>
            </a:r>
            <a:r>
              <a:rPr lang="en-GB" dirty="0" err="1"/>
              <a:t>assymtric</a:t>
            </a:r>
            <a:r>
              <a:rPr lang="en-GB" dirty="0"/>
              <a:t> nature of GPR on oil.</a:t>
            </a:r>
          </a:p>
          <a:p>
            <a:r>
              <a:rPr lang="en-GB" dirty="0"/>
              <a:t>5. Jin et al =&gt; Most similar work to ours, explain the difference between our research (data, causal vs. predictive)</a:t>
            </a:r>
          </a:p>
          <a:p>
            <a:r>
              <a:rPr lang="en-GB" dirty="0"/>
              <a:t>4. The gap =&gt; What to do next after obtaining the risk metrics??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634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0710E-254A-E740-4804-4A47BA35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Contributin</a:t>
            </a:r>
            <a:r>
              <a:rPr lang="en-GB" dirty="0"/>
              <a:t> to literature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11394-1E22-66A9-FA59-96C68C2E0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previous part inducts the audience to a gap in the literature: What to do next? We link that with this thesis.</a:t>
            </a:r>
          </a:p>
          <a:p>
            <a:endParaRPr lang="en-GB" dirty="0"/>
          </a:p>
          <a:p>
            <a:r>
              <a:rPr lang="en-GB" dirty="0"/>
              <a:t>Main contribution to literature of this project. The six points being mentioned in the </a:t>
            </a:r>
            <a:r>
              <a:rPr lang="en-GB" dirty="0" err="1"/>
              <a:t>masther</a:t>
            </a:r>
            <a:r>
              <a:rPr lang="en-GB" dirty="0"/>
              <a:t> thesis, but in brief and less exaggerated.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654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5FD13-B9C6-5530-082B-991D3218D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used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FD1F7-8926-84C6-B87F-62F1DDA51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- Explain the data used and the specification used (and why)</a:t>
            </a:r>
          </a:p>
          <a:p>
            <a:r>
              <a:rPr lang="en-GB" dirty="0"/>
              <a:t>- Talk about GPR and BADI</a:t>
            </a:r>
          </a:p>
          <a:p>
            <a:r>
              <a:rPr lang="en-GB" dirty="0"/>
              <a:t>- Justify the usage of Realized Volatility =&gt; Literature</a:t>
            </a:r>
          </a:p>
        </p:txBody>
      </p:sp>
    </p:spTree>
    <p:extLst>
      <p:ext uri="{BB962C8B-B14F-4D97-AF65-F5344CB8AC3E}">
        <p14:creationId xmlns:p14="http://schemas.microsoft.com/office/powerpoint/2010/main" val="2047843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CE5B-89F7-31B6-C570-B9F47C6E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AF75F-C9C6-36A3-CC9C-0B1E4CF1B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- Explain the (t-1) introduction on the in-sample specification =&gt; Prepare this explanation</a:t>
            </a:r>
          </a:p>
          <a:p>
            <a:r>
              <a:rPr lang="en-GB" dirty="0"/>
              <a:t>- Justify the that Realized Vola introduce more signal than noise.</a:t>
            </a:r>
          </a:p>
          <a:p>
            <a:r>
              <a:rPr lang="en-GB" dirty="0"/>
              <a:t>- Explain why the 7 period moving average</a:t>
            </a:r>
          </a:p>
          <a:p>
            <a:r>
              <a:rPr lang="en-GB" dirty="0"/>
              <a:t>- Explain why we do not include more variables </a:t>
            </a:r>
          </a:p>
          <a:p>
            <a:r>
              <a:rPr lang="en-GB" dirty="0"/>
              <a:t>- Try to justify this specification, somehow</a:t>
            </a:r>
          </a:p>
          <a:p>
            <a:endParaRPr lang="en-GB" dirty="0"/>
          </a:p>
          <a:p>
            <a:r>
              <a:rPr lang="en-GB" dirty="0"/>
              <a:t>- Brief explanation of the quantile regression</a:t>
            </a:r>
          </a:p>
          <a:p>
            <a:r>
              <a:rPr lang="en-GB" dirty="0"/>
              <a:t>- Prepare the quantile regression hypothesis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612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277BC-7C02-DE78-EF4A-068165321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 forecasting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85008-6166-BE05-91B2-F98B8D8D3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- Explain the direct forecasting problem</a:t>
            </a:r>
          </a:p>
          <a:p>
            <a:r>
              <a:rPr lang="en-GB" dirty="0"/>
              <a:t>- Explain the </a:t>
            </a:r>
            <a:r>
              <a:rPr lang="en-GB" dirty="0" err="1"/>
              <a:t>contentants</a:t>
            </a:r>
            <a:r>
              <a:rPr lang="en-GB" dirty="0"/>
              <a:t> and why we do include them</a:t>
            </a:r>
          </a:p>
          <a:p>
            <a:pPr lvl="1"/>
            <a:r>
              <a:rPr lang="en-GB" dirty="0"/>
              <a:t>Maybe show the table with the estimate coefficients for the breach indicators.</a:t>
            </a:r>
          </a:p>
          <a:p>
            <a:r>
              <a:rPr lang="en-GB" dirty="0"/>
              <a:t>- Explain how we evaluate the direct forecasting problem</a:t>
            </a:r>
          </a:p>
          <a:p>
            <a:pPr lvl="1"/>
            <a:r>
              <a:rPr lang="en-GB"/>
              <a:t>Explain </a:t>
            </a:r>
            <a:r>
              <a:rPr lang="en-GB" dirty="0"/>
              <a:t>why we keep the standard model =&gt; No time to do more, lack of superiority at this specific horizon.</a:t>
            </a:r>
          </a:p>
          <a:p>
            <a:endParaRPr lang="en-GB" dirty="0"/>
          </a:p>
          <a:p>
            <a:r>
              <a:rPr lang="en-GB" dirty="0"/>
              <a:t>- Explain why we choose the 5 period optimal horizon =&gt; pure convenience.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6158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EEC41-516E-4840-C35C-DCA67458C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CAViaR</a:t>
            </a:r>
            <a:r>
              <a:rPr lang="en-GB" dirty="0"/>
              <a:t> Slides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9AFF-70E4-ED6F-EF2C-26AF95D0A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- Explain the </a:t>
            </a:r>
            <a:r>
              <a:rPr lang="en-GB" dirty="0" err="1"/>
              <a:t>CAViAR</a:t>
            </a:r>
            <a:r>
              <a:rPr lang="en-GB" dirty="0"/>
              <a:t>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70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46F14-2AC7-64AD-E307-65D92707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Distribution Fitting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799B7-5710-640D-C16E-2F9E7AFF7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- Why can’t we use MLE =&gt; only a bunch of quantiles</a:t>
            </a:r>
          </a:p>
          <a:p>
            <a:r>
              <a:rPr lang="en-GB" dirty="0"/>
              <a:t>- Explain MDE</a:t>
            </a:r>
          </a:p>
          <a:p>
            <a:r>
              <a:rPr lang="en-GB" dirty="0"/>
              <a:t>- The configuration of the optimization process and the narrative around this process.</a:t>
            </a:r>
          </a:p>
          <a:p>
            <a:r>
              <a:rPr lang="en-GB" dirty="0"/>
              <a:t>- Why we have chosen the Jonhson SU distribution =&gt; Better fit for assets, battle-tested</a:t>
            </a:r>
          </a:p>
          <a:p>
            <a:r>
              <a:rPr lang="en-GB" dirty="0"/>
              <a:t>- How we diagnose the distribution fitting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828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AD32E-B3F1-748B-30D7-E8ED5EE98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metric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43B6-AC2A-A798-F060-31074976F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- Explain what we want to measure and why we have chosen KL divergence to measure that.</a:t>
            </a:r>
          </a:p>
          <a:p>
            <a:r>
              <a:rPr lang="en-GB" dirty="0"/>
              <a:t>- </a:t>
            </a:r>
            <a:r>
              <a:rPr lang="en-GB"/>
              <a:t>Brief explanation of the rest of the risk metric.</a:t>
            </a:r>
            <a:endParaRPr lang="en-GB" dirty="0"/>
          </a:p>
          <a:p>
            <a:r>
              <a:rPr lang="en-GB" dirty="0"/>
              <a:t>- Explain the chosen setting and the narrative around this setting. </a:t>
            </a:r>
          </a:p>
          <a:p>
            <a:endParaRPr lang="en-GB" dirty="0"/>
          </a:p>
          <a:p>
            <a:r>
              <a:rPr lang="en-GB" dirty="0"/>
              <a:t>- Hypothesis: KL divergence is an EWS of Oil Market shakes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110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72D5C-E719-C7E9-4A55-C2287A29F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for EWS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3C9BB-8850-54A3-983F-F5548E989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- Link with the hypothesis</a:t>
            </a:r>
          </a:p>
          <a:p>
            <a:r>
              <a:rPr lang="en-GB" dirty="0"/>
              <a:t>- Explain how we test for it and why we have chosen this 2 specification</a:t>
            </a:r>
          </a:p>
          <a:p>
            <a:r>
              <a:rPr lang="en-GB" dirty="0"/>
              <a:t>- Brief explanation of the results and some conclusions we may extract from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3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53D8B-BBEA-2678-910D-3373369DA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of the EWS. Iran Wars Eve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CE043-4429-07A7-74D3-71AE27C66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- Show the EWS during the Iran Wars Eve.</a:t>
            </a:r>
          </a:p>
          <a:p>
            <a:r>
              <a:rPr lang="en-GB" dirty="0"/>
              <a:t>- Show how many days ahead did we forecast the Iran War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272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A0372-809D-78E2-67A6-4B6EA63F2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1AEF9-5553-ADED-5C3E-9EC1B40E4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- An early warning system of risk shocks to oil prices can be built following this methodology, and we can get some early warning system.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704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D429-599A-06FB-C688-4AC57BB9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module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C0682-C8DF-DA66-2396-E171546BA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- Show the architecture</a:t>
            </a:r>
          </a:p>
          <a:p>
            <a:r>
              <a:rPr lang="en-GB" dirty="0"/>
              <a:t>- Show the code workflow</a:t>
            </a:r>
          </a:p>
          <a:p>
            <a:r>
              <a:rPr lang="en-GB" dirty="0"/>
              <a:t>- Link to </a:t>
            </a:r>
            <a:r>
              <a:rPr lang="en-GB" dirty="0" err="1"/>
              <a:t>github</a:t>
            </a:r>
            <a:r>
              <a:rPr lang="en-GB" dirty="0"/>
              <a:t> repo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485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8BE8-68F3-20AF-1C98-E0B8757C3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FDB0E-0B53-2EB9-46DB-0E6DAF62B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- Switch to a causal approach =&gt; State that we cannot go causal and how could we go causal.</a:t>
            </a:r>
          </a:p>
          <a:p>
            <a:r>
              <a:rPr lang="en-GB" dirty="0"/>
              <a:t>- Switch indicator =&gt;  inspired in Bassel Traffic light, we can use a probit model to obtain the probability of  a breach, and use a threshold to turn that probability into a binary indicator.</a:t>
            </a:r>
          </a:p>
          <a:p>
            <a:pPr lvl="1"/>
            <a:r>
              <a:rPr lang="en-GB" dirty="0"/>
              <a:t>- ROC Curve and AUC to choose the threshold.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264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499CE-0285-2273-F32E-13626E282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Graphs to include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F3755-BF55-A672-2C44-14159DCD0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1. 3D plot </a:t>
            </a:r>
            <a:r>
              <a:rPr lang="en-US" dirty="0"/>
              <a:t>=&gt; Introductory graph</a:t>
            </a:r>
          </a:p>
          <a:p>
            <a:r>
              <a:rPr lang="en-US" dirty="0"/>
              <a:t>2. Crude oil evolution</a:t>
            </a:r>
          </a:p>
          <a:p>
            <a:r>
              <a:rPr lang="en-US" dirty="0"/>
              <a:t>3. GPR Evolution/</a:t>
            </a:r>
          </a:p>
          <a:p>
            <a:r>
              <a:rPr lang="en-US" dirty="0"/>
              <a:t>4. Fitted scatter plots</a:t>
            </a:r>
          </a:p>
          <a:p>
            <a:r>
              <a:rPr lang="en-US" dirty="0"/>
              <a:t>5. In sample direct forecasting (Iran War Eve)</a:t>
            </a:r>
          </a:p>
          <a:p>
            <a:r>
              <a:rPr lang="en-US" dirty="0"/>
              <a:t>6. </a:t>
            </a:r>
            <a:r>
              <a:rPr lang="en-US" dirty="0" err="1"/>
              <a:t>CAViaR</a:t>
            </a:r>
            <a:r>
              <a:rPr lang="en-US" dirty="0"/>
              <a:t> Coefficients and Direct Forecasting coefficients</a:t>
            </a:r>
          </a:p>
          <a:p>
            <a:r>
              <a:rPr lang="en-US" dirty="0"/>
              <a:t>6. Direct forecasting diagnostics (Loss function and breaches) (</a:t>
            </a:r>
            <a:r>
              <a:rPr lang="en-US" dirty="0" err="1"/>
              <a:t>mybe</a:t>
            </a:r>
            <a:r>
              <a:rPr lang="en-US" dirty="0"/>
              <a:t> Kupiec test)</a:t>
            </a:r>
          </a:p>
          <a:p>
            <a:r>
              <a:rPr lang="en-US" dirty="0"/>
              <a:t>7. </a:t>
            </a:r>
            <a:r>
              <a:rPr lang="en-US" dirty="0" err="1"/>
              <a:t>Distributin</a:t>
            </a:r>
            <a:r>
              <a:rPr lang="en-US" dirty="0"/>
              <a:t> fitting (in sample fitted distribution 3D plot, pit test)</a:t>
            </a:r>
          </a:p>
          <a:p>
            <a:r>
              <a:rPr lang="en-US" dirty="0"/>
              <a:t>8. Entropy vs Brent Prices</a:t>
            </a:r>
          </a:p>
          <a:p>
            <a:r>
              <a:rPr lang="en-US" dirty="0"/>
              <a:t>9. An Example </a:t>
            </a:r>
          </a:p>
          <a:p>
            <a:r>
              <a:rPr lang="en-US" dirty="0"/>
              <a:t>10. Module structure</a:t>
            </a: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21639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d1ff33-0a83-49da-b45e-68e42ea7260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F946D52B882247B278E3C7CEBBC6F7" ma:contentTypeVersion="10" ma:contentTypeDescription="Crear nuevo documento." ma:contentTypeScope="" ma:versionID="fb8dfea4cb9305acad77b34e8a1b40ee">
  <xsd:schema xmlns:xsd="http://www.w3.org/2001/XMLSchema" xmlns:xs="http://www.w3.org/2001/XMLSchema" xmlns:p="http://schemas.microsoft.com/office/2006/metadata/properties" xmlns:ns3="f8d1ff33-0a83-49da-b45e-68e42ea7260f" targetNamespace="http://schemas.microsoft.com/office/2006/metadata/properties" ma:root="true" ma:fieldsID="74ecf4603d98ca4bc17c89630df9e6f8" ns3:_="">
    <xsd:import namespace="f8d1ff33-0a83-49da-b45e-68e42ea7260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Auto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d1ff33-0a83-49da-b45e-68e42ea726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543BCE-3EA9-42F4-B244-0844B447C2BB}">
  <ds:schemaRefs>
    <ds:schemaRef ds:uri="http://purl.org/dc/elements/1.1/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f8d1ff33-0a83-49da-b45e-68e42ea7260f"/>
  </ds:schemaRefs>
</ds:datastoreItem>
</file>

<file path=customXml/itemProps2.xml><?xml version="1.0" encoding="utf-8"?>
<ds:datastoreItem xmlns:ds="http://schemas.openxmlformats.org/officeDocument/2006/customXml" ds:itemID="{7052C52A-9052-4060-ADBB-2FFDF42B4C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d1ff33-0a83-49da-b45e-68e42ea726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CD7191-D7FC-420F-842E-AA9F3456B9B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790</Words>
  <Application>Microsoft Office PowerPoint</Application>
  <PresentationFormat>Widescreen</PresentationFormat>
  <Paragraphs>83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Calibri Light</vt:lpstr>
      <vt:lpstr>Retrospect</vt:lpstr>
      <vt:lpstr>Oil-at-Risk  </vt:lpstr>
      <vt:lpstr>Introduction</vt:lpstr>
      <vt:lpstr>Literture review (background)</vt:lpstr>
      <vt:lpstr>Contributin to literature</vt:lpstr>
      <vt:lpstr>Data used</vt:lpstr>
      <vt:lpstr>Specification</vt:lpstr>
      <vt:lpstr>Direct forecasting problem</vt:lpstr>
      <vt:lpstr>CAViaR Slides</vt:lpstr>
      <vt:lpstr>Distribution Fitting</vt:lpstr>
      <vt:lpstr>Risk metric</vt:lpstr>
      <vt:lpstr>Testing for EWS</vt:lpstr>
      <vt:lpstr>Example of the EWS. Iran Wars Eve</vt:lpstr>
      <vt:lpstr>Conclusion</vt:lpstr>
      <vt:lpstr>Python module</vt:lpstr>
      <vt:lpstr>Next step</vt:lpstr>
      <vt:lpstr>Graphs to include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Alejandro Rodriguez Garrido</dc:creator>
  <cp:lastModifiedBy>Jose Alejandro Rodriguez Garrido</cp:lastModifiedBy>
  <cp:revision>7</cp:revision>
  <dcterms:created xsi:type="dcterms:W3CDTF">2026-04-15T10:23:03Z</dcterms:created>
  <dcterms:modified xsi:type="dcterms:W3CDTF">2026-07-04T15:40:21Z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0x01010078F946D52B882247B278E3C7CEBBC6F7</vt:lpwstr>
  </property>
</Properties>
</file>